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4"/>
  </p:normalViewPr>
  <p:slideViewPr>
    <p:cSldViewPr snapToGrid="0">
      <p:cViewPr varScale="1">
        <p:scale>
          <a:sx n="152" d="100"/>
          <a:sy n="152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5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>
            <a:extLst>
              <a:ext uri="{FF2B5EF4-FFF2-40B4-BE49-F238E27FC236}">
                <a16:creationId xmlns:a16="http://schemas.microsoft.com/office/drawing/2014/main" id="{8150020E-0388-4BD3-8099-24315EBFDF6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1">
            <a:extLst>
              <a:ext uri="{FF2B5EF4-FFF2-40B4-BE49-F238E27FC236}">
                <a16:creationId xmlns:a16="http://schemas.microsoft.com/office/drawing/2014/main" id="{6924CBA8-AF7B-464B-A704-EEC99779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075" y="442450"/>
            <a:ext cx="3873300" cy="14409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1">
            <a:extLst>
              <a:ext uri="{FF2B5EF4-FFF2-40B4-BE49-F238E27FC236}">
                <a16:creationId xmlns:a16="http://schemas.microsoft.com/office/drawing/2014/main" id="{D70CD773-A54F-4A92-A35F-33A110555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7075" y="1996700"/>
            <a:ext cx="3873300" cy="2836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1pPr>
            <a:lvl2pPr marL="9144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2pPr>
            <a:lvl3pPr marL="1371600" indent="-336550">
              <a:spcBef>
                <a:spcPts val="1600"/>
              </a:spcBef>
              <a:spcAft>
                <a:spcPts val="0"/>
              </a:spcAft>
              <a:buChar char="■"/>
              <a:defRPr sz="1700">
                <a:solidFill>
                  <a:schemeClr val="dk2"/>
                </a:solidFill>
              </a:defRPr>
            </a:lvl3pPr>
            <a:lvl4pPr marL="1828800" indent="-336550">
              <a:spcBef>
                <a:spcPts val="160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4pPr>
            <a:lvl5pPr marL="22860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5pPr>
            <a:lvl6pPr marL="2743200" indent="-336550">
              <a:spcBef>
                <a:spcPts val="1600"/>
              </a:spcBef>
              <a:spcAft>
                <a:spcPts val="0"/>
              </a:spcAft>
              <a:buChar char="■"/>
              <a:defRPr sz="1700">
                <a:solidFill>
                  <a:schemeClr val="dk2"/>
                </a:solidFill>
              </a:defRPr>
            </a:lvl6pPr>
            <a:lvl7pPr marL="3200400" indent="-336550">
              <a:spcBef>
                <a:spcPts val="160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7pPr>
            <a:lvl8pPr marL="36576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8pPr>
            <a:lvl9pPr marL="4114800" indent="-336550">
              <a:spcBef>
                <a:spcPts val="1600"/>
              </a:spcBef>
              <a:spcAft>
                <a:spcPts val="1600"/>
              </a:spcAft>
              <a:buChar char="■"/>
              <a:defRPr sz="1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_TITLE_AND_DESCRIPTION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>
            <a:extLst>
              <a:ext uri="{FF2B5EF4-FFF2-40B4-BE49-F238E27FC236}">
                <a16:creationId xmlns:a16="http://schemas.microsoft.com/office/drawing/2014/main" id="{0FFEB159-2834-4E8B-8EE1-ED5A803CC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00" y="1049500"/>
            <a:ext cx="3902400" cy="3204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23">
            <a:extLst>
              <a:ext uri="{FF2B5EF4-FFF2-40B4-BE49-F238E27FC236}">
                <a16:creationId xmlns:a16="http://schemas.microsoft.com/office/drawing/2014/main" id="{B06C4F9A-6A56-42BB-8760-4A79BEF9048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3">
            <a:extLst>
              <a:ext uri="{FF2B5EF4-FFF2-40B4-BE49-F238E27FC236}">
                <a16:creationId xmlns:a16="http://schemas.microsoft.com/office/drawing/2014/main" id="{5B2B059A-091C-4598-8661-7179B545C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900" y="419750"/>
            <a:ext cx="3902400" cy="39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4"/>
                </a:solidFill>
              </a:defRPr>
            </a:lvl1pPr>
            <a:lvl2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98" name="Google Shape;98;p23">
            <a:extLst>
              <a:ext uri="{FF2B5EF4-FFF2-40B4-BE49-F238E27FC236}">
                <a16:creationId xmlns:a16="http://schemas.microsoft.com/office/drawing/2014/main" id="{9BA71C78-0E20-478C-BC9A-ACA44BF7D6B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06800" y="419750"/>
            <a:ext cx="3902400" cy="4037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1pPr>
            <a:lvl2pPr marL="9144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2pPr>
            <a:lvl3pPr marL="1371600" indent="-336550">
              <a:spcBef>
                <a:spcPts val="1600"/>
              </a:spcBef>
              <a:spcAft>
                <a:spcPts val="0"/>
              </a:spcAft>
              <a:buChar char="■"/>
              <a:defRPr sz="1700">
                <a:solidFill>
                  <a:schemeClr val="dk2"/>
                </a:solidFill>
              </a:defRPr>
            </a:lvl3pPr>
            <a:lvl4pPr marL="1828800" indent="-336550">
              <a:spcBef>
                <a:spcPts val="160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4pPr>
            <a:lvl5pPr marL="22860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5pPr>
            <a:lvl6pPr marL="2743200" indent="-336550">
              <a:spcBef>
                <a:spcPts val="1600"/>
              </a:spcBef>
              <a:spcAft>
                <a:spcPts val="0"/>
              </a:spcAft>
              <a:buChar char="■"/>
              <a:defRPr sz="1700">
                <a:solidFill>
                  <a:schemeClr val="dk2"/>
                </a:solidFill>
              </a:defRPr>
            </a:lvl6pPr>
            <a:lvl7pPr marL="3200400" indent="-336550">
              <a:spcBef>
                <a:spcPts val="160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7pPr>
            <a:lvl8pPr marL="36576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8pPr>
            <a:lvl9pPr marL="4114800" indent="-336550">
              <a:spcBef>
                <a:spcPts val="1600"/>
              </a:spcBef>
              <a:spcAft>
                <a:spcPts val="1600"/>
              </a:spcAft>
              <a:buChar char="■"/>
              <a:defRPr sz="1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6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>
            <a:extLst>
              <a:ext uri="{FF2B5EF4-FFF2-40B4-BE49-F238E27FC236}">
                <a16:creationId xmlns:a16="http://schemas.microsoft.com/office/drawing/2014/main" id="{A030C66A-6803-498C-993B-EEF8A0F28C4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2">
            <a:extLst>
              <a:ext uri="{FF2B5EF4-FFF2-40B4-BE49-F238E27FC236}">
                <a16:creationId xmlns:a16="http://schemas.microsoft.com/office/drawing/2014/main" id="{2BBB3AE2-671D-4587-BB44-DEA4B5B6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96" y="907600"/>
            <a:ext cx="7062300" cy="3755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93" name="Google Shape;93;p22">
            <a:extLst>
              <a:ext uri="{FF2B5EF4-FFF2-40B4-BE49-F238E27FC236}">
                <a16:creationId xmlns:a16="http://schemas.microsoft.com/office/drawing/2014/main" id="{6E7796C7-A771-4449-A6B0-87AE75551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200" y="397075"/>
            <a:ext cx="7038000" cy="39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4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4"/>
                </a:solidFill>
              </a:defRPr>
            </a:lvl2pPr>
            <a:lvl3pPr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4"/>
                </a:solidFill>
              </a:defRPr>
            </a:lvl3pPr>
            <a:lvl4pPr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4"/>
                </a:solidFill>
              </a:defRPr>
            </a:lvl4pPr>
            <a:lvl5pPr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4"/>
                </a:solidFill>
              </a:defRPr>
            </a:lvl5pPr>
            <a:lvl6pPr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4"/>
                </a:solidFill>
              </a:defRPr>
            </a:lvl6pPr>
            <a:lvl7pPr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4"/>
                </a:solidFill>
              </a:defRPr>
            </a:lvl7pPr>
            <a:lvl8pPr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4"/>
                </a:solidFill>
              </a:defRPr>
            </a:lvl8pPr>
            <a:lvl9pPr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_NUMBER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>
            <a:extLst>
              <a:ext uri="{FF2B5EF4-FFF2-40B4-BE49-F238E27FC236}">
                <a16:creationId xmlns:a16="http://schemas.microsoft.com/office/drawing/2014/main" id="{881E9635-6D41-43F9-AD0B-89B50E573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>
            <a:endParaRPr/>
          </a:p>
        </p:txBody>
      </p:sp>
      <p:sp>
        <p:nvSpPr>
          <p:cNvPr id="104" name="Google Shape;104;p25">
            <a:extLst>
              <a:ext uri="{FF2B5EF4-FFF2-40B4-BE49-F238E27FC236}">
                <a16:creationId xmlns:a16="http://schemas.microsoft.com/office/drawing/2014/main" id="{50B0E1B5-4C01-45DF-9F67-5D8B17039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49250" algn="ctr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1pPr>
            <a:lvl2pPr marL="914400" indent="-349250" algn="ctr">
              <a:spcBef>
                <a:spcPts val="160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2pPr>
            <a:lvl3pPr marL="1371600" indent="-349250" algn="ctr">
              <a:spcBef>
                <a:spcPts val="160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3pPr>
            <a:lvl4pPr marL="1828800" indent="-349250" algn="ctr">
              <a:spcBef>
                <a:spcPts val="160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4pPr>
            <a:lvl5pPr marL="2286000" indent="-349250" algn="ctr">
              <a:spcBef>
                <a:spcPts val="160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5pPr>
            <a:lvl6pPr marL="2743200" indent="-349250" algn="ctr">
              <a:spcBef>
                <a:spcPts val="160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6pPr>
            <a:lvl7pPr marL="3200400" indent="-349250" algn="ctr">
              <a:spcBef>
                <a:spcPts val="160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7pPr>
            <a:lvl8pPr marL="3657600" indent="-349250" algn="ctr">
              <a:spcBef>
                <a:spcPts val="160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8pPr>
            <a:lvl9pPr marL="4114800" indent="-349250" algn="ctr">
              <a:spcBef>
                <a:spcPts val="1600"/>
              </a:spcBef>
              <a:spcAft>
                <a:spcPts val="1600"/>
              </a:spcAft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25">
            <a:extLst>
              <a:ext uri="{FF2B5EF4-FFF2-40B4-BE49-F238E27FC236}">
                <a16:creationId xmlns:a16="http://schemas.microsoft.com/office/drawing/2014/main" id="{C61BB19E-7C8C-4150-9249-C27CC2384DE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_ONLY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>
            <a:extLst>
              <a:ext uri="{FF2B5EF4-FFF2-40B4-BE49-F238E27FC236}">
                <a16:creationId xmlns:a16="http://schemas.microsoft.com/office/drawing/2014/main" id="{875E67EE-2349-4590-A2A5-A136F3B6A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1550" y="4119825"/>
            <a:ext cx="8160900" cy="615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marL="45720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</a:defRPr>
            </a:lvl1pPr>
          </a:lstStyle>
          <a:p>
            <a:endParaRPr/>
          </a:p>
        </p:txBody>
      </p:sp>
      <p:sp>
        <p:nvSpPr>
          <p:cNvPr id="101" name="Google Shape;101;p24">
            <a:extLst>
              <a:ext uri="{FF2B5EF4-FFF2-40B4-BE49-F238E27FC236}">
                <a16:creationId xmlns:a16="http://schemas.microsoft.com/office/drawing/2014/main" id="{E99CB961-F369-4970-82EA-A6BC6A372E9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8BF72531-7C8F-48C5-860D-0EA153F02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50" y="408425"/>
            <a:ext cx="8225100" cy="23889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B97EC86E-7CB8-4A59-A832-68666DC10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50" y="2834125"/>
            <a:ext cx="82251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B736E40E-BEC6-490E-8BA0-788A855B2A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>
            <a:extLst>
              <a:ext uri="{FF2B5EF4-FFF2-40B4-BE49-F238E27FC236}">
                <a16:creationId xmlns:a16="http://schemas.microsoft.com/office/drawing/2014/main" id="{E04DE825-4122-49A0-AA05-A6635EE24A0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9450" y="4373225"/>
            <a:ext cx="7877700" cy="373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23850">
              <a:spcBef>
                <a:spcPts val="0"/>
              </a:spcBef>
              <a:spcAft>
                <a:spcPts val="0"/>
              </a:spcAft>
              <a:buChar char="●"/>
              <a:defRPr sz="1500"/>
            </a:lvl1pPr>
            <a:lvl2pPr marL="914400" indent="-323850">
              <a:spcBef>
                <a:spcPts val="1600"/>
              </a:spcBef>
              <a:spcAft>
                <a:spcPts val="0"/>
              </a:spcAft>
              <a:buChar char="○"/>
              <a:defRPr sz="1500"/>
            </a:lvl2pPr>
            <a:lvl3pPr marL="1371600" indent="-323850">
              <a:spcBef>
                <a:spcPts val="1600"/>
              </a:spcBef>
              <a:spcAft>
                <a:spcPts val="0"/>
              </a:spcAft>
              <a:buChar char="■"/>
              <a:defRPr sz="1500"/>
            </a:lvl3pPr>
            <a:lvl4pPr marL="1828800" indent="-323850">
              <a:spcBef>
                <a:spcPts val="1600"/>
              </a:spcBef>
              <a:spcAft>
                <a:spcPts val="0"/>
              </a:spcAft>
              <a:buChar char="●"/>
              <a:defRPr sz="1500"/>
            </a:lvl4pPr>
            <a:lvl5pPr marL="2286000" indent="-323850">
              <a:spcBef>
                <a:spcPts val="1600"/>
              </a:spcBef>
              <a:spcAft>
                <a:spcPts val="0"/>
              </a:spcAft>
              <a:buChar char="○"/>
              <a:defRPr sz="1500"/>
            </a:lvl5pPr>
            <a:lvl6pPr marL="2743200" indent="-323850">
              <a:spcBef>
                <a:spcPts val="1600"/>
              </a:spcBef>
              <a:spcAft>
                <a:spcPts val="0"/>
              </a:spcAft>
              <a:buChar char="■"/>
              <a:defRPr sz="1500"/>
            </a:lvl6pPr>
            <a:lvl7pPr marL="3200400" indent="-323850">
              <a:spcBef>
                <a:spcPts val="1600"/>
              </a:spcBef>
              <a:spcAft>
                <a:spcPts val="0"/>
              </a:spcAft>
              <a:buChar char="●"/>
              <a:defRPr sz="1500"/>
            </a:lvl7pPr>
            <a:lvl8pPr marL="3657600" indent="-323850">
              <a:spcBef>
                <a:spcPts val="1600"/>
              </a:spcBef>
              <a:spcAft>
                <a:spcPts val="0"/>
              </a:spcAft>
              <a:buChar char="○"/>
              <a:defRPr sz="1500"/>
            </a:lvl8pPr>
            <a:lvl9pPr marL="4114800" indent="-323850">
              <a:spcBef>
                <a:spcPts val="1600"/>
              </a:spcBef>
              <a:spcAft>
                <a:spcPts val="1600"/>
              </a:spcAft>
              <a:buChar char="■"/>
              <a:defRPr sz="1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4CE7FCA2-FE73-4D59-BAF7-1B9CA0220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977850"/>
            <a:ext cx="8520600" cy="3187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>
            <a:extLst>
              <a:ext uri="{FF2B5EF4-FFF2-40B4-BE49-F238E27FC236}">
                <a16:creationId xmlns:a16="http://schemas.microsoft.com/office/drawing/2014/main" id="{D4E977C1-7432-44DF-860F-855EC545FA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BB45CF9F-4DB0-404B-8515-C0AF7BC0C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275" y="445025"/>
            <a:ext cx="8041800" cy="9645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E268464D-F4D0-4A72-A1FA-07798191C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275" y="1572200"/>
            <a:ext cx="8041800" cy="3234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4925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49250">
              <a:spcBef>
                <a:spcPts val="1600"/>
              </a:spcBef>
              <a:spcAft>
                <a:spcPts val="0"/>
              </a:spcAft>
              <a:buChar char="○"/>
              <a:defRPr/>
            </a:lvl2pPr>
            <a:lvl3pPr marL="1371600" indent="-349250">
              <a:spcBef>
                <a:spcPts val="1600"/>
              </a:spcBef>
              <a:spcAft>
                <a:spcPts val="0"/>
              </a:spcAft>
              <a:buChar char="■"/>
              <a:defRPr/>
            </a:lvl3pPr>
            <a:lvl4pPr marL="1828800" indent="-349250">
              <a:spcBef>
                <a:spcPts val="1600"/>
              </a:spcBef>
              <a:spcAft>
                <a:spcPts val="0"/>
              </a:spcAft>
              <a:buChar char="●"/>
              <a:defRPr/>
            </a:lvl4pPr>
            <a:lvl5pPr marL="2286000" indent="-349250">
              <a:spcBef>
                <a:spcPts val="1600"/>
              </a:spcBef>
              <a:spcAft>
                <a:spcPts val="0"/>
              </a:spcAft>
              <a:buChar char="○"/>
              <a:defRPr/>
            </a:lvl5pPr>
            <a:lvl6pPr marL="2743200" indent="-349250">
              <a:spcBef>
                <a:spcPts val="1600"/>
              </a:spcBef>
              <a:spcAft>
                <a:spcPts val="0"/>
              </a:spcAft>
              <a:buChar char="■"/>
              <a:defRPr/>
            </a:lvl6pPr>
            <a:lvl7pPr marL="3200400" indent="-349250">
              <a:spcBef>
                <a:spcPts val="1600"/>
              </a:spcBef>
              <a:spcAft>
                <a:spcPts val="0"/>
              </a:spcAft>
              <a:buChar char="●"/>
              <a:defRPr/>
            </a:lvl7pPr>
            <a:lvl8pPr marL="3657600" indent="-349250">
              <a:spcBef>
                <a:spcPts val="1600"/>
              </a:spcBef>
              <a:spcAft>
                <a:spcPts val="0"/>
              </a:spcAft>
              <a:buChar char="○"/>
              <a:defRPr/>
            </a:lvl8pPr>
            <a:lvl9pPr marL="4114800" indent="-349250">
              <a:spcBef>
                <a:spcPts val="1600"/>
              </a:spcBef>
              <a:spcAft>
                <a:spcPts val="160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>
            <a:extLst>
              <a:ext uri="{FF2B5EF4-FFF2-40B4-BE49-F238E27FC236}">
                <a16:creationId xmlns:a16="http://schemas.microsoft.com/office/drawing/2014/main" id="{9A25D488-FEE6-41F8-A36C-FB236BF41DA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ECEA0127-F33E-4A55-A4B5-D877A9F9F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275" y="445025"/>
            <a:ext cx="8014500" cy="9645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BA046B7B-970B-4F5C-8E9D-6C27528C5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275" y="1599625"/>
            <a:ext cx="3775200" cy="3222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Char char="●"/>
              <a:defRPr sz="1700"/>
            </a:lvl1pPr>
            <a:lvl2pPr marL="9144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2pPr>
            <a:lvl3pPr marL="1371600" indent="-336550">
              <a:spcBef>
                <a:spcPts val="1600"/>
              </a:spcBef>
              <a:spcAft>
                <a:spcPts val="0"/>
              </a:spcAft>
              <a:buChar char="■"/>
              <a:defRPr sz="1700"/>
            </a:lvl3pPr>
            <a:lvl4pPr marL="1828800" indent="-336550">
              <a:spcBef>
                <a:spcPts val="1600"/>
              </a:spcBef>
              <a:spcAft>
                <a:spcPts val="0"/>
              </a:spcAft>
              <a:buChar char="●"/>
              <a:defRPr sz="1700"/>
            </a:lvl4pPr>
            <a:lvl5pPr marL="22860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5pPr>
            <a:lvl6pPr marL="2743200" indent="-336550">
              <a:spcBef>
                <a:spcPts val="1600"/>
              </a:spcBef>
              <a:spcAft>
                <a:spcPts val="0"/>
              </a:spcAft>
              <a:buChar char="■"/>
              <a:defRPr sz="1700"/>
            </a:lvl6pPr>
            <a:lvl7pPr marL="3200400" indent="-336550">
              <a:spcBef>
                <a:spcPts val="1600"/>
              </a:spcBef>
              <a:spcAft>
                <a:spcPts val="0"/>
              </a:spcAft>
              <a:buChar char="●"/>
              <a:defRPr sz="1700"/>
            </a:lvl7pPr>
            <a:lvl8pPr marL="36576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8pPr>
            <a:lvl9pPr marL="4114800" indent="-336550">
              <a:spcBef>
                <a:spcPts val="1600"/>
              </a:spcBef>
              <a:spcAft>
                <a:spcPts val="1600"/>
              </a:spcAft>
              <a:buChar char="■"/>
              <a:defRPr sz="17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34C49088-CCD2-4B63-AEAC-85180D74977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17702" y="1599625"/>
            <a:ext cx="3775200" cy="3222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Char char="●"/>
              <a:defRPr sz="1700"/>
            </a:lvl1pPr>
            <a:lvl2pPr marL="9144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2pPr>
            <a:lvl3pPr marL="1371600" indent="-336550">
              <a:spcBef>
                <a:spcPts val="1600"/>
              </a:spcBef>
              <a:spcAft>
                <a:spcPts val="0"/>
              </a:spcAft>
              <a:buChar char="■"/>
              <a:defRPr sz="1700"/>
            </a:lvl3pPr>
            <a:lvl4pPr marL="1828800" indent="-336550">
              <a:spcBef>
                <a:spcPts val="1600"/>
              </a:spcBef>
              <a:spcAft>
                <a:spcPts val="0"/>
              </a:spcAft>
              <a:buChar char="●"/>
              <a:defRPr sz="1700"/>
            </a:lvl4pPr>
            <a:lvl5pPr marL="22860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5pPr>
            <a:lvl6pPr marL="2743200" indent="-336550">
              <a:spcBef>
                <a:spcPts val="1600"/>
              </a:spcBef>
              <a:spcAft>
                <a:spcPts val="0"/>
              </a:spcAft>
              <a:buChar char="■"/>
              <a:defRPr sz="1700"/>
            </a:lvl6pPr>
            <a:lvl7pPr marL="3200400" indent="-336550">
              <a:spcBef>
                <a:spcPts val="1600"/>
              </a:spcBef>
              <a:spcAft>
                <a:spcPts val="0"/>
              </a:spcAft>
              <a:buChar char="●"/>
              <a:defRPr sz="1700"/>
            </a:lvl7pPr>
            <a:lvl8pPr marL="36576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8pPr>
            <a:lvl9pPr marL="4114800" indent="-336550">
              <a:spcBef>
                <a:spcPts val="1600"/>
              </a:spcBef>
              <a:spcAft>
                <a:spcPts val="1600"/>
              </a:spcAft>
              <a:buChar char="■"/>
              <a:defRPr sz="1700"/>
            </a:lvl9pPr>
          </a:lstStyle>
          <a:p>
            <a:endParaRPr/>
          </a:p>
        </p:txBody>
      </p:sp>
      <p:sp>
        <p:nvSpPr>
          <p:cNvPr id="25" name="Google Shape;25;p5">
            <a:extLst>
              <a:ext uri="{FF2B5EF4-FFF2-40B4-BE49-F238E27FC236}">
                <a16:creationId xmlns:a16="http://schemas.microsoft.com/office/drawing/2014/main" id="{B503149D-2FCD-4B87-9F59-94AC5D0C7F7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ECDC2267-6611-4A79-B978-5FB38645D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1550" y="4119825"/>
            <a:ext cx="8160900" cy="615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marL="45720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</a:lstStyle>
          <a:p>
            <a:endParaRPr/>
          </a:p>
        </p:txBody>
      </p:sp>
      <p:sp>
        <p:nvSpPr>
          <p:cNvPr id="44" name="Google Shape;44;p10">
            <a:extLst>
              <a:ext uri="{FF2B5EF4-FFF2-40B4-BE49-F238E27FC236}">
                <a16:creationId xmlns:a16="http://schemas.microsoft.com/office/drawing/2014/main" id="{5FA4B8D7-B846-4C5C-9B5B-46F933192D0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1_1_3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>
            <a:extLst>
              <a:ext uri="{FF2B5EF4-FFF2-40B4-BE49-F238E27FC236}">
                <a16:creationId xmlns:a16="http://schemas.microsoft.com/office/drawing/2014/main" id="{85AA6906-35CA-4050-B4A9-2B15DA9AC9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27">
            <a:extLst>
              <a:ext uri="{FF2B5EF4-FFF2-40B4-BE49-F238E27FC236}">
                <a16:creationId xmlns:a16="http://schemas.microsoft.com/office/drawing/2014/main" id="{3CA7D86E-8710-4B74-99C3-7FAC141EF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50" y="204325"/>
            <a:ext cx="8249100" cy="9330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7">
            <a:extLst>
              <a:ext uri="{FF2B5EF4-FFF2-40B4-BE49-F238E27FC236}">
                <a16:creationId xmlns:a16="http://schemas.microsoft.com/office/drawing/2014/main" id="{02B9F89A-6EEB-4085-ABCA-951E2E2F7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450" y="1589275"/>
            <a:ext cx="8249100" cy="3208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9144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13716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18288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22860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27432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32004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36576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41148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1_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>
            <a:extLst>
              <a:ext uri="{FF2B5EF4-FFF2-40B4-BE49-F238E27FC236}">
                <a16:creationId xmlns:a16="http://schemas.microsoft.com/office/drawing/2014/main" id="{705A8F0C-51CC-47BD-B875-467C15457B9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26">
            <a:extLst>
              <a:ext uri="{FF2B5EF4-FFF2-40B4-BE49-F238E27FC236}">
                <a16:creationId xmlns:a16="http://schemas.microsoft.com/office/drawing/2014/main" id="{258BEBDC-F6C0-4750-A9C2-B17BEEA10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775" y="975650"/>
            <a:ext cx="7136700" cy="29952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26">
            <a:extLst>
              <a:ext uri="{FF2B5EF4-FFF2-40B4-BE49-F238E27FC236}">
                <a16:creationId xmlns:a16="http://schemas.microsoft.com/office/drawing/2014/main" id="{6F1D9CBD-BCBE-4392-BE4A-8CE9F8E56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775" y="4140900"/>
            <a:ext cx="7136700" cy="69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500">
                <a:solidFill>
                  <a:schemeClr val="dk2"/>
                </a:solidFill>
              </a:defRPr>
            </a:lvl1pPr>
            <a:lvl2pPr marL="9144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500">
                <a:solidFill>
                  <a:schemeClr val="dk2"/>
                </a:solidFill>
              </a:defRPr>
            </a:lvl2pPr>
            <a:lvl3pPr marL="13716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500">
                <a:solidFill>
                  <a:schemeClr val="dk2"/>
                </a:solidFill>
              </a:defRPr>
            </a:lvl3pPr>
            <a:lvl4pPr marL="18288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500">
                <a:solidFill>
                  <a:schemeClr val="dk2"/>
                </a:solidFill>
              </a:defRPr>
            </a:lvl4pPr>
            <a:lvl5pPr marL="22860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500">
                <a:solidFill>
                  <a:schemeClr val="dk2"/>
                </a:solidFill>
              </a:defRPr>
            </a:lvl5pPr>
            <a:lvl6pPr marL="27432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500">
                <a:solidFill>
                  <a:schemeClr val="dk2"/>
                </a:solidFill>
              </a:defRPr>
            </a:lvl6pPr>
            <a:lvl7pPr marL="32004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500">
                <a:solidFill>
                  <a:schemeClr val="dk2"/>
                </a:solidFill>
              </a:defRPr>
            </a:lvl7pPr>
            <a:lvl8pPr marL="36576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500">
                <a:solidFill>
                  <a:schemeClr val="dk2"/>
                </a:solidFill>
              </a:defRPr>
            </a:lvl8pPr>
            <a:lvl9pPr marL="41148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B08419AF-779A-4354-BB8F-039ED9B49F8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1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>
            <a:extLst>
              <a:ext uri="{FF2B5EF4-FFF2-40B4-BE49-F238E27FC236}">
                <a16:creationId xmlns:a16="http://schemas.microsoft.com/office/drawing/2014/main" id="{F1C18FCE-5382-4E89-81EE-A7C52C4BAC5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8">
            <a:extLst>
              <a:ext uri="{FF2B5EF4-FFF2-40B4-BE49-F238E27FC236}">
                <a16:creationId xmlns:a16="http://schemas.microsoft.com/office/drawing/2014/main" id="{64E1820F-6C85-4B06-A947-705FA0FDF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75" y="370000"/>
            <a:ext cx="2959800" cy="19380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8">
            <a:extLst>
              <a:ext uri="{FF2B5EF4-FFF2-40B4-BE49-F238E27FC236}">
                <a16:creationId xmlns:a16="http://schemas.microsoft.com/office/drawing/2014/main" id="{CA6BB953-95F8-4471-998D-CF28A0C94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0825" y="370000"/>
            <a:ext cx="4598400" cy="42933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9144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13716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18288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22860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27432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32004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36576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41148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>
            <a:endParaRPr/>
          </a:p>
        </p:txBody>
      </p:sp>
      <p:sp>
        <p:nvSpPr>
          <p:cNvPr id="120" name="Google Shape;120;p28">
            <a:extLst>
              <a:ext uri="{FF2B5EF4-FFF2-40B4-BE49-F238E27FC236}">
                <a16:creationId xmlns:a16="http://schemas.microsoft.com/office/drawing/2014/main" id="{AA93483F-77A0-476A-8F2E-15C97AAF2A21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58200" y="2554675"/>
            <a:ext cx="2959800" cy="2108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dk2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buNone/>
              <a:defRPr sz="1700">
                <a:solidFill>
                  <a:schemeClr val="dk2"/>
                </a:solidFill>
              </a:defRPr>
            </a:lvl2pPr>
            <a:lvl3pPr>
              <a:spcBef>
                <a:spcPts val="1600"/>
              </a:spcBef>
              <a:spcAft>
                <a:spcPts val="0"/>
              </a:spcAft>
              <a:buNone/>
              <a:defRPr sz="1700">
                <a:solidFill>
                  <a:schemeClr val="dk2"/>
                </a:solidFill>
              </a:defRPr>
            </a:lvl3pPr>
            <a:lvl4pPr>
              <a:spcBef>
                <a:spcPts val="1600"/>
              </a:spcBef>
              <a:spcAft>
                <a:spcPts val="0"/>
              </a:spcAft>
              <a:buNone/>
              <a:defRPr sz="1700">
                <a:solidFill>
                  <a:schemeClr val="dk2"/>
                </a:solidFill>
              </a:defRPr>
            </a:lvl4pPr>
            <a:lvl5pPr>
              <a:spcBef>
                <a:spcPts val="1600"/>
              </a:spcBef>
              <a:spcAft>
                <a:spcPts val="0"/>
              </a:spcAft>
              <a:buNone/>
              <a:defRPr sz="1700">
                <a:solidFill>
                  <a:schemeClr val="dk2"/>
                </a:solidFill>
              </a:defRPr>
            </a:lvl5pPr>
            <a:lvl6pPr>
              <a:spcBef>
                <a:spcPts val="1600"/>
              </a:spcBef>
              <a:spcAft>
                <a:spcPts val="0"/>
              </a:spcAft>
              <a:buNone/>
              <a:defRPr sz="1700">
                <a:solidFill>
                  <a:schemeClr val="dk2"/>
                </a:solidFill>
              </a:defRPr>
            </a:lvl6pPr>
            <a:lvl7pPr>
              <a:spcBef>
                <a:spcPts val="1600"/>
              </a:spcBef>
              <a:spcAft>
                <a:spcPts val="0"/>
              </a:spcAft>
              <a:buNone/>
              <a:defRPr sz="1700">
                <a:solidFill>
                  <a:schemeClr val="dk2"/>
                </a:solidFill>
              </a:defRPr>
            </a:lvl7pPr>
            <a:lvl8pPr>
              <a:spcBef>
                <a:spcPts val="1600"/>
              </a:spcBef>
              <a:spcAft>
                <a:spcPts val="0"/>
              </a:spcAft>
              <a:buNone/>
              <a:defRPr sz="1700">
                <a:solidFill>
                  <a:schemeClr val="dk2"/>
                </a:solidFill>
              </a:defRPr>
            </a:lvl8pPr>
            <a:lvl9pPr>
              <a:spcBef>
                <a:spcPts val="1600"/>
              </a:spcBef>
              <a:spcAft>
                <a:spcPts val="1600"/>
              </a:spcAft>
              <a:buNone/>
              <a:defRPr sz="1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163347FC-748A-45AD-9271-E7383480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00" y="445025"/>
            <a:ext cx="8041800" cy="40134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28" name="Google Shape;28;p6">
            <a:extLst>
              <a:ext uri="{FF2B5EF4-FFF2-40B4-BE49-F238E27FC236}">
                <a16:creationId xmlns:a16="http://schemas.microsoft.com/office/drawing/2014/main" id="{C8B6E460-6C58-4030-B58D-B906BDD834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0B7F0D97-6B61-439E-AF9D-D41C20E11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050" y="442450"/>
            <a:ext cx="3880200" cy="14409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BB9B79AF-5C35-4638-8ACB-26BAD0184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7050" y="1996700"/>
            <a:ext cx="3880200" cy="2836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Char char="●"/>
              <a:defRPr sz="1700"/>
            </a:lvl1pPr>
            <a:lvl2pPr marL="9144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2pPr>
            <a:lvl3pPr marL="1371600" indent="-336550">
              <a:spcBef>
                <a:spcPts val="1600"/>
              </a:spcBef>
              <a:spcAft>
                <a:spcPts val="0"/>
              </a:spcAft>
              <a:buChar char="■"/>
              <a:defRPr sz="1700"/>
            </a:lvl3pPr>
            <a:lvl4pPr marL="1828800" indent="-336550">
              <a:spcBef>
                <a:spcPts val="1600"/>
              </a:spcBef>
              <a:spcAft>
                <a:spcPts val="0"/>
              </a:spcAft>
              <a:buChar char="●"/>
              <a:defRPr sz="1700"/>
            </a:lvl4pPr>
            <a:lvl5pPr marL="22860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5pPr>
            <a:lvl6pPr marL="2743200" indent="-336550">
              <a:spcBef>
                <a:spcPts val="1600"/>
              </a:spcBef>
              <a:spcAft>
                <a:spcPts val="0"/>
              </a:spcAft>
              <a:buChar char="■"/>
              <a:defRPr sz="1700"/>
            </a:lvl6pPr>
            <a:lvl7pPr marL="3200400" indent="-336550">
              <a:spcBef>
                <a:spcPts val="1600"/>
              </a:spcBef>
              <a:spcAft>
                <a:spcPts val="0"/>
              </a:spcAft>
              <a:buChar char="●"/>
              <a:defRPr sz="1700"/>
            </a:lvl7pPr>
            <a:lvl8pPr marL="36576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8pPr>
            <a:lvl9pPr marL="4114800" indent="-336550">
              <a:spcBef>
                <a:spcPts val="1600"/>
              </a:spcBef>
              <a:spcAft>
                <a:spcPts val="1600"/>
              </a:spcAft>
              <a:buChar char="■"/>
              <a:defRPr sz="1700"/>
            </a:lvl9pPr>
          </a:lstStyle>
          <a:p>
            <a:endParaRPr/>
          </a:p>
        </p:txBody>
      </p:sp>
      <p:sp>
        <p:nvSpPr>
          <p:cNvPr id="32" name="Google Shape;32;p7">
            <a:extLst>
              <a:ext uri="{FF2B5EF4-FFF2-40B4-BE49-F238E27FC236}">
                <a16:creationId xmlns:a16="http://schemas.microsoft.com/office/drawing/2014/main" id="{638DB892-9209-45B9-899B-BF42DC49825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86A09C6A-C4C7-4C42-8A62-AD9409582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96" y="907600"/>
            <a:ext cx="7062300" cy="3755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>
            <a:extLst>
              <a:ext uri="{FF2B5EF4-FFF2-40B4-BE49-F238E27FC236}">
                <a16:creationId xmlns:a16="http://schemas.microsoft.com/office/drawing/2014/main" id="{9044F748-D064-4C03-BFD3-1E22AC0DA2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>
            <a:extLst>
              <a:ext uri="{FF2B5EF4-FFF2-40B4-BE49-F238E27FC236}">
                <a16:creationId xmlns:a16="http://schemas.microsoft.com/office/drawing/2014/main" id="{2F018D9A-9DA6-417F-9487-A2C4488F1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200" y="397075"/>
            <a:ext cx="7038000" cy="39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8840B18B-6907-441E-A5D5-274271B55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00" y="1049500"/>
            <a:ext cx="3902400" cy="3204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62F0570D-D818-42DB-BA09-F0C1A365548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8E21F3EE-A64F-4EE8-8EE6-D4EDB0EDD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900" y="419750"/>
            <a:ext cx="3902400" cy="39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41" name="Google Shape;41;p9">
            <a:extLst>
              <a:ext uri="{FF2B5EF4-FFF2-40B4-BE49-F238E27FC236}">
                <a16:creationId xmlns:a16="http://schemas.microsoft.com/office/drawing/2014/main" id="{45314F5E-51A9-405F-98E0-024E18D3D82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06800" y="419750"/>
            <a:ext cx="3902400" cy="4037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Char char="●"/>
              <a:defRPr sz="1700"/>
            </a:lvl1pPr>
            <a:lvl2pPr marL="9144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2pPr>
            <a:lvl3pPr marL="1371600" indent="-336550">
              <a:spcBef>
                <a:spcPts val="1600"/>
              </a:spcBef>
              <a:spcAft>
                <a:spcPts val="0"/>
              </a:spcAft>
              <a:buChar char="■"/>
              <a:defRPr sz="1700"/>
            </a:lvl3pPr>
            <a:lvl4pPr marL="1828800" indent="-336550">
              <a:spcBef>
                <a:spcPts val="1600"/>
              </a:spcBef>
              <a:spcAft>
                <a:spcPts val="0"/>
              </a:spcAft>
              <a:buChar char="●"/>
              <a:defRPr sz="1700"/>
            </a:lvl4pPr>
            <a:lvl5pPr marL="22860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5pPr>
            <a:lvl6pPr marL="2743200" indent="-336550">
              <a:spcBef>
                <a:spcPts val="1600"/>
              </a:spcBef>
              <a:spcAft>
                <a:spcPts val="0"/>
              </a:spcAft>
              <a:buChar char="■"/>
              <a:defRPr sz="1700"/>
            </a:lvl6pPr>
            <a:lvl7pPr marL="3200400" indent="-336550">
              <a:spcBef>
                <a:spcPts val="1600"/>
              </a:spcBef>
              <a:spcAft>
                <a:spcPts val="0"/>
              </a:spcAft>
              <a:buChar char="●"/>
              <a:defRPr sz="1700"/>
            </a:lvl7pPr>
            <a:lvl8pPr marL="36576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8pPr>
            <a:lvl9pPr marL="4114800" indent="-336550">
              <a:spcBef>
                <a:spcPts val="1600"/>
              </a:spcBef>
              <a:spcAft>
                <a:spcPts val="1600"/>
              </a:spcAft>
              <a:buChar char="■"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>
            <a:extLst>
              <a:ext uri="{FF2B5EF4-FFF2-40B4-BE49-F238E27FC236}">
                <a16:creationId xmlns:a16="http://schemas.microsoft.com/office/drawing/2014/main" id="{9C2AC864-FECF-4254-B0D0-97A3E1DD0B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>
            <a:extLst>
              <a:ext uri="{FF2B5EF4-FFF2-40B4-BE49-F238E27FC236}">
                <a16:creationId xmlns:a16="http://schemas.microsoft.com/office/drawing/2014/main" id="{445565E1-E815-4239-A63C-EF94422AD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775" y="975650"/>
            <a:ext cx="7136700" cy="29952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>
            <a:extLst>
              <a:ext uri="{FF2B5EF4-FFF2-40B4-BE49-F238E27FC236}">
                <a16:creationId xmlns:a16="http://schemas.microsoft.com/office/drawing/2014/main" id="{F99F7E90-57BE-4CF2-84C3-26A1141E3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775" y="4140900"/>
            <a:ext cx="7136700" cy="69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500"/>
            </a:lvl1pPr>
            <a:lvl2pPr marL="9144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500"/>
            </a:lvl2pPr>
            <a:lvl3pPr marL="13716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500"/>
            </a:lvl3pPr>
            <a:lvl4pPr marL="18288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500"/>
            </a:lvl4pPr>
            <a:lvl5pPr marL="22860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500"/>
            </a:lvl5pPr>
            <a:lvl6pPr marL="27432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500"/>
            </a:lvl6pPr>
            <a:lvl7pPr marL="32004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500"/>
            </a:lvl7pPr>
            <a:lvl8pPr marL="36576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500"/>
            </a:lvl8pPr>
            <a:lvl9pPr marL="41148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757836AC-F154-48A1-BACA-6DC57173A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610F402A-2FE4-4BBC-962C-3F2466B21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4925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49250" algn="ctr">
              <a:spcBef>
                <a:spcPts val="1600"/>
              </a:spcBef>
              <a:spcAft>
                <a:spcPts val="0"/>
              </a:spcAft>
              <a:buChar char="○"/>
              <a:defRPr/>
            </a:lvl2pPr>
            <a:lvl3pPr marL="1371600" indent="-349250" algn="ctr">
              <a:spcBef>
                <a:spcPts val="1600"/>
              </a:spcBef>
              <a:spcAft>
                <a:spcPts val="0"/>
              </a:spcAft>
              <a:buChar char="■"/>
              <a:defRPr/>
            </a:lvl3pPr>
            <a:lvl4pPr marL="1828800" indent="-349250" algn="ctr">
              <a:spcBef>
                <a:spcPts val="1600"/>
              </a:spcBef>
              <a:spcAft>
                <a:spcPts val="0"/>
              </a:spcAft>
              <a:buChar char="●"/>
              <a:defRPr/>
            </a:lvl4pPr>
            <a:lvl5pPr marL="2286000" indent="-349250" algn="ctr">
              <a:spcBef>
                <a:spcPts val="1600"/>
              </a:spcBef>
              <a:spcAft>
                <a:spcPts val="0"/>
              </a:spcAft>
              <a:buChar char="○"/>
              <a:defRPr/>
            </a:lvl5pPr>
            <a:lvl6pPr marL="2743200" indent="-349250" algn="ctr">
              <a:spcBef>
                <a:spcPts val="1600"/>
              </a:spcBef>
              <a:spcAft>
                <a:spcPts val="0"/>
              </a:spcAft>
              <a:buChar char="■"/>
              <a:defRPr/>
            </a:lvl6pPr>
            <a:lvl7pPr marL="3200400" indent="-349250" algn="ctr">
              <a:spcBef>
                <a:spcPts val="1600"/>
              </a:spcBef>
              <a:spcAft>
                <a:spcPts val="0"/>
              </a:spcAft>
              <a:buChar char="●"/>
              <a:defRPr/>
            </a:lvl7pPr>
            <a:lvl8pPr marL="3657600" indent="-349250" algn="ctr">
              <a:spcBef>
                <a:spcPts val="1600"/>
              </a:spcBef>
              <a:spcAft>
                <a:spcPts val="0"/>
              </a:spcAft>
              <a:buChar char="○"/>
              <a:defRPr/>
            </a:lvl8pPr>
            <a:lvl9pPr marL="4114800" indent="-349250" algn="ctr">
              <a:spcBef>
                <a:spcPts val="1600"/>
              </a:spcBef>
              <a:spcAft>
                <a:spcPts val="160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>
            <a:extLst>
              <a:ext uri="{FF2B5EF4-FFF2-40B4-BE49-F238E27FC236}">
                <a16:creationId xmlns:a16="http://schemas.microsoft.com/office/drawing/2014/main" id="{991A7B94-E431-4440-BFCB-E56B1440FF7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C76D1B0F-92D0-4879-9605-122810AE529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CCC1F1B6-4211-47D9-B6F1-492504C9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75" y="370000"/>
            <a:ext cx="2959800" cy="19380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A58FD433-3E78-4F84-A7BA-8FF7184AB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0825" y="370000"/>
            <a:ext cx="4598400" cy="42933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latin typeface="Source Code Pro"/>
                <a:ea typeface="Source Code Pro"/>
                <a:cs typeface="Source Code Pro"/>
              </a:defRPr>
            </a:lvl1pPr>
            <a:lvl2pPr marL="9144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latin typeface="Source Code Pro"/>
                <a:ea typeface="Source Code Pro"/>
                <a:cs typeface="Source Code Pro"/>
              </a:defRPr>
            </a:lvl2pPr>
            <a:lvl3pPr marL="13716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latin typeface="Source Code Pro"/>
                <a:ea typeface="Source Code Pro"/>
                <a:cs typeface="Source Code Pro"/>
              </a:defRPr>
            </a:lvl3pPr>
            <a:lvl4pPr marL="18288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latin typeface="Source Code Pro"/>
                <a:ea typeface="Source Code Pro"/>
                <a:cs typeface="Source Code Pro"/>
              </a:defRPr>
            </a:lvl4pPr>
            <a:lvl5pPr marL="22860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latin typeface="Source Code Pro"/>
                <a:ea typeface="Source Code Pro"/>
                <a:cs typeface="Source Code Pro"/>
              </a:defRPr>
            </a:lvl5pPr>
            <a:lvl6pPr marL="27432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latin typeface="Source Code Pro"/>
                <a:ea typeface="Source Code Pro"/>
                <a:cs typeface="Source Code Pro"/>
              </a:defRPr>
            </a:lvl6pPr>
            <a:lvl7pPr marL="32004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latin typeface="Source Code Pro"/>
                <a:ea typeface="Source Code Pro"/>
                <a:cs typeface="Source Code Pro"/>
              </a:defRPr>
            </a:lvl7pPr>
            <a:lvl8pPr marL="36576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latin typeface="Source Code Pro"/>
                <a:ea typeface="Source Code Pro"/>
                <a:cs typeface="Source Code Pro"/>
              </a:defRPr>
            </a:lvl8pPr>
            <a:lvl9pPr marL="41148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latin typeface="Source Code Pro"/>
                <a:ea typeface="Source Code Pro"/>
                <a:cs typeface="Source Code Pro"/>
              </a:defRPr>
            </a:lvl9pPr>
          </a:lstStyle>
          <a:p>
            <a:endParaRPr/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F61D71CD-9140-4A58-9FB6-0A348C8B3FA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58200" y="2554675"/>
            <a:ext cx="2959800" cy="2108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700"/>
            </a:lvl1pPr>
            <a:lvl2pPr>
              <a:spcBef>
                <a:spcPts val="1600"/>
              </a:spcBef>
              <a:spcAft>
                <a:spcPts val="0"/>
              </a:spcAft>
              <a:buNone/>
              <a:defRPr sz="1700"/>
            </a:lvl2pPr>
            <a:lvl3pPr>
              <a:spcBef>
                <a:spcPts val="1600"/>
              </a:spcBef>
              <a:spcAft>
                <a:spcPts val="0"/>
              </a:spcAft>
              <a:buNone/>
              <a:defRPr sz="1700"/>
            </a:lvl3pPr>
            <a:lvl4pPr>
              <a:spcBef>
                <a:spcPts val="1600"/>
              </a:spcBef>
              <a:spcAft>
                <a:spcPts val="0"/>
              </a:spcAft>
              <a:buNone/>
              <a:defRPr sz="1700"/>
            </a:lvl4pPr>
            <a:lvl5pPr>
              <a:spcBef>
                <a:spcPts val="1600"/>
              </a:spcBef>
              <a:spcAft>
                <a:spcPts val="0"/>
              </a:spcAft>
              <a:buNone/>
              <a:defRPr sz="1700"/>
            </a:lvl5pPr>
            <a:lvl6pPr>
              <a:spcBef>
                <a:spcPts val="1600"/>
              </a:spcBef>
              <a:spcAft>
                <a:spcPts val="0"/>
              </a:spcAft>
              <a:buNone/>
              <a:defRPr sz="1700"/>
            </a:lvl6pPr>
            <a:lvl7pPr>
              <a:spcBef>
                <a:spcPts val="1600"/>
              </a:spcBef>
              <a:spcAft>
                <a:spcPts val="0"/>
              </a:spcAft>
              <a:buNone/>
              <a:defRPr sz="1700"/>
            </a:lvl7pPr>
            <a:lvl8pPr>
              <a:spcBef>
                <a:spcPts val="1600"/>
              </a:spcBef>
              <a:spcAft>
                <a:spcPts val="0"/>
              </a:spcAft>
              <a:buNone/>
              <a:defRPr sz="1700"/>
            </a:lvl8pPr>
            <a:lvl9pPr>
              <a:spcBef>
                <a:spcPts val="1600"/>
              </a:spcBef>
              <a:spcAft>
                <a:spcPts val="1600"/>
              </a:spcAft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9844C99E-5FD9-48AA-9213-F49D74F0ED6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175BC796-0833-4A48-AA33-9CF54DB92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50" y="204325"/>
            <a:ext cx="8249100" cy="9330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DA8A3BF2-4D55-4324-9FCD-DBFD4149A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450" y="1589275"/>
            <a:ext cx="8249100" cy="3208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latin typeface="Source Code Pro"/>
                <a:ea typeface="Source Code Pro"/>
                <a:cs typeface="Source Code Pro"/>
              </a:defRPr>
            </a:lvl1pPr>
            <a:lvl2pPr marL="9144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latin typeface="Source Code Pro"/>
                <a:ea typeface="Source Code Pro"/>
                <a:cs typeface="Source Code Pro"/>
              </a:defRPr>
            </a:lvl2pPr>
            <a:lvl3pPr marL="13716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latin typeface="Source Code Pro"/>
                <a:ea typeface="Source Code Pro"/>
                <a:cs typeface="Source Code Pro"/>
              </a:defRPr>
            </a:lvl3pPr>
            <a:lvl4pPr marL="18288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latin typeface="Source Code Pro"/>
                <a:ea typeface="Source Code Pro"/>
                <a:cs typeface="Source Code Pro"/>
              </a:defRPr>
            </a:lvl4pPr>
            <a:lvl5pPr marL="22860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latin typeface="Source Code Pro"/>
                <a:ea typeface="Source Code Pro"/>
                <a:cs typeface="Source Code Pro"/>
              </a:defRPr>
            </a:lvl5pPr>
            <a:lvl6pPr marL="27432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latin typeface="Source Code Pro"/>
                <a:ea typeface="Source Code Pro"/>
                <a:cs typeface="Source Code Pro"/>
              </a:defRPr>
            </a:lvl6pPr>
            <a:lvl7pPr marL="32004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latin typeface="Source Code Pro"/>
                <a:ea typeface="Source Code Pro"/>
                <a:cs typeface="Source Code Pro"/>
              </a:defRPr>
            </a:lvl7pPr>
            <a:lvl8pPr marL="36576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latin typeface="Source Code Pro"/>
                <a:ea typeface="Source Code Pro"/>
                <a:cs typeface="Source Code Pro"/>
              </a:defRPr>
            </a:lvl8pPr>
            <a:lvl9pPr marL="41148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latin typeface="Source Code Pro"/>
                <a:ea typeface="Source Code Pro"/>
                <a:cs typeface="Source Code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>
            <a:extLst>
              <a:ext uri="{FF2B5EF4-FFF2-40B4-BE49-F238E27FC236}">
                <a16:creationId xmlns:a16="http://schemas.microsoft.com/office/drawing/2014/main" id="{A15B5B20-726D-4399-AD5D-5B3415133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50" y="2834125"/>
            <a:ext cx="82251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6">
            <a:extLst>
              <a:ext uri="{FF2B5EF4-FFF2-40B4-BE49-F238E27FC236}">
                <a16:creationId xmlns:a16="http://schemas.microsoft.com/office/drawing/2014/main" id="{B691ABB7-C82E-41BB-8FE5-23722F39C0D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9450" y="4373225"/>
            <a:ext cx="7877700" cy="373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23850">
              <a:spcBef>
                <a:spcPts val="0"/>
              </a:spcBef>
              <a:spcAft>
                <a:spcPts val="0"/>
              </a:spcAft>
              <a:buChar char="●"/>
              <a:defRPr sz="1500">
                <a:solidFill>
                  <a:schemeClr val="dk2"/>
                </a:solidFill>
              </a:defRPr>
            </a:lvl1pPr>
            <a:lvl2pPr marL="914400" indent="-323850">
              <a:spcBef>
                <a:spcPts val="1600"/>
              </a:spcBef>
              <a:spcAft>
                <a:spcPts val="0"/>
              </a:spcAft>
              <a:buChar char="○"/>
              <a:defRPr sz="1500">
                <a:solidFill>
                  <a:schemeClr val="dk2"/>
                </a:solidFill>
              </a:defRPr>
            </a:lvl2pPr>
            <a:lvl3pPr marL="1371600" indent="-323850">
              <a:spcBef>
                <a:spcPts val="1600"/>
              </a:spcBef>
              <a:spcAft>
                <a:spcPts val="0"/>
              </a:spcAft>
              <a:buChar char="■"/>
              <a:defRPr sz="1500">
                <a:solidFill>
                  <a:schemeClr val="dk2"/>
                </a:solidFill>
              </a:defRPr>
            </a:lvl3pPr>
            <a:lvl4pPr marL="1828800" indent="-323850">
              <a:spcBef>
                <a:spcPts val="1600"/>
              </a:spcBef>
              <a:spcAft>
                <a:spcPts val="0"/>
              </a:spcAft>
              <a:buChar char="●"/>
              <a:defRPr sz="1500">
                <a:solidFill>
                  <a:schemeClr val="dk2"/>
                </a:solidFill>
              </a:defRPr>
            </a:lvl4pPr>
            <a:lvl5pPr marL="2286000" indent="-323850">
              <a:spcBef>
                <a:spcPts val="1600"/>
              </a:spcBef>
              <a:spcAft>
                <a:spcPts val="0"/>
              </a:spcAft>
              <a:buChar char="○"/>
              <a:defRPr sz="1500">
                <a:solidFill>
                  <a:schemeClr val="dk2"/>
                </a:solidFill>
              </a:defRPr>
            </a:lvl5pPr>
            <a:lvl6pPr marL="2743200" indent="-323850">
              <a:spcBef>
                <a:spcPts val="1600"/>
              </a:spcBef>
              <a:spcAft>
                <a:spcPts val="0"/>
              </a:spcAft>
              <a:buChar char="■"/>
              <a:defRPr sz="1500">
                <a:solidFill>
                  <a:schemeClr val="dk2"/>
                </a:solidFill>
              </a:defRPr>
            </a:lvl6pPr>
            <a:lvl7pPr marL="3200400" indent="-323850">
              <a:spcBef>
                <a:spcPts val="1600"/>
              </a:spcBef>
              <a:spcAft>
                <a:spcPts val="0"/>
              </a:spcAft>
              <a:buChar char="●"/>
              <a:defRPr sz="1500">
                <a:solidFill>
                  <a:schemeClr val="dk2"/>
                </a:solidFill>
              </a:defRPr>
            </a:lvl7pPr>
            <a:lvl8pPr marL="3657600" indent="-323850">
              <a:spcBef>
                <a:spcPts val="1600"/>
              </a:spcBef>
              <a:spcAft>
                <a:spcPts val="0"/>
              </a:spcAft>
              <a:buChar char="○"/>
              <a:defRPr sz="1500">
                <a:solidFill>
                  <a:schemeClr val="dk2"/>
                </a:solidFill>
              </a:defRPr>
            </a:lvl8pPr>
            <a:lvl9pPr marL="4114800" indent="-323850">
              <a:spcBef>
                <a:spcPts val="1600"/>
              </a:spcBef>
              <a:spcAft>
                <a:spcPts val="1600"/>
              </a:spcAft>
              <a:buChar char="■"/>
              <a:defRPr sz="1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>
            <a:extLst>
              <a:ext uri="{FF2B5EF4-FFF2-40B4-BE49-F238E27FC236}">
                <a16:creationId xmlns:a16="http://schemas.microsoft.com/office/drawing/2014/main" id="{9D26E93B-3F63-40D7-872E-3BF04E4A10B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7D02E226-3F38-4256-A7DA-BE99129C7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50" y="408425"/>
            <a:ext cx="8225100" cy="23889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>
            <a:extLst>
              <a:ext uri="{FF2B5EF4-FFF2-40B4-BE49-F238E27FC236}">
                <a16:creationId xmlns:a16="http://schemas.microsoft.com/office/drawing/2014/main" id="{416C9732-4808-450F-94CE-AB979955AB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>
            <a:extLst>
              <a:ext uri="{FF2B5EF4-FFF2-40B4-BE49-F238E27FC236}">
                <a16:creationId xmlns:a16="http://schemas.microsoft.com/office/drawing/2014/main" id="{EA99BB9F-410E-4294-B1B3-281E2FED271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8">
            <a:extLst>
              <a:ext uri="{FF2B5EF4-FFF2-40B4-BE49-F238E27FC236}">
                <a16:creationId xmlns:a16="http://schemas.microsoft.com/office/drawing/2014/main" id="{21F1D3BA-24B9-44A1-BB0C-9321016EF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275" y="1572200"/>
            <a:ext cx="8041800" cy="3234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4925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1pPr>
            <a:lvl2pPr marL="914400" indent="-349250">
              <a:spcBef>
                <a:spcPts val="160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2pPr>
            <a:lvl3pPr marL="1371600" indent="-349250">
              <a:spcBef>
                <a:spcPts val="160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3pPr>
            <a:lvl4pPr marL="1828800" indent="-349250">
              <a:spcBef>
                <a:spcPts val="160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4pPr>
            <a:lvl5pPr marL="2286000" indent="-349250">
              <a:spcBef>
                <a:spcPts val="160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5pPr>
            <a:lvl6pPr marL="2743200" indent="-349250">
              <a:spcBef>
                <a:spcPts val="160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6pPr>
            <a:lvl7pPr marL="3200400" indent="-349250">
              <a:spcBef>
                <a:spcPts val="160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7pPr>
            <a:lvl8pPr marL="3657600" indent="-349250">
              <a:spcBef>
                <a:spcPts val="160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8pPr>
            <a:lvl9pPr marL="4114800" indent="-349250">
              <a:spcBef>
                <a:spcPts val="1600"/>
              </a:spcBef>
              <a:spcAft>
                <a:spcPts val="1600"/>
              </a:spcAft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8">
            <a:extLst>
              <a:ext uri="{FF2B5EF4-FFF2-40B4-BE49-F238E27FC236}">
                <a16:creationId xmlns:a16="http://schemas.microsoft.com/office/drawing/2014/main" id="{FEA59A9F-6E2E-4763-B674-27BBE5A7E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275" y="445025"/>
            <a:ext cx="8041800" cy="9645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>
            <a:extLst>
              <a:ext uri="{FF2B5EF4-FFF2-40B4-BE49-F238E27FC236}">
                <a16:creationId xmlns:a16="http://schemas.microsoft.com/office/drawing/2014/main" id="{65AEB591-6F84-45F2-B7C0-FDC2FEEDBE6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7">
            <a:extLst>
              <a:ext uri="{FF2B5EF4-FFF2-40B4-BE49-F238E27FC236}">
                <a16:creationId xmlns:a16="http://schemas.microsoft.com/office/drawing/2014/main" id="{13FEEC1B-C299-4461-8174-568EF38C3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977850"/>
            <a:ext cx="8520600" cy="3187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4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>
            <a:extLst>
              <a:ext uri="{FF2B5EF4-FFF2-40B4-BE49-F238E27FC236}">
                <a16:creationId xmlns:a16="http://schemas.microsoft.com/office/drawing/2014/main" id="{99291EF7-C37B-468C-9F9A-7822BFE0ECD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0">
            <a:extLst>
              <a:ext uri="{FF2B5EF4-FFF2-40B4-BE49-F238E27FC236}">
                <a16:creationId xmlns:a16="http://schemas.microsoft.com/office/drawing/2014/main" id="{08CFAFF6-6535-4BCD-8987-74D53C02A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00" y="445025"/>
            <a:ext cx="8041800" cy="40134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3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>
            <a:extLst>
              <a:ext uri="{FF2B5EF4-FFF2-40B4-BE49-F238E27FC236}">
                <a16:creationId xmlns:a16="http://schemas.microsoft.com/office/drawing/2014/main" id="{B617B5DC-EACE-4D8C-A8A3-6639811CC95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9">
            <a:extLst>
              <a:ext uri="{FF2B5EF4-FFF2-40B4-BE49-F238E27FC236}">
                <a16:creationId xmlns:a16="http://schemas.microsoft.com/office/drawing/2014/main" id="{05779FDC-1EF0-40DB-9901-A2D7B5CB8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275" y="1599625"/>
            <a:ext cx="3775200" cy="3222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1pPr>
            <a:lvl2pPr marL="9144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2pPr>
            <a:lvl3pPr marL="1371600" indent="-336550">
              <a:spcBef>
                <a:spcPts val="1600"/>
              </a:spcBef>
              <a:spcAft>
                <a:spcPts val="0"/>
              </a:spcAft>
              <a:buChar char="■"/>
              <a:defRPr sz="1700">
                <a:solidFill>
                  <a:schemeClr val="dk2"/>
                </a:solidFill>
              </a:defRPr>
            </a:lvl3pPr>
            <a:lvl4pPr marL="1828800" indent="-336550">
              <a:spcBef>
                <a:spcPts val="160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4pPr>
            <a:lvl5pPr marL="22860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5pPr>
            <a:lvl6pPr marL="2743200" indent="-336550">
              <a:spcBef>
                <a:spcPts val="1600"/>
              </a:spcBef>
              <a:spcAft>
                <a:spcPts val="0"/>
              </a:spcAft>
              <a:buChar char="■"/>
              <a:defRPr sz="1700">
                <a:solidFill>
                  <a:schemeClr val="dk2"/>
                </a:solidFill>
              </a:defRPr>
            </a:lvl6pPr>
            <a:lvl7pPr marL="3200400" indent="-336550">
              <a:spcBef>
                <a:spcPts val="160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7pPr>
            <a:lvl8pPr marL="36576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8pPr>
            <a:lvl9pPr marL="4114800" indent="-336550">
              <a:spcBef>
                <a:spcPts val="1600"/>
              </a:spcBef>
              <a:spcAft>
                <a:spcPts val="1600"/>
              </a:spcAft>
              <a:buChar char="■"/>
              <a:defRPr sz="1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9">
            <a:extLst>
              <a:ext uri="{FF2B5EF4-FFF2-40B4-BE49-F238E27FC236}">
                <a16:creationId xmlns:a16="http://schemas.microsoft.com/office/drawing/2014/main" id="{99DD87AB-0BA6-457D-A690-C3F3F87FB9C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17702" y="1599625"/>
            <a:ext cx="3775200" cy="3222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1pPr>
            <a:lvl2pPr marL="9144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2pPr>
            <a:lvl3pPr marL="1371600" indent="-336550">
              <a:spcBef>
                <a:spcPts val="1600"/>
              </a:spcBef>
              <a:spcAft>
                <a:spcPts val="0"/>
              </a:spcAft>
              <a:buChar char="■"/>
              <a:defRPr sz="1700">
                <a:solidFill>
                  <a:schemeClr val="dk2"/>
                </a:solidFill>
              </a:defRPr>
            </a:lvl3pPr>
            <a:lvl4pPr marL="1828800" indent="-336550">
              <a:spcBef>
                <a:spcPts val="160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4pPr>
            <a:lvl5pPr marL="22860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5pPr>
            <a:lvl6pPr marL="2743200" indent="-336550">
              <a:spcBef>
                <a:spcPts val="1600"/>
              </a:spcBef>
              <a:spcAft>
                <a:spcPts val="0"/>
              </a:spcAft>
              <a:buChar char="■"/>
              <a:defRPr sz="1700">
                <a:solidFill>
                  <a:schemeClr val="dk2"/>
                </a:solidFill>
              </a:defRPr>
            </a:lvl6pPr>
            <a:lvl7pPr marL="3200400" indent="-336550">
              <a:spcBef>
                <a:spcPts val="160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7pPr>
            <a:lvl8pPr marL="36576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8pPr>
            <a:lvl9pPr marL="4114800" indent="-336550">
              <a:spcBef>
                <a:spcPts val="1600"/>
              </a:spcBef>
              <a:spcAft>
                <a:spcPts val="1600"/>
              </a:spcAft>
              <a:buChar char="■"/>
              <a:defRPr sz="1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9">
            <a:extLst>
              <a:ext uri="{FF2B5EF4-FFF2-40B4-BE49-F238E27FC236}">
                <a16:creationId xmlns:a16="http://schemas.microsoft.com/office/drawing/2014/main" id="{26164C0E-D8DA-4426-A307-6AF6167AC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275" y="445025"/>
            <a:ext cx="8014500" cy="9645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28E9CC0E-792D-44BD-AA31-F74722F4C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275" y="445025"/>
            <a:ext cx="8041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4E2D2399-3CE6-489E-9148-8807C6D2D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275" y="1572200"/>
            <a:ext cx="8041800" cy="3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indent="-3492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 sz="19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1pPr>
            <a:lvl2pPr marL="914400" indent="-34925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har char="○"/>
              <a:defRPr sz="19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2pPr>
            <a:lvl3pPr marL="1371600" indent="-34925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har char="■"/>
              <a:defRPr sz="19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3pPr>
            <a:lvl4pPr marL="1828800" indent="-34925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har char="●"/>
              <a:defRPr sz="19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4pPr>
            <a:lvl5pPr marL="2286000" indent="-34925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har char="○"/>
              <a:defRPr sz="19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5pPr>
            <a:lvl6pPr marL="2743200" indent="-34925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har char="■"/>
              <a:defRPr sz="19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6pPr>
            <a:lvl7pPr marL="3200400" indent="-34925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har char="●"/>
              <a:defRPr sz="19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7pPr>
            <a:lvl8pPr marL="3657600" indent="-34925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har char="○"/>
              <a:defRPr sz="19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8pPr>
            <a:lvl9pPr marL="4114800" indent="-349250">
              <a:lnSpc>
                <a:spcPct val="130000"/>
              </a:lnSpc>
              <a:spcBef>
                <a:spcPts val="1600"/>
              </a:spcBef>
              <a:spcAft>
                <a:spcPts val="1600"/>
              </a:spcAft>
              <a:buChar char="■"/>
              <a:defRPr sz="19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EF972AF5-9FB1-486B-88B0-D3270AC7675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r">
              <a:buNone/>
              <a:defRPr sz="10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1pPr>
            <a:lvl2pPr algn="r">
              <a:buNone/>
              <a:defRPr sz="10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2pPr>
            <a:lvl3pPr algn="r">
              <a:buNone/>
              <a:defRPr sz="10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3pPr>
            <a:lvl4pPr algn="r">
              <a:buNone/>
              <a:defRPr sz="10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4pPr>
            <a:lvl5pPr algn="r">
              <a:buNone/>
              <a:defRPr sz="10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5pPr>
            <a:lvl6pPr algn="r">
              <a:buNone/>
              <a:defRPr sz="10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6pPr>
            <a:lvl7pPr algn="r">
              <a:buNone/>
              <a:defRPr sz="10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7pPr>
            <a:lvl8pPr algn="r">
              <a:buNone/>
              <a:defRPr sz="10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8pPr>
            <a:lvl9pPr algn="r">
              <a:buNone/>
              <a:defRPr sz="10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>
            <a:extLst>
              <a:ext uri="{FF2B5EF4-FFF2-40B4-BE49-F238E27FC236}">
                <a16:creationId xmlns:a16="http://schemas.microsoft.com/office/drawing/2014/main" id="{4EEE43A3-D2A6-46E6-B83C-4FA044ADD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09600"/>
            <a:ext cx="7810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FCFDF2"/>
                </a:solidFill>
                <a:latin typeface="Montserrat ExtraBold"/>
                <a:ea typeface="Montserrat ExtraBold"/>
                <a:cs typeface="Montserrat ExtraBold"/>
              </a:rPr>
              <a:t>Multiple Regression Analysis of Longitudinal Tire Force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FCFDF2"/>
                </a:solidFill>
                <a:latin typeface="Montserrat ExtraBold"/>
                <a:ea typeface="Montserrat ExtraBold"/>
                <a:cs typeface="Montserrat ExtraBold"/>
              </a:rPr>
              <a:t>Using TTC Tire Data</a:t>
            </a:r>
          </a:p>
        </p:txBody>
      </p:sp>
      <p:sp>
        <p:nvSpPr>
          <p:cNvPr id="128" name="Google Shape;128;p30">
            <a:extLst>
              <a:ext uri="{FF2B5EF4-FFF2-40B4-BE49-F238E27FC236}">
                <a16:creationId xmlns:a16="http://schemas.microsoft.com/office/drawing/2014/main" id="{AAF1142A-E338-4756-A0B7-3801DC9AC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343150"/>
            <a:ext cx="781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C8C7BA"/>
                </a:solidFill>
                <a:latin typeface="Aptos"/>
                <a:ea typeface="Aptos"/>
                <a:cs typeface="Aptos"/>
              </a:rPr>
              <a:t>Fx main analysis with Fy comparison for Hoosier_18p0X6p0-10_R20_Rim6</a:t>
            </a:r>
          </a:p>
        </p:txBody>
      </p:sp>
      <p:sp>
        <p:nvSpPr>
          <p:cNvPr id="129" name="Google Shape;129;p30">
            <a:extLst>
              <a:ext uri="{FF2B5EF4-FFF2-40B4-BE49-F238E27FC236}">
                <a16:creationId xmlns:a16="http://schemas.microsoft.com/office/drawing/2014/main" id="{1B66DDC6-4199-423E-807F-2712DF6AA0B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4762500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675" b="0">
                <a:solidFill>
                  <a:srgbClr val="C8C7BA"/>
                </a:solidFill>
                <a:latin typeface="Work Sans"/>
                <a:ea typeface="Work Sans"/>
                <a:cs typeface="Work Sans"/>
              </a:rPr>
              <a:t>Data Analysis Special Lecture  /  Formula TMU  /  sota  /  2026-06-02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A9C2592E-60FC-4A76-9399-02CE7272F916}"/>
              </a:ext>
            </a:extLst>
          </p:cNvPr>
          <p:cNvSpPr>
            <a:spLocks noGrp="1"/>
          </p:cNvSpPr>
          <p:nvPr/>
        </p:nvSpPr>
        <p:spPr>
          <a:xfrm>
            <a:off x="457200" y="3200400"/>
            <a:ext cx="3429000" cy="838200"/>
          </a:xfrm>
          <a:prstGeom prst="rect">
            <a:avLst/>
          </a:prstGeom>
          <a:solidFill>
            <a:srgbClr val="232528"/>
          </a:solidFill>
          <a:ln w="9525">
            <a:solidFill>
              <a:srgbClr val="5D6CEC"/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Main target: Fx</a:t>
            </a:r>
          </a:p>
          <a:p>
            <a:pPr algn="l">
              <a:defRPr sz="1125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Comparison target: Fy</a:t>
            </a:r>
          </a:p>
          <a:p>
            <a:pPr algn="l">
              <a:defRPr sz="1125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Outliers removed by Mahalanobis distance</a:t>
            </a: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227B6CFA-67F3-41AF-9D3A-B4350B5EA456}"/>
              </a:ext>
            </a:extLst>
          </p:cNvPr>
          <p:cNvSpPr>
            <a:spLocks noGrp="1"/>
          </p:cNvSpPr>
          <p:nvPr/>
        </p:nvSpPr>
        <p:spPr>
          <a:xfrm>
            <a:off x="4095750" y="3200400"/>
            <a:ext cx="2647950" cy="838200"/>
          </a:xfrm>
          <a:prstGeom prst="rect">
            <a:avLst/>
          </a:prstGeom>
          <a:solidFill>
            <a:srgbClr val="232528"/>
          </a:solidFill>
          <a:ln w="9525">
            <a:solidFill>
              <a:srgbClr val="5D6CEC"/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Template: Azusa 3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Tone: English, research presentation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Extension: PINN in the second half</a:t>
            </a:r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33B5DAB7-3469-4014-938E-09AEC122143D}"/>
              </a:ext>
            </a:extLst>
          </p:cNvPr>
          <p:cNvSpPr>
            <a:spLocks noGrp="1"/>
          </p:cNvSpPr>
          <p:nvPr/>
        </p:nvSpPr>
        <p:spPr>
          <a:xfrm>
            <a:off x="7600950" y="3619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57150" anchor="ctr"/>
          <a:lstStyle/>
          <a:p>
            <a:pPr algn="r">
              <a:def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rPr>
              <a:t>01 / 11</a:t>
            </a:r>
          </a:p>
        </p:txBody>
      </p:sp>
    </p:spTree>
    <p:extLst>
      <p:ext uri="{BB962C8B-B14F-4D97-AF65-F5344CB8AC3E}">
        <p14:creationId xmlns:p14="http://schemas.microsoft.com/office/powerpoint/2010/main" val="1304457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>
            <a:extLst>
              <a:ext uri="{FF2B5EF4-FFF2-40B4-BE49-F238E27FC236}">
                <a16:creationId xmlns:a16="http://schemas.microsoft.com/office/drawing/2014/main" id="{4EEE43A3-D2A6-46E6-B83C-4FA044ADD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23850"/>
            <a:ext cx="704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CFDF2"/>
                </a:solidFill>
                <a:latin typeface="Montserrat ExtraBold"/>
                <a:ea typeface="Montserrat ExtraBold"/>
                <a:cs typeface="Montserrat ExtraBold"/>
              </a:rPr>
              <a:t>Can longitudinal tire force Fx be explained by a multivariate linear model?</a:t>
            </a:r>
          </a:p>
        </p:txBody>
      </p:sp>
      <p:sp>
        <p:nvSpPr>
          <p:cNvPr id="128" name="Google Shape;128;p30">
            <a:extLst>
              <a:ext uri="{FF2B5EF4-FFF2-40B4-BE49-F238E27FC236}">
                <a16:creationId xmlns:a16="http://schemas.microsoft.com/office/drawing/2014/main" id="{AAF1142A-E338-4756-A0B7-3801DC9AC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9906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0">
                <a:solidFill>
                  <a:srgbClr val="C8C7BA"/>
                </a:solidFill>
                <a:latin typeface="Aptos"/>
                <a:ea typeface="Aptos"/>
                <a:cs typeface="Aptos"/>
              </a:rPr>
              <a:t>Using TTC measurements, this report tests whether slip, load, camber, and temperature explain the main trends relevant to Formula SAE traction and braking.</a:t>
            </a:r>
          </a:p>
        </p:txBody>
      </p:sp>
      <p:sp>
        <p:nvSpPr>
          <p:cNvPr id="129" name="Google Shape;129;p30">
            <a:extLst>
              <a:ext uri="{FF2B5EF4-FFF2-40B4-BE49-F238E27FC236}">
                <a16:creationId xmlns:a16="http://schemas.microsoft.com/office/drawing/2014/main" id="{1B66DDC6-4199-423E-807F-2712DF6AA0B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48196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600" b="0">
                <a:solidFill>
                  <a:srgbClr val="C8C7BA"/>
                </a:solidFill>
                <a:latin typeface="Work Sans"/>
                <a:ea typeface="Work Sans"/>
                <a:cs typeface="Work Sans"/>
              </a:rPr>
              <a:t>Goal: build an interpretable Fx baseline, compare it with Fy, and clarify where a PINN becomes necessary.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CBE65C26-7D13-4A49-A14D-B06AF0F8FB16}"/>
              </a:ext>
            </a:extLst>
          </p:cNvPr>
          <p:cNvSpPr>
            <a:spLocks noGrp="1"/>
          </p:cNvSpPr>
          <p:nvPr/>
        </p:nvSpPr>
        <p:spPr>
          <a:xfrm>
            <a:off x="7600950" y="3619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57150" anchor="ctr"/>
          <a:lstStyle/>
          <a:p>
            <a:pPr algn="r">
              <a:def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rPr>
              <a:t>02 / 11</a:t>
            </a: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76BAF539-5AF6-4C91-8D59-73C3D3A6A9F0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1333500" cy="38100"/>
          </a:xfrm>
          <a:prstGeom prst="rect">
            <a:avLst/>
          </a:prstGeom>
          <a:solidFill>
            <a:srgbClr val="5AE08E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2FB68962-964C-4AC9-AD18-DA6E143B755B}"/>
              </a:ext>
            </a:extLst>
          </p:cNvPr>
          <p:cNvSpPr>
            <a:spLocks noGrp="1"/>
          </p:cNvSpPr>
          <p:nvPr/>
        </p:nvSpPr>
        <p:spPr>
          <a:xfrm>
            <a:off x="457200" y="1866900"/>
            <a:ext cx="3924300" cy="2381250"/>
          </a:xfrm>
          <a:prstGeom prst="rect">
            <a:avLst/>
          </a:prstGeom>
          <a:solidFill>
            <a:srgbClr val="232528"/>
          </a:solidFill>
          <a:ln w="9525">
            <a:solidFill>
              <a:srgbClr val="5D6C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23CA49FB-DF75-4257-B816-698E1785BA20}"/>
              </a:ext>
            </a:extLst>
          </p:cNvPr>
          <p:cNvSpPr>
            <a:spLocks noGrp="1"/>
          </p:cNvSpPr>
          <p:nvPr/>
        </p:nvSpPr>
        <p:spPr>
          <a:xfrm>
            <a:off x="4762500" y="1866900"/>
            <a:ext cx="3924300" cy="2381250"/>
          </a:xfrm>
          <a:prstGeom prst="rect">
            <a:avLst/>
          </a:prstGeom>
          <a:solidFill>
            <a:srgbClr val="2A2D31"/>
          </a:solidFill>
          <a:ln w="9525">
            <a:solidFill>
              <a:srgbClr val="5D6C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3FD7CD22-E7D5-44A7-B675-02F0189DA445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3619500" cy="2095500"/>
          </a:xfrm>
          <a:prstGeom prst="rect">
            <a:avLst/>
          </a:prstGeom>
          <a:solidFill>
            <a:srgbClr val="232528"/>
          </a:solidFill>
          <a:ln w="0">
            <a:noFill/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FCFDF2"/>
                </a:solidFill>
                <a:latin typeface="Aptos"/>
                <a:ea typeface="Aptos"/>
                <a:cs typeface="Aptos"/>
              </a:rPr>
              <a:t>Background</a:t>
            </a:r>
          </a:p>
          <a:p>
            <a:endParaRPr sz="1125" b="0" dirty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In Formula SAE, tire forces directly affect lap time.</a:t>
            </a:r>
          </a:p>
          <a:p>
            <a:pPr algn="l">
              <a:defRPr sz="1125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</a:t>
            </a:r>
            <a:r>
              <a:rPr sz="1125" b="0" dirty="0" err="1">
                <a:solidFill>
                  <a:srgbClr val="FCFDF2"/>
                </a:solidFill>
                <a:latin typeface="Aptos"/>
                <a:ea typeface="Aptos"/>
                <a:cs typeface="Aptos"/>
              </a:rPr>
              <a:t>Fx</a:t>
            </a:r>
            <a:r>
              <a:rPr sz="1125" b="0" dirty="0">
                <a:solidFill>
                  <a:srgbClr val="FCFDF2"/>
                </a:solidFill>
                <a:latin typeface="Aptos"/>
                <a:ea typeface="Aptos"/>
                <a:cs typeface="Aptos"/>
              </a:rPr>
              <a:t> directly governs acceleration, braking, and traction.</a:t>
            </a:r>
          </a:p>
          <a:p>
            <a:pPr algn="l">
              <a:defRPr sz="1125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TTC data provide measured forces together with load, slip, temperature, and camber.</a:t>
            </a: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F8AE7652-73E8-4CC8-A740-629C783FAFA5}"/>
              </a:ext>
            </a:extLst>
          </p:cNvPr>
          <p:cNvSpPr>
            <a:spLocks noGrp="1"/>
          </p:cNvSpPr>
          <p:nvPr/>
        </p:nvSpPr>
        <p:spPr>
          <a:xfrm>
            <a:off x="4914900" y="2000250"/>
            <a:ext cx="3619500" cy="2095500"/>
          </a:xfrm>
          <a:prstGeom prst="rect">
            <a:avLst/>
          </a:prstGeom>
          <a:solidFill>
            <a:srgbClr val="2A2D31"/>
          </a:solidFill>
          <a:ln w="0">
            <a:noFill/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FCFDF2"/>
                </a:solidFill>
                <a:latin typeface="Aptos"/>
                <a:ea typeface="Aptos"/>
                <a:cs typeface="Aptos"/>
              </a:rPr>
              <a:t>Questions and hypothesis</a:t>
            </a:r>
            <a:endParaRPr lang="en-US" sz="1050" b="0" dirty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br>
              <a:rPr lang="en-US" sz="1050" dirty="0">
                <a:solidFill>
                  <a:srgbClr val="FCFDF2"/>
                </a:solidFill>
                <a:latin typeface="Aptos"/>
                <a:ea typeface="Aptos"/>
                <a:cs typeface="Aptos"/>
              </a:rPr>
            </a:br>
            <a:r>
              <a:rPr lang="en-US" sz="1050" dirty="0">
                <a:solidFill>
                  <a:srgbClr val="FCFDF2"/>
                </a:solidFill>
                <a:latin typeface="Aptos"/>
                <a:ea typeface="Aptos"/>
                <a:cs typeface="Aptos"/>
              </a:rPr>
              <a:t>motivation: To create a full-scale beagle simulator, I want to predict continuous functions based on tire data obtained from point cloud data.</a:t>
            </a:r>
            <a:br>
              <a:rPr lang="en-US" sz="1050" dirty="0">
                <a:solidFill>
                  <a:srgbClr val="FCFDF2"/>
                </a:solidFill>
                <a:latin typeface="Aptos"/>
                <a:ea typeface="Aptos"/>
                <a:cs typeface="Aptos"/>
              </a:rPr>
            </a:br>
            <a:endParaRPr sz="1050" b="0" dirty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FCFDF2"/>
                </a:solidFill>
                <a:latin typeface="Aptos"/>
                <a:ea typeface="Aptos"/>
                <a:cs typeface="Aptos"/>
              </a:rPr>
              <a:t>1. How much of </a:t>
            </a:r>
            <a:r>
              <a:rPr sz="1050" b="0" dirty="0" err="1">
                <a:solidFill>
                  <a:srgbClr val="FCFDF2"/>
                </a:solidFill>
                <a:latin typeface="Aptos"/>
                <a:ea typeface="Aptos"/>
                <a:cs typeface="Aptos"/>
              </a:rPr>
              <a:t>Fx</a:t>
            </a:r>
            <a:r>
              <a:rPr sz="1050" b="0" dirty="0">
                <a:solidFill>
                  <a:srgbClr val="FCFDF2"/>
                </a:solidFill>
                <a:latin typeface="Aptos"/>
                <a:ea typeface="Aptos"/>
                <a:cs typeface="Aptos"/>
              </a:rPr>
              <a:t> can be explained by SR, Fz, IA, and TSTC?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FCFDF2"/>
                </a:solidFill>
                <a:latin typeface="Aptos"/>
                <a:ea typeface="Aptos"/>
                <a:cs typeface="Aptos"/>
              </a:rPr>
              <a:t>2. Compared with Fy, which factors are shared and which are dominant?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FCFDF2"/>
                </a:solidFill>
                <a:latin typeface="Aptos"/>
                <a:ea typeface="Aptos"/>
                <a:cs typeface="Aptos"/>
              </a:rPr>
              <a:t>3. Where does a linear baseline stop being sufficient?</a:t>
            </a:r>
          </a:p>
          <a:p>
            <a:endParaRPr sz="1050" b="0" dirty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FCFDF2"/>
                </a:solidFill>
                <a:latin typeface="Aptos"/>
                <a:ea typeface="Aptos"/>
                <a:cs typeface="Aptos"/>
              </a:rPr>
              <a:t>Hypothesis: </a:t>
            </a:r>
            <a:r>
              <a:rPr sz="1050" b="0" dirty="0" err="1">
                <a:solidFill>
                  <a:srgbClr val="FCFDF2"/>
                </a:solidFill>
                <a:latin typeface="Aptos"/>
                <a:ea typeface="Aptos"/>
                <a:cs typeface="Aptos"/>
              </a:rPr>
              <a:t>Fx</a:t>
            </a:r>
            <a:r>
              <a:rPr sz="1050" b="0" dirty="0">
                <a:solidFill>
                  <a:srgbClr val="FCFDF2"/>
                </a:solidFill>
                <a:latin typeface="Aptos"/>
                <a:ea typeface="Aptos"/>
                <a:cs typeface="Aptos"/>
              </a:rPr>
              <a:t> is governed mainly by SR and Fz, while IA and TSTC act as secondary factors.</a:t>
            </a:r>
          </a:p>
        </p:txBody>
      </p:sp>
    </p:spTree>
    <p:extLst>
      <p:ext uri="{BB962C8B-B14F-4D97-AF65-F5344CB8AC3E}">
        <p14:creationId xmlns:p14="http://schemas.microsoft.com/office/powerpoint/2010/main" val="1304457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>
            <a:extLst>
              <a:ext uri="{FF2B5EF4-FFF2-40B4-BE49-F238E27FC236}">
                <a16:creationId xmlns:a16="http://schemas.microsoft.com/office/drawing/2014/main" id="{4EEE43A3-D2A6-46E6-B83C-4FA044ADD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23850"/>
            <a:ext cx="7663343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 dirty="0">
                <a:solidFill>
                  <a:srgbClr val="FCFDF2"/>
                </a:solidFill>
                <a:latin typeface="Montserrat ExtraBold"/>
                <a:ea typeface="Montserrat ExtraBold"/>
                <a:cs typeface="Montserrat ExtraBold"/>
              </a:rPr>
              <a:t>The dataset is TTC Hoosier 18x6.0-10 R20 Rim6, which includes both drive/brake and cornering tests.</a:t>
            </a:r>
          </a:p>
        </p:txBody>
      </p:sp>
      <p:sp>
        <p:nvSpPr>
          <p:cNvPr id="128" name="Google Shape;128;p30">
            <a:extLst>
              <a:ext uri="{FF2B5EF4-FFF2-40B4-BE49-F238E27FC236}">
                <a16:creationId xmlns:a16="http://schemas.microsoft.com/office/drawing/2014/main" id="{AAF1142A-E338-4756-A0B7-3801DC9AC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9906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0">
                <a:solidFill>
                  <a:srgbClr val="C8C7BA"/>
                </a:solidFill>
                <a:latin typeface="Aptos"/>
                <a:ea typeface="Aptos"/>
                <a:cs typeface="Aptos"/>
              </a:rPr>
              <a:t>The same tire can therefore be used for both Fx and Fy, and the variables connect directly to the existing tire_pinn pipeline.</a:t>
            </a:r>
          </a:p>
        </p:txBody>
      </p:sp>
      <p:sp>
        <p:nvSpPr>
          <p:cNvPr id="129" name="Google Shape;129;p30">
            <a:extLst>
              <a:ext uri="{FF2B5EF4-FFF2-40B4-BE49-F238E27FC236}">
                <a16:creationId xmlns:a16="http://schemas.microsoft.com/office/drawing/2014/main" id="{1B66DDC6-4199-423E-807F-2712DF6AA0B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48196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600" b="0">
                <a:solidFill>
                  <a:srgbClr val="C8C7BA"/>
                </a:solidFill>
                <a:latin typeface="Work Sans"/>
                <a:ea typeface="Work Sans"/>
                <a:cs typeface="Work Sans"/>
              </a:rPr>
              <a:t>Dataset: Hoosier_18p0X6p0-10_R20_Rim6  |  Source: Tire Testing Consortium (www.fsaettc.org)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6F1936B2-4126-48BB-BE93-3FDCA3527F5E}"/>
              </a:ext>
            </a:extLst>
          </p:cNvPr>
          <p:cNvSpPr>
            <a:spLocks noGrp="1"/>
          </p:cNvSpPr>
          <p:nvPr/>
        </p:nvSpPr>
        <p:spPr>
          <a:xfrm>
            <a:off x="7600950" y="3619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57150" anchor="ctr"/>
          <a:lstStyle/>
          <a:p>
            <a:pPr algn="r">
              <a:def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rPr>
              <a:t>03 / 11</a:t>
            </a: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5FA955BD-2D51-4A72-934D-6B1AF4A5BB77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1333500" cy="38100"/>
          </a:xfrm>
          <a:prstGeom prst="rect">
            <a:avLst/>
          </a:prstGeom>
          <a:solidFill>
            <a:srgbClr val="5AE08E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3817C7BE-1C13-40F4-9519-2E717C36FCD9}"/>
              </a:ext>
            </a:extLst>
          </p:cNvPr>
          <p:cNvSpPr>
            <a:spLocks noGrp="1"/>
          </p:cNvSpPr>
          <p:nvPr/>
        </p:nvSpPr>
        <p:spPr>
          <a:xfrm>
            <a:off x="457200" y="1866900"/>
            <a:ext cx="1905000" cy="1104900"/>
          </a:xfrm>
          <a:prstGeom prst="rect">
            <a:avLst/>
          </a:prstGeom>
          <a:solidFill>
            <a:srgbClr val="232528"/>
          </a:solidFill>
          <a:ln w="9525">
            <a:solidFill>
              <a:srgbClr val="5D6C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9CD3413D-C3D1-4A58-8939-F273B659C93E}"/>
              </a:ext>
            </a:extLst>
          </p:cNvPr>
          <p:cNvSpPr>
            <a:spLocks noGrp="1"/>
          </p:cNvSpPr>
          <p:nvPr/>
        </p:nvSpPr>
        <p:spPr>
          <a:xfrm>
            <a:off x="2495550" y="1866900"/>
            <a:ext cx="1905000" cy="1104900"/>
          </a:xfrm>
          <a:prstGeom prst="rect">
            <a:avLst/>
          </a:prstGeom>
          <a:solidFill>
            <a:srgbClr val="232528"/>
          </a:solidFill>
          <a:ln w="9525">
            <a:solidFill>
              <a:srgbClr val="5D6C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DC14695D-C297-4DB8-AC19-8A2F177BD938}"/>
              </a:ext>
            </a:extLst>
          </p:cNvPr>
          <p:cNvSpPr>
            <a:spLocks noGrp="1"/>
          </p:cNvSpPr>
          <p:nvPr/>
        </p:nvSpPr>
        <p:spPr>
          <a:xfrm>
            <a:off x="4533900" y="1866900"/>
            <a:ext cx="1905000" cy="1104900"/>
          </a:xfrm>
          <a:prstGeom prst="rect">
            <a:avLst/>
          </a:prstGeom>
          <a:solidFill>
            <a:srgbClr val="232528"/>
          </a:solidFill>
          <a:ln w="9525">
            <a:solidFill>
              <a:srgbClr val="5D6C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163821E3-5365-4BE3-B861-08C6FA5CFBFF}"/>
              </a:ext>
            </a:extLst>
          </p:cNvPr>
          <p:cNvSpPr>
            <a:spLocks noGrp="1"/>
          </p:cNvSpPr>
          <p:nvPr/>
        </p:nvSpPr>
        <p:spPr>
          <a:xfrm>
            <a:off x="590550" y="1962150"/>
            <a:ext cx="1638300" cy="895350"/>
          </a:xfrm>
          <a:prstGeom prst="rect">
            <a:avLst/>
          </a:prstGeom>
          <a:solidFill>
            <a:srgbClr val="232528"/>
          </a:solidFill>
          <a:ln w="0">
            <a:noFill/>
            <a:prstDash val="solid"/>
          </a:ln>
        </p:spPr>
        <p:txBody>
          <a:bodyPr lIns="76200" tIns="57150" rIns="76200" bIns="57150" anchor="ctr"/>
          <a:lstStyle/>
          <a:p>
            <a:pPr algn="l">
              <a:defRPr sz="1500" b="1">
                <a:solidFill>
                  <a:srgbClr val="FCFDF2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CFDF2"/>
                </a:solidFill>
                <a:latin typeface="Montserrat"/>
                <a:ea typeface="Montserrat"/>
                <a:cs typeface="Montserrat"/>
              </a:rPr>
              <a:t>Total samples</a:t>
            </a:r>
          </a:p>
          <a:p>
            <a:endParaRPr sz="1500" b="1">
              <a:solidFill>
                <a:srgbClr val="FCFDF2"/>
              </a:solidFill>
              <a:latin typeface="Montserrat"/>
              <a:ea typeface="Montserrat"/>
              <a:cs typeface="Montserrat"/>
            </a:endParaRPr>
          </a:p>
          <a:p>
            <a:pPr algn="l">
              <a:defRPr sz="1500" b="1">
                <a:solidFill>
                  <a:srgbClr val="FCFDF2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CFDF2"/>
                </a:solidFill>
                <a:latin typeface="Montserrat"/>
                <a:ea typeface="Montserrat"/>
                <a:cs typeface="Montserrat"/>
              </a:rPr>
              <a:t>329600</a:t>
            </a: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71B28963-3426-4AAC-A239-46A14C514F52}"/>
              </a:ext>
            </a:extLst>
          </p:cNvPr>
          <p:cNvSpPr>
            <a:spLocks noGrp="1"/>
          </p:cNvSpPr>
          <p:nvPr/>
        </p:nvSpPr>
        <p:spPr>
          <a:xfrm>
            <a:off x="2628900" y="1962150"/>
            <a:ext cx="1638300" cy="895350"/>
          </a:xfrm>
          <a:prstGeom prst="rect">
            <a:avLst/>
          </a:prstGeom>
          <a:solidFill>
            <a:srgbClr val="232528"/>
          </a:solidFill>
          <a:ln w="0">
            <a:noFill/>
            <a:prstDash val="solid"/>
          </a:ln>
        </p:spPr>
        <p:txBody>
          <a:bodyPr lIns="76200" tIns="57150" rIns="76200" bIns="57150" anchor="ctr"/>
          <a:lstStyle/>
          <a:p>
            <a:pPr algn="l">
              <a:defRPr sz="1500" b="1">
                <a:solidFill>
                  <a:srgbClr val="FCFDF2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CFDF2"/>
                </a:solidFill>
                <a:latin typeface="Montserrat"/>
                <a:ea typeface="Montserrat"/>
                <a:cs typeface="Montserrat"/>
              </a:rPr>
              <a:t>DriveBrake</a:t>
            </a:r>
          </a:p>
          <a:p>
            <a:endParaRPr sz="1500" b="1">
              <a:solidFill>
                <a:srgbClr val="FCFDF2"/>
              </a:solidFill>
              <a:latin typeface="Montserrat"/>
              <a:ea typeface="Montserrat"/>
              <a:cs typeface="Montserrat"/>
            </a:endParaRPr>
          </a:p>
          <a:p>
            <a:pPr algn="l">
              <a:defRPr sz="1500" b="1">
                <a:solidFill>
                  <a:srgbClr val="FCFDF2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CFDF2"/>
                </a:solidFill>
                <a:latin typeface="Montserrat"/>
                <a:ea typeface="Montserrat"/>
                <a:cs typeface="Montserrat"/>
              </a:rPr>
              <a:t>162647</a:t>
            </a: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22185C61-F12B-4844-BDC8-607B9BFC47A3}"/>
              </a:ext>
            </a:extLst>
          </p:cNvPr>
          <p:cNvSpPr>
            <a:spLocks noGrp="1"/>
          </p:cNvSpPr>
          <p:nvPr/>
        </p:nvSpPr>
        <p:spPr>
          <a:xfrm>
            <a:off x="4667250" y="1962150"/>
            <a:ext cx="1638300" cy="895350"/>
          </a:xfrm>
          <a:prstGeom prst="rect">
            <a:avLst/>
          </a:prstGeom>
          <a:solidFill>
            <a:srgbClr val="232528"/>
          </a:solidFill>
          <a:ln w="0">
            <a:noFill/>
            <a:prstDash val="solid"/>
          </a:ln>
        </p:spPr>
        <p:txBody>
          <a:bodyPr lIns="76200" tIns="57150" rIns="76200" bIns="57150" anchor="ctr"/>
          <a:lstStyle/>
          <a:p>
            <a:pPr algn="l">
              <a:defRPr sz="1500" b="1">
                <a:solidFill>
                  <a:srgbClr val="FCFDF2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CFDF2"/>
                </a:solidFill>
                <a:latin typeface="Montserrat"/>
                <a:ea typeface="Montserrat"/>
                <a:cs typeface="Montserrat"/>
              </a:rPr>
              <a:t>Cornering</a:t>
            </a:r>
          </a:p>
          <a:p>
            <a:endParaRPr sz="1500" b="1">
              <a:solidFill>
                <a:srgbClr val="FCFDF2"/>
              </a:solidFill>
              <a:latin typeface="Montserrat"/>
              <a:ea typeface="Montserrat"/>
              <a:cs typeface="Montserrat"/>
            </a:endParaRPr>
          </a:p>
          <a:p>
            <a:pPr algn="l">
              <a:defRPr sz="1500" b="1">
                <a:solidFill>
                  <a:srgbClr val="FCFDF2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CFDF2"/>
                </a:solidFill>
                <a:latin typeface="Montserrat"/>
                <a:ea typeface="Montserrat"/>
                <a:cs typeface="Montserrat"/>
              </a:rPr>
              <a:t>166953</a:t>
            </a:r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41BFF8D2-7AEE-44C2-A9D4-B8DEBCAF2CD7}"/>
              </a:ext>
            </a:extLst>
          </p:cNvPr>
          <p:cNvSpPr>
            <a:spLocks noGrp="1"/>
          </p:cNvSpPr>
          <p:nvPr/>
        </p:nvSpPr>
        <p:spPr>
          <a:xfrm>
            <a:off x="6667500" y="1885950"/>
            <a:ext cx="2019300" cy="1259922"/>
          </a:xfrm>
          <a:prstGeom prst="rect">
            <a:avLst/>
          </a:prstGeom>
          <a:solidFill>
            <a:srgbClr val="2A2D31"/>
          </a:solidFill>
          <a:ln w="9525">
            <a:solidFill>
              <a:srgbClr val="5D6CEC"/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Why this tire?</a:t>
            </a:r>
          </a:p>
          <a:p>
            <a:endParaRPr sz="975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975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Same-tire comparison for Fx and Fy</a:t>
            </a:r>
          </a:p>
          <a:p>
            <a:pPr algn="l">
              <a:defRPr sz="975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Both DriveBrake and Cornering are available</a:t>
            </a:r>
          </a:p>
          <a:p>
            <a:pPr algn="l">
              <a:defRPr sz="975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Directly compatible with the existing PINN workflow</a:t>
            </a:r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12EFA405-757B-441D-B057-4FF63661ABB0}"/>
              </a:ext>
            </a:extLst>
          </p:cNvPr>
          <p:cNvSpPr>
            <a:spLocks noGrp="1"/>
          </p:cNvSpPr>
          <p:nvPr/>
        </p:nvSpPr>
        <p:spPr>
          <a:xfrm>
            <a:off x="552450" y="3219450"/>
            <a:ext cx="8077200" cy="1104900"/>
          </a:xfrm>
          <a:prstGeom prst="rect">
            <a:avLst/>
          </a:prstGeom>
          <a:solidFill>
            <a:srgbClr val="232528"/>
          </a:solidFill>
          <a:ln w="9525">
            <a:solidFill>
              <a:srgbClr val="5D6CEC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350" b="0">
                <a:solidFill>
                  <a:srgbClr val="FCFDF2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CFDF2"/>
                </a:solidFill>
                <a:latin typeface="Montserrat"/>
                <a:ea typeface="Montserrat"/>
                <a:cs typeface="Montserrat"/>
              </a:rPr>
              <a:t>Inputs      SR   /   SA   /   Fz   /   IA   /   TSTC</a:t>
            </a:r>
          </a:p>
          <a:p>
            <a:endParaRPr sz="1350" b="0">
              <a:solidFill>
                <a:srgbClr val="FCFDF2"/>
              </a:solidFill>
              <a:latin typeface="Montserrat"/>
              <a:ea typeface="Montserrat"/>
              <a:cs typeface="Montserrat"/>
            </a:endParaRPr>
          </a:p>
          <a:p>
            <a:pPr algn="ctr">
              <a:defRPr sz="1350" b="0">
                <a:solidFill>
                  <a:srgbClr val="FCFDF2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CFDF2"/>
                </a:solidFill>
                <a:latin typeface="Montserrat"/>
                <a:ea typeface="Montserrat"/>
                <a:cs typeface="Montserrat"/>
              </a:rPr>
              <a:t>Outputs     Fx   /   Fy   /   Mx   /   Mz</a:t>
            </a:r>
          </a:p>
          <a:p>
            <a:endParaRPr sz="1350" b="0">
              <a:solidFill>
                <a:srgbClr val="FCFDF2"/>
              </a:solidFill>
              <a:latin typeface="Montserrat"/>
              <a:ea typeface="Montserrat"/>
              <a:cs typeface="Montserrat"/>
            </a:endParaRPr>
          </a:p>
          <a:p>
            <a:pPr algn="ctr">
              <a:defRPr sz="1350" b="0">
                <a:solidFill>
                  <a:srgbClr val="FCFDF2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CFDF2"/>
                </a:solidFill>
                <a:latin typeface="Montserrat"/>
                <a:ea typeface="Montserrat"/>
                <a:cs typeface="Montserrat"/>
              </a:rPr>
              <a:t>Fx: longitudinal force   |   Fy: lateral force</a:t>
            </a:r>
          </a:p>
        </p:txBody>
      </p:sp>
    </p:spTree>
    <p:extLst>
      <p:ext uri="{BB962C8B-B14F-4D97-AF65-F5344CB8AC3E}">
        <p14:creationId xmlns:p14="http://schemas.microsoft.com/office/powerpoint/2010/main" val="1304457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>
            <a:extLst>
              <a:ext uri="{FF2B5EF4-FFF2-40B4-BE49-F238E27FC236}">
                <a16:creationId xmlns:a16="http://schemas.microsoft.com/office/drawing/2014/main" id="{4EEE43A3-D2A6-46E6-B83C-4FA044ADD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23850"/>
            <a:ext cx="785629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 dirty="0">
                <a:solidFill>
                  <a:srgbClr val="FCFDF2"/>
                </a:solidFill>
                <a:latin typeface="Montserrat ExtraBold"/>
                <a:ea typeface="Montserrat ExtraBold"/>
                <a:cs typeface="Montserrat ExtraBold"/>
              </a:rPr>
              <a:t>The main analysis extracts near-pure longitudinal </a:t>
            </a:r>
            <a:r>
              <a:rPr sz="2100" b="1" dirty="0" err="1">
                <a:solidFill>
                  <a:srgbClr val="FCFDF2"/>
                </a:solidFill>
                <a:latin typeface="Montserrat ExtraBold"/>
                <a:ea typeface="Montserrat ExtraBold"/>
                <a:cs typeface="Montserrat ExtraBold"/>
              </a:rPr>
              <a:t>DriveBrake</a:t>
            </a:r>
            <a:r>
              <a:rPr sz="2100" b="1" dirty="0">
                <a:solidFill>
                  <a:srgbClr val="FCFDF2"/>
                </a:solidFill>
                <a:latin typeface="Montserrat ExtraBold"/>
                <a:ea typeface="Montserrat ExtraBold"/>
                <a:cs typeface="Montserrat ExtraBold"/>
              </a:rPr>
              <a:t> data and explains </a:t>
            </a:r>
            <a:r>
              <a:rPr sz="2100" b="1" dirty="0" err="1">
                <a:solidFill>
                  <a:srgbClr val="FCFDF2"/>
                </a:solidFill>
                <a:latin typeface="Montserrat ExtraBold"/>
                <a:ea typeface="Montserrat ExtraBold"/>
                <a:cs typeface="Montserrat ExtraBold"/>
              </a:rPr>
              <a:t>Fx</a:t>
            </a:r>
            <a:r>
              <a:rPr sz="2100" b="1" dirty="0">
                <a:solidFill>
                  <a:srgbClr val="FCFDF2"/>
                </a:solidFill>
                <a:latin typeface="Montserrat ExtraBold"/>
                <a:ea typeface="Montserrat ExtraBold"/>
                <a:cs typeface="Montserrat ExtraBold"/>
              </a:rPr>
              <a:t> with four variables.</a:t>
            </a:r>
          </a:p>
        </p:txBody>
      </p:sp>
      <p:sp>
        <p:nvSpPr>
          <p:cNvPr id="128" name="Google Shape;128;p30">
            <a:extLst>
              <a:ext uri="{FF2B5EF4-FFF2-40B4-BE49-F238E27FC236}">
                <a16:creationId xmlns:a16="http://schemas.microsoft.com/office/drawing/2014/main" id="{AAF1142A-E338-4756-A0B7-3801DC9AC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9906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0">
                <a:solidFill>
                  <a:srgbClr val="C8C7BA"/>
                </a:solidFill>
                <a:latin typeface="Aptos"/>
                <a:ea typeface="Aptos"/>
                <a:cs typeface="Aptos"/>
              </a:rPr>
              <a:t>The same OLS pipeline is also applied to Fy so that the dominant factors for longitudinal and lateral force can be compared.</a:t>
            </a:r>
          </a:p>
        </p:txBody>
      </p:sp>
      <p:sp>
        <p:nvSpPr>
          <p:cNvPr id="129" name="Google Shape;129;p30">
            <a:extLst>
              <a:ext uri="{FF2B5EF4-FFF2-40B4-BE49-F238E27FC236}">
                <a16:creationId xmlns:a16="http://schemas.microsoft.com/office/drawing/2014/main" id="{1B66DDC6-4199-423E-807F-2712DF6AA0B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48196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600" b="0">
                <a:solidFill>
                  <a:srgbClr val="C8C7BA"/>
                </a:solidFill>
                <a:latin typeface="Work Sans"/>
                <a:ea typeface="Work Sans"/>
                <a:cs typeface="Work Sans"/>
              </a:rPr>
              <a:t>Pure longitudinal and pure cornering conditions are cut out separately and evaluated with the same regression workflow.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1F65109E-04BF-44CB-A5AC-6D025ACC2136}"/>
              </a:ext>
            </a:extLst>
          </p:cNvPr>
          <p:cNvSpPr>
            <a:spLocks noGrp="1"/>
          </p:cNvSpPr>
          <p:nvPr/>
        </p:nvSpPr>
        <p:spPr>
          <a:xfrm>
            <a:off x="7600950" y="3619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57150" anchor="ctr"/>
          <a:lstStyle/>
          <a:p>
            <a:pPr algn="r">
              <a:def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rPr>
              <a:t>04 / 11</a:t>
            </a: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285D4EDC-6E60-4FD0-897E-1EE4D6A4BA4B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1333500" cy="38100"/>
          </a:xfrm>
          <a:prstGeom prst="rect">
            <a:avLst/>
          </a:prstGeom>
          <a:solidFill>
            <a:srgbClr val="5AE08E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C44E0035-CA4C-4FAA-B301-8F3DF0DD235C}"/>
              </a:ext>
            </a:extLst>
          </p:cNvPr>
          <p:cNvSpPr>
            <a:spLocks noGrp="1"/>
          </p:cNvSpPr>
          <p:nvPr/>
        </p:nvSpPr>
        <p:spPr>
          <a:xfrm>
            <a:off x="457200" y="1866900"/>
            <a:ext cx="3924300" cy="2381250"/>
          </a:xfrm>
          <a:prstGeom prst="rect">
            <a:avLst/>
          </a:prstGeom>
          <a:solidFill>
            <a:srgbClr val="232528"/>
          </a:solidFill>
          <a:ln w="9525">
            <a:solidFill>
              <a:srgbClr val="5D6C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941E0B10-DE42-4B21-A3E8-E449701BEF14}"/>
              </a:ext>
            </a:extLst>
          </p:cNvPr>
          <p:cNvSpPr>
            <a:spLocks noGrp="1"/>
          </p:cNvSpPr>
          <p:nvPr/>
        </p:nvSpPr>
        <p:spPr>
          <a:xfrm>
            <a:off x="4762500" y="1866900"/>
            <a:ext cx="3924300" cy="2381250"/>
          </a:xfrm>
          <a:prstGeom prst="rect">
            <a:avLst/>
          </a:prstGeom>
          <a:solidFill>
            <a:srgbClr val="2A2D31"/>
          </a:solidFill>
          <a:ln w="9525">
            <a:solidFill>
              <a:srgbClr val="5D6C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329B227A-1458-4447-B025-B81C4E3B3534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3619500" cy="2095500"/>
          </a:xfrm>
          <a:prstGeom prst="rect">
            <a:avLst/>
          </a:prstGeom>
          <a:solidFill>
            <a:srgbClr val="232528"/>
          </a:solidFill>
          <a:ln w="0">
            <a:noFill/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Main analysis: Fx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Objective variable: Fx (longitudinal force)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Explanatory variables: SR, Fz, IA, TSTC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Filters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DriveBrake data only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|SA| &lt;= 1.0 deg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Fz &gt;= 300 N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- 35 &lt;= TSTC &lt;= 85 C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Samples after filtering: 41059</a:t>
            </a: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1A7CE868-DADB-41D2-BD52-070D310623DE}"/>
              </a:ext>
            </a:extLst>
          </p:cNvPr>
          <p:cNvSpPr>
            <a:spLocks noGrp="1"/>
          </p:cNvSpPr>
          <p:nvPr/>
        </p:nvSpPr>
        <p:spPr>
          <a:xfrm>
            <a:off x="4914900" y="2000250"/>
            <a:ext cx="3619500" cy="2095500"/>
          </a:xfrm>
          <a:prstGeom prst="rect">
            <a:avLst/>
          </a:prstGeom>
          <a:solidFill>
            <a:srgbClr val="2A2D31"/>
          </a:solidFill>
          <a:ln w="0">
            <a:noFill/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Comparison analysis: Fy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Objective variable: Fy (lateral force)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Explanatory variables: SA, Fz, IA, TSTC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Filters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Cornering data only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|SR| &lt;= 0.02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Fz &gt;= 300 N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- 35 &lt;= TSTC &lt;= 85 C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Samples after filtering: 17153</a:t>
            </a:r>
          </a:p>
        </p:txBody>
      </p:sp>
    </p:spTree>
    <p:extLst>
      <p:ext uri="{BB962C8B-B14F-4D97-AF65-F5344CB8AC3E}">
        <p14:creationId xmlns:p14="http://schemas.microsoft.com/office/powerpoint/2010/main" val="1304457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>
            <a:extLst>
              <a:ext uri="{FF2B5EF4-FFF2-40B4-BE49-F238E27FC236}">
                <a16:creationId xmlns:a16="http://schemas.microsoft.com/office/drawing/2014/main" id="{4EEE43A3-D2A6-46E6-B83C-4FA044ADD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23850"/>
            <a:ext cx="704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CFDF2"/>
                </a:solidFill>
                <a:latin typeface="Montserrat ExtraBold"/>
                <a:ea typeface="Montserrat ExtraBold"/>
                <a:cs typeface="Montserrat ExtraBold"/>
              </a:rPr>
              <a:t>No strong univariate outliers appeared; outliers emerged mainly as multivariate combinations.</a:t>
            </a:r>
          </a:p>
        </p:txBody>
      </p:sp>
      <p:sp>
        <p:nvSpPr>
          <p:cNvPr id="128" name="Google Shape;128;p30">
            <a:extLst>
              <a:ext uri="{FF2B5EF4-FFF2-40B4-BE49-F238E27FC236}">
                <a16:creationId xmlns:a16="http://schemas.microsoft.com/office/drawing/2014/main" id="{AAF1142A-E338-4756-A0B7-3801DC9AC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9906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0">
                <a:solidFill>
                  <a:srgbClr val="C8C7BA"/>
                </a:solidFill>
                <a:latin typeface="Aptos"/>
                <a:ea typeface="Aptos"/>
                <a:cs typeface="Aptos"/>
              </a:rPr>
              <a:t>Final regression uses samples after removing points above the 95% Mahalanobis threshold in explanatory-variable space.</a:t>
            </a:r>
          </a:p>
        </p:txBody>
      </p:sp>
      <p:sp>
        <p:nvSpPr>
          <p:cNvPr id="129" name="Google Shape;129;p30">
            <a:extLst>
              <a:ext uri="{FF2B5EF4-FFF2-40B4-BE49-F238E27FC236}">
                <a16:creationId xmlns:a16="http://schemas.microsoft.com/office/drawing/2014/main" id="{1B66DDC6-4199-423E-807F-2712DF6AA0B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48196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600" b="0">
                <a:solidFill>
                  <a:srgbClr val="C8C7BA"/>
                </a:solidFill>
                <a:latin typeface="Work Sans"/>
                <a:ea typeface="Work Sans"/>
                <a:cs typeface="Work Sans"/>
              </a:rPr>
              <a:t>Outlier rule: remove Mahalanobis distance &gt; chi-square(0.95, df=4)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AB24D792-D539-4F16-986E-A05B124F2BE7}"/>
              </a:ext>
            </a:extLst>
          </p:cNvPr>
          <p:cNvSpPr>
            <a:spLocks noGrp="1"/>
          </p:cNvSpPr>
          <p:nvPr/>
        </p:nvSpPr>
        <p:spPr>
          <a:xfrm>
            <a:off x="7600950" y="3619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57150" anchor="ctr"/>
          <a:lstStyle/>
          <a:p>
            <a:pPr algn="r">
              <a:def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rPr>
              <a:t>05 / 11</a:t>
            </a: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96ADCDE6-BEAB-4A69-B15D-BFD36CBEBB11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1333500" cy="38100"/>
          </a:xfrm>
          <a:prstGeom prst="rect">
            <a:avLst/>
          </a:prstGeom>
          <a:solidFill>
            <a:srgbClr val="5AE08E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9F3B6638-1630-4311-B85C-CB48F247134F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8229600" cy="438150"/>
          </a:xfrm>
          <a:prstGeom prst="rect">
            <a:avLst/>
          </a:prstGeom>
          <a:solidFill>
            <a:srgbClr val="232528"/>
          </a:solidFill>
          <a:ln w="9525">
            <a:solidFill>
              <a:srgbClr val="5D6CEC"/>
            </a:solidFill>
            <a:prstDash val="solid"/>
          </a:ln>
        </p:spPr>
        <p:txBody>
          <a:bodyPr lIns="76200" tIns="57150" rIns="76200" bIns="57150" anchor="ctr"/>
          <a:lstStyle/>
          <a:p>
            <a:pPr algn="l">
              <a:defRPr sz="1125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Univariate outliers: 0 cases for both Fx and Fy under the 1.96 SD and 1.5 IQR checks</a:t>
            </a: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E51AF458-696D-4711-B05B-C640C85D63F8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4000500" cy="1619250"/>
          </a:xfrm>
          <a:prstGeom prst="rect">
            <a:avLst/>
          </a:prstGeom>
          <a:solidFill>
            <a:srgbClr val="232528"/>
          </a:solidFill>
          <a:ln w="9525">
            <a:solidFill>
              <a:srgbClr val="5D6C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ACF7EA39-CB16-4B92-8AD3-C94D30B0BB57}"/>
              </a:ext>
            </a:extLst>
          </p:cNvPr>
          <p:cNvSpPr>
            <a:spLocks noGrp="1"/>
          </p:cNvSpPr>
          <p:nvPr/>
        </p:nvSpPr>
        <p:spPr>
          <a:xfrm>
            <a:off x="4686300" y="2514600"/>
            <a:ext cx="4000500" cy="1619250"/>
          </a:xfrm>
          <a:prstGeom prst="rect">
            <a:avLst/>
          </a:prstGeom>
          <a:solidFill>
            <a:srgbClr val="2A2D31"/>
          </a:solidFill>
          <a:ln w="9525">
            <a:solidFill>
              <a:srgbClr val="5D6C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D6560074-6C91-4474-8803-F73739457B4C}"/>
              </a:ext>
            </a:extLst>
          </p:cNvPr>
          <p:cNvSpPr>
            <a:spLocks noGrp="1"/>
          </p:cNvSpPr>
          <p:nvPr/>
        </p:nvSpPr>
        <p:spPr>
          <a:xfrm>
            <a:off x="590550" y="2647950"/>
            <a:ext cx="3733800" cy="1390650"/>
          </a:xfrm>
          <a:prstGeom prst="rect">
            <a:avLst/>
          </a:prstGeom>
          <a:solidFill>
            <a:srgbClr val="232528"/>
          </a:solidFill>
          <a:ln w="0">
            <a:noFill/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Fx main analysis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Samples after filtering: 41059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Mahalanobis outliers: 1269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Samples after removal: 39790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Takeaway: the dominant anomalies were multivariate, not univariate.</a:t>
            </a: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F44FDD59-BBB9-477E-92C3-77C26B8D7637}"/>
              </a:ext>
            </a:extLst>
          </p:cNvPr>
          <p:cNvSpPr>
            <a:spLocks noGrp="1"/>
          </p:cNvSpPr>
          <p:nvPr/>
        </p:nvSpPr>
        <p:spPr>
          <a:xfrm>
            <a:off x="4819650" y="2647950"/>
            <a:ext cx="3733800" cy="1390650"/>
          </a:xfrm>
          <a:prstGeom prst="rect">
            <a:avLst/>
          </a:prstGeom>
          <a:solidFill>
            <a:srgbClr val="2A2D31"/>
          </a:solidFill>
          <a:ln w="0">
            <a:noFill/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Fy comparison analysis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Samples after filtering: 17153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Mahalanobis outliers: 1214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Samples after removal: 15939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Following the lecture requirement, the final regression uses the cleaned dataset.</a:t>
            </a:r>
          </a:p>
        </p:txBody>
      </p:sp>
    </p:spTree>
    <p:extLst>
      <p:ext uri="{BB962C8B-B14F-4D97-AF65-F5344CB8AC3E}">
        <p14:creationId xmlns:p14="http://schemas.microsoft.com/office/powerpoint/2010/main" val="1304457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>
            <a:extLst>
              <a:ext uri="{FF2B5EF4-FFF2-40B4-BE49-F238E27FC236}">
                <a16:creationId xmlns:a16="http://schemas.microsoft.com/office/drawing/2014/main" id="{4EEE43A3-D2A6-46E6-B83C-4FA044ADD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23850"/>
            <a:ext cx="704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CFDF2"/>
                </a:solidFill>
                <a:latin typeface="Montserrat ExtraBold"/>
                <a:ea typeface="Montserrat ExtraBold"/>
                <a:cs typeface="Montserrat ExtraBold"/>
              </a:rPr>
              <a:t>In the Fx model, collinearity is weak and SR is the dominant explanatory variable.</a:t>
            </a:r>
          </a:p>
        </p:txBody>
      </p:sp>
      <p:sp>
        <p:nvSpPr>
          <p:cNvPr id="128" name="Google Shape;128;p30">
            <a:extLst>
              <a:ext uri="{FF2B5EF4-FFF2-40B4-BE49-F238E27FC236}">
                <a16:creationId xmlns:a16="http://schemas.microsoft.com/office/drawing/2014/main" id="{AAF1142A-E338-4756-A0B7-3801DC9AC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9906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0">
                <a:solidFill>
                  <a:srgbClr val="C8C7BA"/>
                </a:solidFill>
                <a:latin typeface="Aptos"/>
                <a:ea typeface="Aptos"/>
                <a:cs typeface="Aptos"/>
              </a:rPr>
              <a:t>All VIF values stay near 1, so coefficient instability from multicollinearity is limited under these filtered conditions.</a:t>
            </a:r>
          </a:p>
        </p:txBody>
      </p:sp>
      <p:sp>
        <p:nvSpPr>
          <p:cNvPr id="129" name="Google Shape;129;p30">
            <a:extLst>
              <a:ext uri="{FF2B5EF4-FFF2-40B4-BE49-F238E27FC236}">
                <a16:creationId xmlns:a16="http://schemas.microsoft.com/office/drawing/2014/main" id="{1B66DDC6-4199-423E-807F-2712DF6AA0B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48196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600" b="0">
                <a:solidFill>
                  <a:srgbClr val="C8C7BA"/>
                </a:solidFill>
                <a:latin typeface="Work Sans"/>
                <a:ea typeface="Work Sans"/>
                <a:cs typeface="Work Sans"/>
              </a:rPr>
              <a:t>Model: Fx = a0 + a1*SR + a2*Fz + a3*IA + a4*TSTC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F806C023-226E-40E1-9B97-BEB4EA5406FA}"/>
              </a:ext>
            </a:extLst>
          </p:cNvPr>
          <p:cNvSpPr>
            <a:spLocks noGrp="1"/>
          </p:cNvSpPr>
          <p:nvPr/>
        </p:nvSpPr>
        <p:spPr>
          <a:xfrm>
            <a:off x="7600950" y="3619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57150" anchor="ctr"/>
          <a:lstStyle/>
          <a:p>
            <a:pPr algn="r">
              <a:def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rPr>
              <a:t>06 / 11</a:t>
            </a: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E0EE2B6B-A289-4C01-9C3D-C3CAF9DBC711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1333500" cy="38100"/>
          </a:xfrm>
          <a:prstGeom prst="rect">
            <a:avLst/>
          </a:prstGeom>
          <a:solidFill>
            <a:srgbClr val="5AE08E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F8FD9ED9-C6B6-4CAD-B6E7-846C3CDB34D9}"/>
              </a:ext>
            </a:extLst>
          </p:cNvPr>
          <p:cNvSpPr>
            <a:spLocks noGrp="1"/>
          </p:cNvSpPr>
          <p:nvPr/>
        </p:nvSpPr>
        <p:spPr>
          <a:xfrm>
            <a:off x="457200" y="1866900"/>
            <a:ext cx="4000500" cy="2381250"/>
          </a:xfrm>
          <a:prstGeom prst="rect">
            <a:avLst/>
          </a:prstGeom>
          <a:solidFill>
            <a:srgbClr val="232528"/>
          </a:solidFill>
          <a:ln w="9525">
            <a:solidFill>
              <a:srgbClr val="5D6C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AE0999E1-3B88-4F0D-A655-01407925FD33}"/>
              </a:ext>
            </a:extLst>
          </p:cNvPr>
          <p:cNvSpPr>
            <a:spLocks noGrp="1"/>
          </p:cNvSpPr>
          <p:nvPr/>
        </p:nvSpPr>
        <p:spPr>
          <a:xfrm>
            <a:off x="4686300" y="1866900"/>
            <a:ext cx="4000500" cy="2381250"/>
          </a:xfrm>
          <a:prstGeom prst="rect">
            <a:avLst/>
          </a:prstGeom>
          <a:solidFill>
            <a:srgbClr val="2A2D31"/>
          </a:solidFill>
          <a:ln w="9525">
            <a:solidFill>
              <a:srgbClr val="5D6C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549C5788-E02D-441D-9B44-4568ADABF4F3}"/>
              </a:ext>
            </a:extLst>
          </p:cNvPr>
          <p:cNvSpPr>
            <a:spLocks noGrp="1"/>
          </p:cNvSpPr>
          <p:nvPr/>
        </p:nvSpPr>
        <p:spPr>
          <a:xfrm>
            <a:off x="590550" y="1981200"/>
            <a:ext cx="3733800" cy="2133600"/>
          </a:xfrm>
          <a:prstGeom prst="rect">
            <a:avLst/>
          </a:prstGeom>
          <a:solidFill>
            <a:srgbClr val="232528"/>
          </a:solidFill>
          <a:ln w="0">
            <a:noFill/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FCFDF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938" b="0">
                <a:solidFill>
                  <a:srgbClr val="FCFDF2"/>
                </a:solidFill>
                <a:latin typeface="Source Code Pro"/>
                <a:ea typeface="Source Code Pro"/>
                <a:cs typeface="Source Code Pro"/>
              </a:rPr>
              <a:t>Coef., standardized beta, t-value, p-value</a:t>
            </a:r>
          </a:p>
          <a:p>
            <a:endParaRPr sz="938" b="0">
              <a:solidFill>
                <a:srgbClr val="FCFDF2"/>
              </a:solidFill>
              <a:latin typeface="Source Code Pro"/>
              <a:ea typeface="Source Code Pro"/>
              <a:cs typeface="Source Code Pro"/>
            </a:endParaRPr>
          </a:p>
          <a:p>
            <a:pPr algn="l">
              <a:defRPr sz="938" b="0">
                <a:solidFill>
                  <a:srgbClr val="FCFDF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938" b="0">
                <a:solidFill>
                  <a:srgbClr val="FCFDF2"/>
                </a:solidFill>
                <a:latin typeface="Source Code Pro"/>
                <a:ea typeface="Source Code Pro"/>
                <a:cs typeface="Source Code Pro"/>
              </a:rPr>
              <a:t>Variable    Coef.      Beta     t        p</a:t>
            </a:r>
          </a:p>
          <a:p>
            <a:pPr algn="l">
              <a:defRPr sz="938" b="0">
                <a:solidFill>
                  <a:srgbClr val="FCFDF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938" b="0">
                <a:solidFill>
                  <a:srgbClr val="FCFDF2"/>
                </a:solidFill>
                <a:latin typeface="Source Code Pro"/>
                <a:ea typeface="Source Code Pro"/>
                <a:cs typeface="Source Code Pro"/>
              </a:rPr>
              <a:t>Intercept  -1097.62      -     -21.52   &lt;1e-100</a:t>
            </a:r>
          </a:p>
          <a:p>
            <a:pPr algn="l">
              <a:defRPr sz="938" b="0">
                <a:solidFill>
                  <a:srgbClr val="FCFDF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938" b="0">
                <a:solidFill>
                  <a:srgbClr val="FCFDF2"/>
                </a:solidFill>
                <a:latin typeface="Source Code Pro"/>
                <a:ea typeface="Source Code Pro"/>
                <a:cs typeface="Source Code Pro"/>
              </a:rPr>
              <a:t>SR         16393.42   0.9494   537.54   &lt;1e-300</a:t>
            </a:r>
          </a:p>
          <a:p>
            <a:pPr algn="l">
              <a:defRPr sz="938" b="0">
                <a:solidFill>
                  <a:srgbClr val="FCFDF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938" b="0">
                <a:solidFill>
                  <a:srgbClr val="FCFDF2"/>
                </a:solidFill>
                <a:latin typeface="Source Code Pro"/>
                <a:ea typeface="Source Code Pro"/>
                <a:cs typeface="Source Code Pro"/>
              </a:rPr>
              <a:t>Fz             0.1937 0.0212    12.26   1.78e-34</a:t>
            </a:r>
          </a:p>
          <a:p>
            <a:pPr algn="l">
              <a:defRPr sz="938" b="0">
                <a:solidFill>
                  <a:srgbClr val="FCFDF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938" b="0">
                <a:solidFill>
                  <a:srgbClr val="FCFDF2"/>
                </a:solidFill>
                <a:latin typeface="Source Code Pro"/>
                <a:ea typeface="Source Code Pro"/>
                <a:cs typeface="Source Code Pro"/>
              </a:rPr>
              <a:t>IA            21.39   0.0195    11.09   1.50e-28</a:t>
            </a:r>
          </a:p>
          <a:p>
            <a:pPr algn="l">
              <a:defRPr sz="938" b="0">
                <a:solidFill>
                  <a:srgbClr val="FCFDF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938" b="0">
                <a:solidFill>
                  <a:srgbClr val="FCFDF2"/>
                </a:solidFill>
                <a:latin typeface="Source Code Pro"/>
                <a:ea typeface="Source Code Pro"/>
                <a:cs typeface="Source Code Pro"/>
              </a:rPr>
              <a:t>TSTC          21.76   0.0507    28.27   4.25e-174</a:t>
            </a:r>
          </a:p>
          <a:p>
            <a:endParaRPr sz="938" b="0">
              <a:solidFill>
                <a:srgbClr val="FCFDF2"/>
              </a:solidFill>
              <a:latin typeface="Source Code Pro"/>
              <a:ea typeface="Source Code Pro"/>
              <a:cs typeface="Source Code Pro"/>
            </a:endParaRPr>
          </a:p>
          <a:p>
            <a:pPr algn="l">
              <a:defRPr sz="938" b="0">
                <a:solidFill>
                  <a:srgbClr val="FCFDF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938" b="0">
                <a:solidFill>
                  <a:srgbClr val="FCFDF2"/>
                </a:solidFill>
                <a:latin typeface="Source Code Pro"/>
                <a:ea typeface="Source Code Pro"/>
                <a:cs typeface="Source Code Pro"/>
              </a:rPr>
              <a:t>R^2 = 0.8830</a:t>
            </a:r>
          </a:p>
          <a:p>
            <a:pPr algn="l">
              <a:defRPr sz="938" b="0">
                <a:solidFill>
                  <a:srgbClr val="FCFDF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938" b="0">
                <a:solidFill>
                  <a:srgbClr val="FCFDF2"/>
                </a:solidFill>
                <a:latin typeface="Source Code Pro"/>
                <a:ea typeface="Source Code Pro"/>
                <a:cs typeface="Source Code Pro"/>
              </a:rPr>
              <a:t>Adjusted R^2 = 0.8830</a:t>
            </a: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3F69F868-C179-4452-8A11-8535C5B809C6}"/>
              </a:ext>
            </a:extLst>
          </p:cNvPr>
          <p:cNvSpPr>
            <a:spLocks noGrp="1"/>
          </p:cNvSpPr>
          <p:nvPr/>
        </p:nvSpPr>
        <p:spPr>
          <a:xfrm>
            <a:off x="4819650" y="1981200"/>
            <a:ext cx="3733800" cy="2133600"/>
          </a:xfrm>
          <a:prstGeom prst="rect">
            <a:avLst/>
          </a:prstGeom>
          <a:solidFill>
            <a:srgbClr val="2A2D31"/>
          </a:solidFill>
          <a:ln w="0">
            <a:noFill/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VIF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SR    1.06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Fz    1.01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IA    1.05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TSTC  1.09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Interpretation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SR is the primary driver of Fx.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Fz, IA, and TSTC are also statistically significant.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Severe multicollinearity is not observed.</a:t>
            </a:r>
          </a:p>
        </p:txBody>
      </p:sp>
    </p:spTree>
    <p:extLst>
      <p:ext uri="{BB962C8B-B14F-4D97-AF65-F5344CB8AC3E}">
        <p14:creationId xmlns:p14="http://schemas.microsoft.com/office/powerpoint/2010/main" val="1304457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>
            <a:extLst>
              <a:ext uri="{FF2B5EF4-FFF2-40B4-BE49-F238E27FC236}">
                <a16:creationId xmlns:a16="http://schemas.microsoft.com/office/drawing/2014/main" id="{4EEE43A3-D2A6-46E6-B83C-4FA044ADD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23850"/>
            <a:ext cx="704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CFDF2"/>
                </a:solidFill>
                <a:latin typeface="Montserrat ExtraBold"/>
                <a:ea typeface="Montserrat ExtraBold"/>
                <a:cs typeface="Montserrat ExtraBold"/>
              </a:rPr>
              <a:t>The linear Fx model reaches R^2 = 0.883 and works as a strong baseline.</a:t>
            </a:r>
          </a:p>
        </p:txBody>
      </p:sp>
      <p:sp>
        <p:nvSpPr>
          <p:cNvPr id="128" name="Google Shape;128;p30">
            <a:extLst>
              <a:ext uri="{FF2B5EF4-FFF2-40B4-BE49-F238E27FC236}">
                <a16:creationId xmlns:a16="http://schemas.microsoft.com/office/drawing/2014/main" id="{AAF1142A-E338-4756-A0B7-3801DC9AC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9906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0">
                <a:solidFill>
                  <a:srgbClr val="C8C7BA"/>
                </a:solidFill>
                <a:latin typeface="Aptos"/>
                <a:ea typeface="Aptos"/>
                <a:cs typeface="Aptos"/>
              </a:rPr>
              <a:t>Observed-vs-predicted and residual views show high explanatory power, while also revealing the limit of a purely linear approximation.</a:t>
            </a:r>
          </a:p>
        </p:txBody>
      </p:sp>
      <p:sp>
        <p:nvSpPr>
          <p:cNvPr id="129" name="Google Shape;129;p30">
            <a:extLst>
              <a:ext uri="{FF2B5EF4-FFF2-40B4-BE49-F238E27FC236}">
                <a16:creationId xmlns:a16="http://schemas.microsoft.com/office/drawing/2014/main" id="{1B66DDC6-4199-423E-807F-2712DF6AA0B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48196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600" b="0">
                <a:solidFill>
                  <a:srgbClr val="C8C7BA"/>
                </a:solidFill>
                <a:latin typeface="Work Sans"/>
                <a:ea typeface="Work Sans"/>
                <a:cs typeface="Work Sans"/>
              </a:rPr>
              <a:t>Panels: observed vs predicted and residuals after outlier removal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064C5A7E-19B9-4E13-A3B4-C6C33E7AB9CF}"/>
              </a:ext>
            </a:extLst>
          </p:cNvPr>
          <p:cNvSpPr>
            <a:spLocks noGrp="1"/>
          </p:cNvSpPr>
          <p:nvPr/>
        </p:nvSpPr>
        <p:spPr>
          <a:xfrm>
            <a:off x="7600950" y="3619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57150" anchor="ctr"/>
          <a:lstStyle/>
          <a:p>
            <a:pPr algn="r">
              <a:def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rPr>
              <a:t>07 / 11</a:t>
            </a: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D0C2F14C-C154-47F0-9BF1-6FEDF7FCA57A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1333500" cy="38100"/>
          </a:xfrm>
          <a:prstGeom prst="rect">
            <a:avLst/>
          </a:prstGeom>
          <a:solidFill>
            <a:srgbClr val="5AE08E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2" name="図 1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973556"/>
            <a:ext cx="5334000" cy="2206037"/>
          </a:xfrm>
          <a:prstGeom prst="rect">
            <a:avLst/>
          </a:prstGeom>
        </p:spPr>
      </p:pic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FF247833-31FD-426C-8293-BE66A96D5031}"/>
              </a:ext>
            </a:extLst>
          </p:cNvPr>
          <p:cNvSpPr>
            <a:spLocks noGrp="1"/>
          </p:cNvSpPr>
          <p:nvPr/>
        </p:nvSpPr>
        <p:spPr>
          <a:xfrm>
            <a:off x="6038850" y="1885950"/>
            <a:ext cx="2647950" cy="2381250"/>
          </a:xfrm>
          <a:prstGeom prst="rect">
            <a:avLst/>
          </a:prstGeom>
          <a:solidFill>
            <a:srgbClr val="232528"/>
          </a:solidFill>
          <a:ln w="9525">
            <a:solidFill>
              <a:srgbClr val="5D6CEC"/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Key reading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Points gather close to the diagonal, so the linear baseline is strong.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Residuals stay near zero on average but widen in saturation regions.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Therefore, linear regression is a valid first step, not the final model.</a:t>
            </a:r>
          </a:p>
        </p:txBody>
      </p:sp>
    </p:spTree>
    <p:extLst>
      <p:ext uri="{BB962C8B-B14F-4D97-AF65-F5344CB8AC3E}">
        <p14:creationId xmlns:p14="http://schemas.microsoft.com/office/powerpoint/2010/main" val="1304457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>
            <a:extLst>
              <a:ext uri="{FF2B5EF4-FFF2-40B4-BE49-F238E27FC236}">
                <a16:creationId xmlns:a16="http://schemas.microsoft.com/office/drawing/2014/main" id="{4EEE43A3-D2A6-46E6-B83C-4FA044ADD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23850"/>
            <a:ext cx="704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CFDF2"/>
                </a:solidFill>
                <a:latin typeface="Montserrat ExtraBold"/>
                <a:ea typeface="Montserrat ExtraBold"/>
                <a:cs typeface="Montserrat ExtraBold"/>
              </a:rPr>
              <a:t>Comparing Fy shows that load, temperature, and camber matter for both longitudinal and lateral force.</a:t>
            </a:r>
          </a:p>
        </p:txBody>
      </p:sp>
      <p:sp>
        <p:nvSpPr>
          <p:cNvPr id="128" name="Google Shape;128;p30">
            <a:extLst>
              <a:ext uri="{FF2B5EF4-FFF2-40B4-BE49-F238E27FC236}">
                <a16:creationId xmlns:a16="http://schemas.microsoft.com/office/drawing/2014/main" id="{AAF1142A-E338-4756-A0B7-3801DC9AC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9906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0">
                <a:solidFill>
                  <a:srgbClr val="C8C7BA"/>
                </a:solidFill>
                <a:latin typeface="Aptos"/>
                <a:ea typeface="Aptos"/>
                <a:cs typeface="Aptos"/>
              </a:rPr>
              <a:t>Fx is driven mainly by SR and Fy by SA, but Fz, IA, and TSTC remain shared explanatory factors in both models.</a:t>
            </a:r>
          </a:p>
        </p:txBody>
      </p:sp>
      <p:sp>
        <p:nvSpPr>
          <p:cNvPr id="129" name="Google Shape;129;p30">
            <a:extLst>
              <a:ext uri="{FF2B5EF4-FFF2-40B4-BE49-F238E27FC236}">
                <a16:creationId xmlns:a16="http://schemas.microsoft.com/office/drawing/2014/main" id="{1B66DDC6-4199-423E-807F-2712DF6AA0B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48196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600" b="0">
                <a:solidFill>
                  <a:srgbClr val="C8C7BA"/>
                </a:solidFill>
                <a:latin typeface="Work Sans"/>
                <a:ea typeface="Work Sans"/>
                <a:cs typeface="Work Sans"/>
              </a:rPr>
              <a:t>Comparison: standardized coefficients and Fy regression summary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AB69A673-4B10-4BC8-AC9C-325A0508F95B}"/>
              </a:ext>
            </a:extLst>
          </p:cNvPr>
          <p:cNvSpPr>
            <a:spLocks noGrp="1"/>
          </p:cNvSpPr>
          <p:nvPr/>
        </p:nvSpPr>
        <p:spPr>
          <a:xfrm>
            <a:off x="7600950" y="3619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57150" anchor="ctr"/>
          <a:lstStyle/>
          <a:p>
            <a:pPr algn="r">
              <a:def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rPr>
              <a:t>08 / 11</a:t>
            </a: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E270CE94-F8F8-465E-A1B5-D8778D1E6036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1333500" cy="38100"/>
          </a:xfrm>
          <a:prstGeom prst="rect">
            <a:avLst/>
          </a:prstGeom>
          <a:solidFill>
            <a:srgbClr val="5AE08E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2" name="図 1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936733"/>
            <a:ext cx="4953000" cy="2260635"/>
          </a:xfrm>
          <a:prstGeom prst="rect">
            <a:avLst/>
          </a:prstGeom>
        </p:spPr>
      </p:pic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F57F014E-0A62-4229-873F-DB1E17B8E86D}"/>
              </a:ext>
            </a:extLst>
          </p:cNvPr>
          <p:cNvSpPr>
            <a:spLocks noGrp="1"/>
          </p:cNvSpPr>
          <p:nvPr/>
        </p:nvSpPr>
        <p:spPr>
          <a:xfrm>
            <a:off x="5619750" y="1885950"/>
            <a:ext cx="3067050" cy="2362200"/>
          </a:xfrm>
          <a:prstGeom prst="rect">
            <a:avLst/>
          </a:prstGeom>
          <a:solidFill>
            <a:srgbClr val="2A2D31"/>
          </a:solidFill>
          <a:ln w="9525">
            <a:solidFill>
              <a:srgbClr val="5D6CEC"/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Fy summary</a:t>
            </a:r>
          </a:p>
          <a:p>
            <a:endParaRPr sz="938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938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R^2 = 0.8937</a:t>
            </a:r>
          </a:p>
          <a:p>
            <a:pPr algn="l">
              <a:defRPr sz="938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Adjusted R^2 = 0.8937</a:t>
            </a:r>
          </a:p>
          <a:p>
            <a:endParaRPr sz="938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938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Std. beta / t-value</a:t>
            </a:r>
          </a:p>
          <a:p>
            <a:pPr algn="l">
              <a:defRPr sz="938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SA    -0.9274 / -349.42</a:t>
            </a:r>
          </a:p>
          <a:p>
            <a:pPr algn="l">
              <a:defRPr sz="938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Fz     0.0481 /   17.85</a:t>
            </a:r>
          </a:p>
          <a:p>
            <a:pPr algn="l">
              <a:defRPr sz="938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IA     0.0217 /    7.93</a:t>
            </a:r>
          </a:p>
          <a:p>
            <a:pPr algn="l">
              <a:defRPr sz="938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TSTC   0.0545 /   20.94</a:t>
            </a:r>
          </a:p>
          <a:p>
            <a:endParaRPr sz="938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938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Takeaway</a:t>
            </a:r>
          </a:p>
          <a:p>
            <a:pPr algn="l">
              <a:defRPr sz="938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Fx: SR-driven</a:t>
            </a:r>
          </a:p>
          <a:p>
            <a:pPr algn="l">
              <a:defRPr sz="938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Fy: SA-driven</a:t>
            </a:r>
          </a:p>
          <a:p>
            <a:pPr algn="l">
              <a:defRPr sz="938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Fz, IA, TSTC are shared factors</a:t>
            </a:r>
          </a:p>
        </p:txBody>
      </p:sp>
    </p:spTree>
    <p:extLst>
      <p:ext uri="{BB962C8B-B14F-4D97-AF65-F5344CB8AC3E}">
        <p14:creationId xmlns:p14="http://schemas.microsoft.com/office/powerpoint/2010/main" val="1304457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>
            <a:extLst>
              <a:ext uri="{FF2B5EF4-FFF2-40B4-BE49-F238E27FC236}">
                <a16:creationId xmlns:a16="http://schemas.microsoft.com/office/drawing/2014/main" id="{4EEE43A3-D2A6-46E6-B83C-4FA044ADD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23850"/>
            <a:ext cx="704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CFDF2"/>
                </a:solidFill>
                <a:latin typeface="Montserrat ExtraBold"/>
                <a:ea typeface="Montserrat ExtraBold"/>
                <a:cs typeface="Montserrat ExtraBold"/>
              </a:rPr>
              <a:t>Linear regression is a useful baseline, but it cannot capture the intrinsic nonlinearities of tire behavior.</a:t>
            </a:r>
          </a:p>
        </p:txBody>
      </p:sp>
      <p:sp>
        <p:nvSpPr>
          <p:cNvPr id="128" name="Google Shape;128;p30">
            <a:extLst>
              <a:ext uri="{FF2B5EF4-FFF2-40B4-BE49-F238E27FC236}">
                <a16:creationId xmlns:a16="http://schemas.microsoft.com/office/drawing/2014/main" id="{AAF1142A-E338-4756-A0B7-3801DC9AC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9906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0">
                <a:solidFill>
                  <a:srgbClr val="C8C7BA"/>
                </a:solidFill>
                <a:latin typeface="Aptos"/>
                <a:ea typeface="Aptos"/>
                <a:cs typeface="Aptos"/>
              </a:rPr>
              <a:t>The Fx-SR scatter by load level shows saturation, load-dependent slope changes, and combined-slip structure beyond a linear approximation.</a:t>
            </a:r>
          </a:p>
        </p:txBody>
      </p:sp>
      <p:sp>
        <p:nvSpPr>
          <p:cNvPr id="129" name="Google Shape;129;p30">
            <a:extLst>
              <a:ext uri="{FF2B5EF4-FFF2-40B4-BE49-F238E27FC236}">
                <a16:creationId xmlns:a16="http://schemas.microsoft.com/office/drawing/2014/main" id="{1B66DDC6-4199-423E-807F-2712DF6AA0B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48196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600" b="0">
                <a:solidFill>
                  <a:srgbClr val="C8C7BA"/>
                </a:solidFill>
                <a:latin typeface="Work Sans"/>
                <a:ea typeface="Work Sans"/>
                <a:cs typeface="Work Sans"/>
              </a:rPr>
              <a:t>Limits of the linear model: saturation, friction-circle effects, combined slip, temperature dependence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58E12318-581C-45C2-8D0B-CB67DD57E790}"/>
              </a:ext>
            </a:extLst>
          </p:cNvPr>
          <p:cNvSpPr>
            <a:spLocks noGrp="1"/>
          </p:cNvSpPr>
          <p:nvPr/>
        </p:nvSpPr>
        <p:spPr>
          <a:xfrm>
            <a:off x="7600950" y="3619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57150" anchor="ctr"/>
          <a:lstStyle/>
          <a:p>
            <a:pPr algn="r">
              <a:def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rPr>
              <a:t>09 / 11</a:t>
            </a: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016F8889-D8CE-41BD-A5E0-9BB1B503C76D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1333500" cy="38100"/>
          </a:xfrm>
          <a:prstGeom prst="rect">
            <a:avLst/>
          </a:prstGeom>
          <a:solidFill>
            <a:srgbClr val="5AE08E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2" name="図 1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1001" y="1885950"/>
            <a:ext cx="3685399" cy="2362200"/>
          </a:xfrm>
          <a:prstGeom prst="rect">
            <a:avLst/>
          </a:prstGeom>
        </p:spPr>
      </p:pic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6583681C-251D-45D7-8694-ACC9BFA2A199}"/>
              </a:ext>
            </a:extLst>
          </p:cNvPr>
          <p:cNvSpPr>
            <a:spLocks noGrp="1"/>
          </p:cNvSpPr>
          <p:nvPr/>
        </p:nvSpPr>
        <p:spPr>
          <a:xfrm>
            <a:off x="5619750" y="1885950"/>
            <a:ext cx="3067050" cy="2362200"/>
          </a:xfrm>
          <a:prstGeom prst="rect">
            <a:avLst/>
          </a:prstGeom>
          <a:solidFill>
            <a:srgbClr val="232528"/>
          </a:solidFill>
          <a:ln w="9525">
            <a:solidFill>
              <a:srgbClr val="5D6CEC"/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What linear regression misses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Saturation at high slip ratios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Load-dependent slope changes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Coupled limits between Fx and Fy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Nonlinear temperature effects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For that reason, the next step needs a nonlinear model with physical constraints.</a:t>
            </a:r>
          </a:p>
        </p:txBody>
      </p:sp>
    </p:spTree>
    <p:extLst>
      <p:ext uri="{BB962C8B-B14F-4D97-AF65-F5344CB8AC3E}">
        <p14:creationId xmlns:p14="http://schemas.microsoft.com/office/powerpoint/2010/main" val="1304457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>
            <a:extLst>
              <a:ext uri="{FF2B5EF4-FFF2-40B4-BE49-F238E27FC236}">
                <a16:creationId xmlns:a16="http://schemas.microsoft.com/office/drawing/2014/main" id="{4EEE43A3-D2A6-46E6-B83C-4FA044ADD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23850"/>
            <a:ext cx="704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CFDF2"/>
                </a:solidFill>
                <a:latin typeface="Montserrat ExtraBold"/>
                <a:ea typeface="Montserrat ExtraBold"/>
                <a:cs typeface="Montserrat ExtraBold"/>
              </a:rPr>
              <a:t>PINN extends the analysis to a nonlinear model with physical constraints.</a:t>
            </a:r>
          </a:p>
        </p:txBody>
      </p:sp>
      <p:sp>
        <p:nvSpPr>
          <p:cNvPr id="128" name="Google Shape;128;p30">
            <a:extLst>
              <a:ext uri="{FF2B5EF4-FFF2-40B4-BE49-F238E27FC236}">
                <a16:creationId xmlns:a16="http://schemas.microsoft.com/office/drawing/2014/main" id="{AAF1142A-E338-4756-A0B7-3801DC9AC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9906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0">
                <a:solidFill>
                  <a:srgbClr val="C8C7BA"/>
                </a:solidFill>
                <a:latin typeface="Aptos"/>
                <a:ea typeface="Aptos"/>
                <a:cs typeface="Aptos"/>
              </a:rPr>
              <a:t>The regression stage identifies influential variables and provides an interpretable baseline; PINN then handles saturation, load dependence, and combined-slip nonlinearities.</a:t>
            </a:r>
          </a:p>
        </p:txBody>
      </p:sp>
      <p:sp>
        <p:nvSpPr>
          <p:cNvPr id="129" name="Google Shape;129;p30">
            <a:extLst>
              <a:ext uri="{FF2B5EF4-FFF2-40B4-BE49-F238E27FC236}">
                <a16:creationId xmlns:a16="http://schemas.microsoft.com/office/drawing/2014/main" id="{1B66DDC6-4199-423E-807F-2712DF6AA0B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48196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600" b="0">
                <a:solidFill>
                  <a:srgbClr val="C8C7BA"/>
                </a:solidFill>
                <a:latin typeface="Work Sans"/>
                <a:ea typeface="Work Sans"/>
                <a:cs typeface="Work Sans"/>
              </a:rPr>
              <a:t>Figure: decoupled Db/Cr quicklook for Hoosier_18p0X6p0-10_LCO_C2000_Rim7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97C1C537-D0B0-45EA-8250-3F9B3BF98BB8}"/>
              </a:ext>
            </a:extLst>
          </p:cNvPr>
          <p:cNvSpPr>
            <a:spLocks noGrp="1"/>
          </p:cNvSpPr>
          <p:nvPr/>
        </p:nvSpPr>
        <p:spPr>
          <a:xfrm>
            <a:off x="7600950" y="3619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57150" anchor="ctr"/>
          <a:lstStyle/>
          <a:p>
            <a:pPr algn="r">
              <a:def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rPr>
              <a:t>10 / 11</a:t>
            </a: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A6BA4D6E-3004-4C2D-A31F-2775933856B4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1333500" cy="38100"/>
          </a:xfrm>
          <a:prstGeom prst="rect">
            <a:avLst/>
          </a:prstGeom>
          <a:solidFill>
            <a:srgbClr val="5AE08E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2" name="図 1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9581" y="1828800"/>
            <a:ext cx="3614738" cy="2628900"/>
          </a:xfrm>
          <a:prstGeom prst="rect">
            <a:avLst/>
          </a:prstGeom>
        </p:spPr>
      </p:pic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86DD5075-5040-427A-BC40-6BA1BF43364C}"/>
              </a:ext>
            </a:extLst>
          </p:cNvPr>
          <p:cNvSpPr>
            <a:spLocks noGrp="1"/>
          </p:cNvSpPr>
          <p:nvPr/>
        </p:nvSpPr>
        <p:spPr>
          <a:xfrm>
            <a:off x="4305300" y="1847850"/>
            <a:ext cx="4381500" cy="1200150"/>
          </a:xfrm>
          <a:prstGeom prst="rect">
            <a:avLst/>
          </a:prstGeom>
          <a:solidFill>
            <a:srgbClr val="2A2D31"/>
          </a:solidFill>
          <a:ln w="9525">
            <a:solidFill>
              <a:srgbClr val="5D6C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84384B1F-0527-44FA-A265-7E14B82E4B36}"/>
              </a:ext>
            </a:extLst>
          </p:cNvPr>
          <p:cNvSpPr>
            <a:spLocks noGrp="1"/>
          </p:cNvSpPr>
          <p:nvPr/>
        </p:nvSpPr>
        <p:spPr>
          <a:xfrm>
            <a:off x="4305300" y="3162300"/>
            <a:ext cx="4381500" cy="1295400"/>
          </a:xfrm>
          <a:prstGeom prst="rect">
            <a:avLst/>
          </a:prstGeom>
          <a:solidFill>
            <a:srgbClr val="232528"/>
          </a:solidFill>
          <a:ln w="9525">
            <a:solidFill>
              <a:srgbClr val="5D6C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A667E7C9-2B37-4814-AA76-BA1F9A78FCE1}"/>
              </a:ext>
            </a:extLst>
          </p:cNvPr>
          <p:cNvSpPr>
            <a:spLocks noGrp="1"/>
          </p:cNvSpPr>
          <p:nvPr/>
        </p:nvSpPr>
        <p:spPr>
          <a:xfrm>
            <a:off x="4457700" y="1981200"/>
            <a:ext cx="4076700" cy="933450"/>
          </a:xfrm>
          <a:prstGeom prst="rect">
            <a:avLst/>
          </a:prstGeom>
          <a:solidFill>
            <a:srgbClr val="2A2D31"/>
          </a:solidFill>
          <a:ln w="0">
            <a:noFill/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What the existing PINN quicklook shows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Fx slices: R^2 = 0.9921, RMSE = 97.6 N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Fy slices: R^2 = 0.9847, RMSE = 117.1 N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The model reproduces smooth load-dependent section shapes.</a:t>
            </a: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4EACD73B-63CA-47B1-AC15-A7E7C970E529}"/>
              </a:ext>
            </a:extLst>
          </p:cNvPr>
          <p:cNvSpPr>
            <a:spLocks noGrp="1"/>
          </p:cNvSpPr>
          <p:nvPr/>
        </p:nvSpPr>
        <p:spPr>
          <a:xfrm>
            <a:off x="4457700" y="3276600"/>
            <a:ext cx="4076700" cy="1066800"/>
          </a:xfrm>
          <a:prstGeom prst="rect">
            <a:avLst/>
          </a:prstGeom>
          <a:solidFill>
            <a:srgbClr val="232528"/>
          </a:solidFill>
          <a:ln w="0">
            <a:noFill/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Why it connects to this report</a:t>
            </a:r>
          </a:p>
          <a:p>
            <a:endParaRPr sz="938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938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Reuse SR, SA, Fz, IA, and TSTC.</a:t>
            </a:r>
          </a:p>
          <a:p>
            <a:pPr algn="l">
              <a:defRPr sz="938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PINN adds saturation and load dependence.</a:t>
            </a:r>
          </a:p>
          <a:p>
            <a:pPr algn="l">
              <a:defRPr sz="938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Rim6 is the regression case; Rim7 is the reference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304457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>
            <a:extLst>
              <a:ext uri="{FF2B5EF4-FFF2-40B4-BE49-F238E27FC236}">
                <a16:creationId xmlns:a16="http://schemas.microsoft.com/office/drawing/2014/main" id="{4EEE43A3-D2A6-46E6-B83C-4FA044ADD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23850"/>
            <a:ext cx="752073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 dirty="0">
                <a:solidFill>
                  <a:srgbClr val="FCFDF2"/>
                </a:solidFill>
                <a:latin typeface="Montserrat ExtraBold"/>
                <a:ea typeface="Montserrat ExtraBold"/>
                <a:cs typeface="Montserrat ExtraBold"/>
              </a:rPr>
              <a:t>The </a:t>
            </a:r>
            <a:r>
              <a:rPr sz="2100" b="1" dirty="0" err="1">
                <a:solidFill>
                  <a:srgbClr val="FCFDF2"/>
                </a:solidFill>
                <a:latin typeface="Montserrat ExtraBold"/>
                <a:ea typeface="Montserrat ExtraBold"/>
                <a:cs typeface="Montserrat ExtraBold"/>
              </a:rPr>
              <a:t>Fx</a:t>
            </a:r>
            <a:r>
              <a:rPr sz="2100" b="1" dirty="0">
                <a:solidFill>
                  <a:srgbClr val="FCFDF2"/>
                </a:solidFill>
                <a:latin typeface="Montserrat ExtraBold"/>
                <a:ea typeface="Montserrat ExtraBold"/>
                <a:cs typeface="Montserrat ExtraBold"/>
              </a:rPr>
              <a:t> main analysis and Fy comparison reveal the multivariate structure of tire forces in TTC data.</a:t>
            </a:r>
          </a:p>
        </p:txBody>
      </p:sp>
      <p:sp>
        <p:nvSpPr>
          <p:cNvPr id="128" name="Google Shape;128;p30">
            <a:extLst>
              <a:ext uri="{FF2B5EF4-FFF2-40B4-BE49-F238E27FC236}">
                <a16:creationId xmlns:a16="http://schemas.microsoft.com/office/drawing/2014/main" id="{AAF1142A-E338-4756-A0B7-3801DC9AC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9906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0">
                <a:solidFill>
                  <a:srgbClr val="C8C7BA"/>
                </a:solidFill>
                <a:latin typeface="Aptos"/>
                <a:ea typeface="Aptos"/>
                <a:cs typeface="Aptos"/>
              </a:rPr>
              <a:t>Multiple regression works as an interpretable first step, and PINN becomes a natural extension when nonlinear structure must be modeled explicitly.</a:t>
            </a:r>
          </a:p>
        </p:txBody>
      </p:sp>
      <p:sp>
        <p:nvSpPr>
          <p:cNvPr id="129" name="Google Shape;129;p30">
            <a:extLst>
              <a:ext uri="{FF2B5EF4-FFF2-40B4-BE49-F238E27FC236}">
                <a16:creationId xmlns:a16="http://schemas.microsoft.com/office/drawing/2014/main" id="{1B66DDC6-4199-423E-807F-2712DF6AA0B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48196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38100" tIns="19050" rIns="38100" bIns="1905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600" b="0">
                <a:solidFill>
                  <a:srgbClr val="C8C7BA"/>
                </a:solidFill>
                <a:latin typeface="Work Sans"/>
                <a:ea typeface="Work Sans"/>
                <a:cs typeface="Work Sans"/>
              </a:rPr>
              <a:t>Conclusion: regression and PINN are complementary stages rather than competing approaches.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043757E0-4294-497D-9C4D-F6DF939F89DA}"/>
              </a:ext>
            </a:extLst>
          </p:cNvPr>
          <p:cNvSpPr>
            <a:spLocks noGrp="1"/>
          </p:cNvSpPr>
          <p:nvPr/>
        </p:nvSpPr>
        <p:spPr>
          <a:xfrm>
            <a:off x="7600950" y="3619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57150" anchor="ctr"/>
          <a:lstStyle/>
          <a:p>
            <a:pPr algn="r">
              <a:def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C8C7BA"/>
                </a:solidFill>
                <a:latin typeface="Montserrat"/>
                <a:ea typeface="Montserrat"/>
                <a:cs typeface="Montserrat"/>
              </a:rPr>
              <a:t>11 / 11</a:t>
            </a: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5C53D6A0-3C1D-4E31-9439-819B3B045278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1333500" cy="38100"/>
          </a:xfrm>
          <a:prstGeom prst="rect">
            <a:avLst/>
          </a:prstGeom>
          <a:solidFill>
            <a:srgbClr val="5AE08E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6DA502B6-AB37-4EA1-89E4-14DBD1E09F76}"/>
              </a:ext>
            </a:extLst>
          </p:cNvPr>
          <p:cNvSpPr>
            <a:spLocks noGrp="1"/>
          </p:cNvSpPr>
          <p:nvPr/>
        </p:nvSpPr>
        <p:spPr>
          <a:xfrm>
            <a:off x="457200" y="1866900"/>
            <a:ext cx="4667250" cy="2381250"/>
          </a:xfrm>
          <a:prstGeom prst="rect">
            <a:avLst/>
          </a:prstGeom>
          <a:solidFill>
            <a:srgbClr val="232528"/>
          </a:solidFill>
          <a:ln w="9525">
            <a:solidFill>
              <a:srgbClr val="5D6C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01700A54-0C64-49BB-B186-8A974A9D8F77}"/>
              </a:ext>
            </a:extLst>
          </p:cNvPr>
          <p:cNvSpPr>
            <a:spLocks noGrp="1"/>
          </p:cNvSpPr>
          <p:nvPr/>
        </p:nvSpPr>
        <p:spPr>
          <a:xfrm>
            <a:off x="5391150" y="1866900"/>
            <a:ext cx="3295650" cy="2381250"/>
          </a:xfrm>
          <a:prstGeom prst="rect">
            <a:avLst/>
          </a:prstGeom>
          <a:solidFill>
            <a:srgbClr val="2A2D31"/>
          </a:solidFill>
          <a:ln w="9525">
            <a:solidFill>
              <a:srgbClr val="5D6C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BA80F6CA-8F25-4CCC-88D4-C8A65BF22473}"/>
              </a:ext>
            </a:extLst>
          </p:cNvPr>
          <p:cNvSpPr>
            <a:spLocks noGrp="1"/>
          </p:cNvSpPr>
          <p:nvPr/>
        </p:nvSpPr>
        <p:spPr>
          <a:xfrm>
            <a:off x="590550" y="2000250"/>
            <a:ext cx="4400550" cy="2114550"/>
          </a:xfrm>
          <a:prstGeom prst="rect">
            <a:avLst/>
          </a:prstGeom>
          <a:solidFill>
            <a:srgbClr val="232528"/>
          </a:solidFill>
          <a:ln w="0">
            <a:noFill/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Key findings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Fx is explained mainly by SR with R^2 = 0.8830.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Fy is explained mainly by SA with R^2 = 0.8937.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Fz, IA, and TSTC are significant in both models.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Collinearity is weak, and the relevant outliers are multivariate.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- Linear regression is interpretable and useful, but limited in saturation regions.</a:t>
            </a: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0796A686-CBA6-465F-BD88-BFEC99B7BB26}"/>
              </a:ext>
            </a:extLst>
          </p:cNvPr>
          <p:cNvSpPr>
            <a:spLocks noGrp="1"/>
          </p:cNvSpPr>
          <p:nvPr/>
        </p:nvSpPr>
        <p:spPr>
          <a:xfrm>
            <a:off x="5524500" y="2000250"/>
            <a:ext cx="3028950" cy="2114550"/>
          </a:xfrm>
          <a:prstGeom prst="rect">
            <a:avLst/>
          </a:prstGeom>
          <a:solidFill>
            <a:srgbClr val="2A2D31"/>
          </a:solidFill>
          <a:ln w="0">
            <a:noFill/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Next step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1. Add nonlinear interaction terms or piecewise models.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2. Extend the same variable set to a PINN.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3. Validate the model on combined-slip TTC sections.</a:t>
            </a:r>
          </a:p>
          <a:p>
            <a:endParaRPr sz="1050" b="0">
              <a:solidFill>
                <a:srgbClr val="FCFDF2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In one sentence:</a:t>
            </a:r>
          </a:p>
          <a:p>
            <a:pPr algn="l">
              <a:defRPr sz="1050" b="0">
                <a:solidFill>
                  <a:srgbClr val="FCFD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CFDF2"/>
                </a:solidFill>
                <a:latin typeface="Aptos"/>
                <a:ea typeface="Aptos"/>
                <a:cs typeface="Aptos"/>
              </a:rPr>
              <a:t>Multiple regression is a valid and interpretable first step for TTC tire-force modeling.</a:t>
            </a:r>
          </a:p>
        </p:txBody>
      </p:sp>
    </p:spTree>
    <p:extLst>
      <p:ext uri="{BB962C8B-B14F-4D97-AF65-F5344CB8AC3E}">
        <p14:creationId xmlns:p14="http://schemas.microsoft.com/office/powerpoint/2010/main" val="130445718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CFDF2"/>
      </a:dk1>
      <a:lt1>
        <a:srgbClr val="191A1C"/>
      </a:lt1>
      <a:dk2>
        <a:srgbClr val="393C41"/>
      </a:dk2>
      <a:lt2>
        <a:srgbClr val="EEEDDC"/>
      </a:lt2>
      <a:accent1>
        <a:srgbClr val="5AE08E"/>
      </a:accent1>
      <a:accent2>
        <a:srgbClr val="7ABBFF"/>
      </a:accent2>
      <a:accent3>
        <a:srgbClr val="FC68C5"/>
      </a:accent3>
      <a:accent4>
        <a:srgbClr val="19AF77"/>
      </a:accent4>
      <a:accent5>
        <a:srgbClr val="5D6CEC"/>
      </a:accent5>
      <a:accent6>
        <a:srgbClr val="F82C7B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Dark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Dark">
  <a:themeElements>
    <a:clrScheme name="Simple Dark">
      <a:dk1>
        <a:srgbClr val="FCFDF2"/>
      </a:dk1>
      <a:lt1>
        <a:srgbClr val="191A1C"/>
      </a:lt1>
      <a:dk2>
        <a:srgbClr val="393C41"/>
      </a:dk2>
      <a:lt2>
        <a:srgbClr val="EEEDDC"/>
      </a:lt2>
      <a:accent1>
        <a:srgbClr val="5AE08E"/>
      </a:accent1>
      <a:accent2>
        <a:srgbClr val="7ABBFF"/>
      </a:accent2>
      <a:accent3>
        <a:srgbClr val="FC68C5"/>
      </a:accent3>
      <a:accent4>
        <a:srgbClr val="19AF77"/>
      </a:accent4>
      <a:accent5>
        <a:srgbClr val="5D6CEC"/>
      </a:accent5>
      <a:accent6>
        <a:srgbClr val="F82C7B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Dark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1460</Words>
  <Application>Microsoft Macintosh PowerPoint</Application>
  <DocSecurity>0</DocSecurity>
  <PresentationFormat>画面に合わせる (16:9)</PresentationFormat>
  <Paragraphs>197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Aptos</vt:lpstr>
      <vt:lpstr>Arial</vt:lpstr>
      <vt:lpstr>Montserrat</vt:lpstr>
      <vt:lpstr>Montserrat ExtraBold</vt:lpstr>
      <vt:lpstr>Source Code Pro</vt:lpstr>
      <vt:lpstr>Work Sans</vt:lpstr>
      <vt:lpstr>Simple Dark</vt:lpstr>
      <vt:lpstr>Multiple Regression Analysis of Longitudinal Tire Force Using TTC Tire Data</vt:lpstr>
      <vt:lpstr>Can longitudinal tire force Fx be explained by a multivariate linear model?</vt:lpstr>
      <vt:lpstr>The dataset is TTC Hoosier 18x6.0-10 R20 Rim6, which includes both drive/brake and cornering tests.</vt:lpstr>
      <vt:lpstr>The main analysis extracts near-pure longitudinal DriveBrake data and explains Fx with four variables.</vt:lpstr>
      <vt:lpstr>No strong univariate outliers appeared; outliers emerged mainly as multivariate combinations.</vt:lpstr>
      <vt:lpstr>In the Fx model, collinearity is weak and SR is the dominant explanatory variable.</vt:lpstr>
      <vt:lpstr>The linear Fx model reaches R^2 = 0.883 and works as a strong baseline.</vt:lpstr>
      <vt:lpstr>Comparing Fy shows that load, temperature, and camber matter for both longitudinal and lateral force.</vt:lpstr>
      <vt:lpstr>Linear regression is a useful baseline, but it cannot capture the intrinsic nonlinearities of tire behavior.</vt:lpstr>
      <vt:lpstr>PINN extends the analysis to a nonlinear model with physical constraints.</vt:lpstr>
      <vt:lpstr>The Fx main analysis and Fy comparison reveal the multivariate structure of tire forces in TTC data.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皆川　草太</cp:lastModifiedBy>
  <cp:revision>1</cp:revision>
  <dcterms:created xsi:type="dcterms:W3CDTF">2026-06-02T05:38:11Z</dcterms:created>
  <dcterms:modified xsi:type="dcterms:W3CDTF">2026-06-04T06:02:32Z</dcterms:modified>
</cp:coreProperties>
</file>