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
  </p:notesMasterIdLst>
  <p:sldIdLst>
    <p:sldId id="285" r:id="rId2"/>
    <p:sldId id="287" r:id="rId3"/>
    <p:sldId id="293" r:id="rId4"/>
    <p:sldId id="289" r:id="rId5"/>
    <p:sldId id="290" r:id="rId6"/>
    <p:sldId id="29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 id="{EB0C38CE-F824-5E4A-B23C-87ECA49620C7}">
          <p14:sldIdLst>
            <p14:sldId id="285"/>
            <p14:sldId id="287"/>
            <p14:sldId id="293"/>
            <p14:sldId id="289"/>
            <p14:sldId id="290"/>
            <p14:sldId id="291"/>
          </p14:sldIdLst>
        </p14:section>
        <p14:section name="日本語" id="{7E8CFB1E-C4F0-1148-908E-F4801D9547F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FFFFFF"/>
    <a:srgbClr val="C1C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C9B91-B561-4166-AD25-6483392F9263}" v="17" dt="2026-04-30T06:16:14.0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3425" autoAdjust="0"/>
  </p:normalViewPr>
  <p:slideViewPr>
    <p:cSldViewPr snapToGrid="0">
      <p:cViewPr varScale="1">
        <p:scale>
          <a:sx n="112" d="100"/>
          <a:sy n="112" d="100"/>
        </p:scale>
        <p:origin x="64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40AB8-B2D8-4875-BFBD-64ED3DE7DD4A}" type="datetimeFigureOut">
              <a:rPr kumimoji="1" lang="ja-JP" altLang="en-US" smtClean="0"/>
              <a:t>2026/5/10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0B1F-E3FE-4F0F-B1E1-4E5B8CEC7A73}" type="slidenum">
              <a:rPr kumimoji="1" lang="ja-JP" altLang="en-US" smtClean="0"/>
              <a:t>‹#›</a:t>
            </a:fld>
            <a:endParaRPr kumimoji="1" lang="ja-JP" altLang="en-US"/>
          </a:p>
        </p:txBody>
      </p:sp>
    </p:spTree>
    <p:extLst>
      <p:ext uri="{BB962C8B-B14F-4D97-AF65-F5344CB8AC3E}">
        <p14:creationId xmlns:p14="http://schemas.microsoft.com/office/powerpoint/2010/main" val="14942047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1</a:t>
            </a:fld>
            <a:endParaRPr kumimoji="1" lang="ja-JP" altLang="en-US"/>
          </a:p>
        </p:txBody>
      </p:sp>
    </p:spTree>
    <p:extLst>
      <p:ext uri="{BB962C8B-B14F-4D97-AF65-F5344CB8AC3E}">
        <p14:creationId xmlns:p14="http://schemas.microsoft.com/office/powerpoint/2010/main" val="567503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2</a:t>
            </a:fld>
            <a:endParaRPr kumimoji="1" lang="ja-JP" altLang="en-US"/>
          </a:p>
        </p:txBody>
      </p:sp>
    </p:spTree>
    <p:extLst>
      <p:ext uri="{BB962C8B-B14F-4D97-AF65-F5344CB8AC3E}">
        <p14:creationId xmlns:p14="http://schemas.microsoft.com/office/powerpoint/2010/main" val="3361386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64AFA-FD28-0690-3020-E649856089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6C8DA8-2BE0-E85F-4D6C-072497561C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81BD29-D0F6-5B55-1002-79DDE22CA44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777AF6-5ABE-9714-E249-656D7CDC3DAE}"/>
              </a:ext>
            </a:extLst>
          </p:cNvPr>
          <p:cNvSpPr>
            <a:spLocks noGrp="1"/>
          </p:cNvSpPr>
          <p:nvPr>
            <p:ph type="sldNum" sz="quarter" idx="5"/>
          </p:nvPr>
        </p:nvSpPr>
        <p:spPr/>
        <p:txBody>
          <a:bodyPr/>
          <a:lstStyle/>
          <a:p>
            <a:fld id="{05F00B1F-E3FE-4F0F-B1E1-4E5B8CEC7A73}" type="slidenum">
              <a:rPr kumimoji="1" lang="ja-JP" altLang="en-US" smtClean="0"/>
              <a:t>3</a:t>
            </a:fld>
            <a:endParaRPr kumimoji="1" lang="ja-JP" altLang="en-US"/>
          </a:p>
        </p:txBody>
      </p:sp>
    </p:spTree>
    <p:extLst>
      <p:ext uri="{BB962C8B-B14F-4D97-AF65-F5344CB8AC3E}">
        <p14:creationId xmlns:p14="http://schemas.microsoft.com/office/powerpoint/2010/main" val="663847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40852-B087-B829-4D2C-68BB0C4BFC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B28595-85ED-46FF-DC2B-F16E2763532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0B80FE-4AC8-45BC-1944-A72D26F330D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ECF9C-9076-C62C-CA04-ED16BEB1B338}"/>
              </a:ext>
            </a:extLst>
          </p:cNvPr>
          <p:cNvSpPr>
            <a:spLocks noGrp="1"/>
          </p:cNvSpPr>
          <p:nvPr>
            <p:ph type="sldNum" sz="quarter" idx="5"/>
          </p:nvPr>
        </p:nvSpPr>
        <p:spPr/>
        <p:txBody>
          <a:bodyPr/>
          <a:lstStyle/>
          <a:p>
            <a:fld id="{05F00B1F-E3FE-4F0F-B1E1-4E5B8CEC7A73}" type="slidenum">
              <a:rPr kumimoji="1" lang="ja-JP" altLang="en-US" smtClean="0"/>
              <a:t>5</a:t>
            </a:fld>
            <a:endParaRPr kumimoji="1" lang="ja-JP" altLang="en-US"/>
          </a:p>
        </p:txBody>
      </p:sp>
    </p:spTree>
    <p:extLst>
      <p:ext uri="{BB962C8B-B14F-4D97-AF65-F5344CB8AC3E}">
        <p14:creationId xmlns:p14="http://schemas.microsoft.com/office/powerpoint/2010/main" val="3961875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6</a:t>
            </a:fld>
            <a:endParaRPr kumimoji="1" lang="ja-JP" altLang="en-US"/>
          </a:p>
        </p:txBody>
      </p:sp>
    </p:spTree>
    <p:extLst>
      <p:ext uri="{BB962C8B-B14F-4D97-AF65-F5344CB8AC3E}">
        <p14:creationId xmlns:p14="http://schemas.microsoft.com/office/powerpoint/2010/main" val="283071711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2" name="平行四辺形 11">
            <a:extLst>
              <a:ext uri="{FF2B5EF4-FFF2-40B4-BE49-F238E27FC236}">
                <a16:creationId xmlns:a16="http://schemas.microsoft.com/office/drawing/2014/main" id="{880DCD45-62DE-1242-2145-FEFE4D68530C}"/>
              </a:ext>
            </a:extLst>
          </p:cNvPr>
          <p:cNvSpPr/>
          <p:nvPr userDrawn="1"/>
        </p:nvSpPr>
        <p:spPr>
          <a:xfrm>
            <a:off x="-4410" y="-5758"/>
            <a:ext cx="6551514" cy="6863758"/>
          </a:xfrm>
          <a:custGeom>
            <a:avLst/>
            <a:gdLst>
              <a:gd name="csX0" fmla="*/ 0 w 8674100"/>
              <a:gd name="csY0" fmla="*/ 6831912 h 6831912"/>
              <a:gd name="csX1" fmla="*/ 2084826 w 8674100"/>
              <a:gd name="csY1" fmla="*/ 0 h 6831912"/>
              <a:gd name="csX2" fmla="*/ 8674100 w 8674100"/>
              <a:gd name="csY2" fmla="*/ 0 h 6831912"/>
              <a:gd name="csX3" fmla="*/ 6589274 w 8674100"/>
              <a:gd name="csY3" fmla="*/ 6831912 h 6831912"/>
              <a:gd name="csX4" fmla="*/ 0 w 8674100"/>
              <a:gd name="csY4" fmla="*/ 6831912 h 6831912"/>
              <a:gd name="csX0" fmla="*/ 0 w 8674100"/>
              <a:gd name="csY0" fmla="*/ 6831912 h 6831912"/>
              <a:gd name="csX1" fmla="*/ 54858 w 8674100"/>
              <a:gd name="csY1" fmla="*/ 36576 h 6831912"/>
              <a:gd name="csX2" fmla="*/ 8674100 w 8674100"/>
              <a:gd name="csY2" fmla="*/ 0 h 6831912"/>
              <a:gd name="csX3" fmla="*/ 6589274 w 8674100"/>
              <a:gd name="csY3" fmla="*/ 6831912 h 6831912"/>
              <a:gd name="csX4" fmla="*/ 0 w 8674100"/>
              <a:gd name="csY4" fmla="*/ 6831912 h 6831912"/>
              <a:gd name="csX0" fmla="*/ 4409 w 8678509"/>
              <a:gd name="csY0" fmla="*/ 6837669 h 6837669"/>
              <a:gd name="csX1" fmla="*/ 0 w 8678509"/>
              <a:gd name="csY1" fmla="*/ 0 h 6837669"/>
              <a:gd name="csX2" fmla="*/ 8678509 w 8678509"/>
              <a:gd name="csY2" fmla="*/ 5757 h 6837669"/>
              <a:gd name="csX3" fmla="*/ 6593683 w 8678509"/>
              <a:gd name="csY3" fmla="*/ 6837669 h 6837669"/>
              <a:gd name="csX4" fmla="*/ 4409 w 8678509"/>
              <a:gd name="csY4" fmla="*/ 6837669 h 6837669"/>
              <a:gd name="csX0" fmla="*/ 4409 w 6593683"/>
              <a:gd name="csY0" fmla="*/ 6844612 h 6844612"/>
              <a:gd name="csX1" fmla="*/ 0 w 6593683"/>
              <a:gd name="csY1" fmla="*/ 6943 h 6844612"/>
              <a:gd name="csX2" fmla="*/ 2239609 w 6593683"/>
              <a:gd name="csY2" fmla="*/ 0 h 6844612"/>
              <a:gd name="csX3" fmla="*/ 6593683 w 6593683"/>
              <a:gd name="csY3" fmla="*/ 6844612 h 6844612"/>
              <a:gd name="csX4" fmla="*/ 4409 w 6593683"/>
              <a:gd name="csY4" fmla="*/ 6844612 h 6844612"/>
              <a:gd name="csX0" fmla="*/ 4409 w 6593683"/>
              <a:gd name="csY0" fmla="*/ 6837669 h 6837669"/>
              <a:gd name="csX1" fmla="*/ 0 w 6593683"/>
              <a:gd name="csY1" fmla="*/ 0 h 6837669"/>
              <a:gd name="csX2" fmla="*/ 2531709 w 6593683"/>
              <a:gd name="csY2" fmla="*/ 5757 h 6837669"/>
              <a:gd name="csX3" fmla="*/ 6593683 w 6593683"/>
              <a:gd name="csY3" fmla="*/ 6837669 h 6837669"/>
              <a:gd name="csX4" fmla="*/ 4409 w 6593683"/>
              <a:gd name="csY4" fmla="*/ 6837669 h 6837669"/>
            </a:gdLst>
            <a:ahLst/>
            <a:cxnLst>
              <a:cxn ang="0">
                <a:pos x="csX0" y="csY0"/>
              </a:cxn>
              <a:cxn ang="0">
                <a:pos x="csX1" y="csY1"/>
              </a:cxn>
              <a:cxn ang="0">
                <a:pos x="csX2" y="csY2"/>
              </a:cxn>
              <a:cxn ang="0">
                <a:pos x="csX3" y="csY3"/>
              </a:cxn>
              <a:cxn ang="0">
                <a:pos x="csX4" y="csY4"/>
              </a:cxn>
            </a:cxnLst>
            <a:rect l="l" t="t" r="r" b="b"/>
            <a:pathLst>
              <a:path w="6593683" h="6837669">
                <a:moveTo>
                  <a:pt x="4409" y="6837669"/>
                </a:moveTo>
                <a:cubicBezTo>
                  <a:pt x="2939" y="4558446"/>
                  <a:pt x="1470" y="2279223"/>
                  <a:pt x="0" y="0"/>
                </a:cubicBezTo>
                <a:lnTo>
                  <a:pt x="2531709" y="5757"/>
                </a:lnTo>
                <a:lnTo>
                  <a:pt x="6593683" y="6837669"/>
                </a:lnTo>
                <a:lnTo>
                  <a:pt x="4409" y="6837669"/>
                </a:lnTo>
                <a:close/>
              </a:path>
            </a:pathLst>
          </a:custGeom>
          <a:gradFill flip="none" rotWithShape="1">
            <a:gsLst>
              <a:gs pos="0">
                <a:schemeClr val="bg2">
                  <a:lumMod val="75000"/>
                  <a:shade val="30000"/>
                  <a:satMod val="115000"/>
                </a:schemeClr>
              </a:gs>
              <a:gs pos="50000">
                <a:schemeClr val="bg2">
                  <a:lumMod val="75000"/>
                  <a:shade val="67500"/>
                  <a:satMod val="115000"/>
                </a:schemeClr>
              </a:gs>
              <a:gs pos="100000">
                <a:schemeClr val="bg2">
                  <a:lumMod val="75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BDF7A82D-79BF-364F-2C82-FDD9A2D93B90}"/>
              </a:ext>
            </a:extLst>
          </p:cNvPr>
          <p:cNvSpPr>
            <a:spLocks noGrp="1"/>
          </p:cNvSpPr>
          <p:nvPr>
            <p:ph type="dt" sz="half" idx="10"/>
          </p:nvPr>
        </p:nvSpPr>
        <p:spPr>
          <a:xfrm>
            <a:off x="1758342" y="6196874"/>
            <a:ext cx="2743200" cy="365125"/>
          </a:xfrm>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264D060-8133-4A46-91C4-B3F3520A110D}" type="datetimeFigureOut">
              <a:rPr lang="ja-JP" altLang="en-US" smtClean="0"/>
              <a:pPr/>
              <a:t>2026/5/10</a:t>
            </a:fld>
            <a:endParaRPr lang="ja-JP" altLang="en-US" dirty="0">
              <a:ln w="0"/>
              <a:solidFill>
                <a:schemeClr val="tx1"/>
              </a:solidFill>
              <a:effectLst>
                <a:outerShdw blurRad="38100" dist="19050" dir="2700000" algn="tl" rotWithShape="0">
                  <a:schemeClr val="dk1">
                    <a:alpha val="40000"/>
                  </a:schemeClr>
                </a:outerShdw>
              </a:effectLst>
            </a:endParaRPr>
          </a:p>
        </p:txBody>
      </p:sp>
      <p:sp>
        <p:nvSpPr>
          <p:cNvPr id="8" name="正方形/長方形 7">
            <a:extLst>
              <a:ext uri="{FF2B5EF4-FFF2-40B4-BE49-F238E27FC236}">
                <a16:creationId xmlns:a16="http://schemas.microsoft.com/office/drawing/2014/main" id="{DE48FD72-980E-F036-FFA4-BCAB48E1ACAD}"/>
              </a:ext>
            </a:extLst>
          </p:cNvPr>
          <p:cNvSpPr/>
          <p:nvPr userDrawn="1"/>
        </p:nvSpPr>
        <p:spPr>
          <a:xfrm>
            <a:off x="0" y="2048256"/>
            <a:ext cx="12191998" cy="2743169"/>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6">
            <a:extLst>
              <a:ext uri="{FF2B5EF4-FFF2-40B4-BE49-F238E27FC236}">
                <a16:creationId xmlns:a16="http://schemas.microsoft.com/office/drawing/2014/main" id="{6E0E0E2E-7307-34D8-F3CF-16A2F2ACC371}"/>
              </a:ext>
            </a:extLst>
          </p:cNvPr>
          <p:cNvSpPr>
            <a:spLocks noGrp="1"/>
          </p:cNvSpPr>
          <p:nvPr>
            <p:ph type="title"/>
          </p:nvPr>
        </p:nvSpPr>
        <p:spPr>
          <a:xfrm>
            <a:off x="2210054" y="2634058"/>
            <a:ext cx="8674100" cy="1589882"/>
          </a:xfrm>
        </p:spPr>
        <p:txBody>
          <a:bodyPr>
            <a:normAutofit/>
          </a:bodyPr>
          <a:lstStyle>
            <a:lvl1pPr algn="l">
              <a:defRPr sz="7200" u="none">
                <a:latin typeface="+mn-lt"/>
                <a:ea typeface="ＭＳ Ｐゴシック" panose="020B0600070205080204" pitchFamily="50" charset="-128"/>
              </a:defRPr>
            </a:lvl1pPr>
          </a:lstStyle>
          <a:p>
            <a:endParaRPr kumimoji="1" lang="ja-JP" altLang="en-US" dirty="0"/>
          </a:p>
        </p:txBody>
      </p:sp>
      <p:cxnSp>
        <p:nvCxnSpPr>
          <p:cNvPr id="2" name="直線コネクタ 1">
            <a:extLst>
              <a:ext uri="{FF2B5EF4-FFF2-40B4-BE49-F238E27FC236}">
                <a16:creationId xmlns:a16="http://schemas.microsoft.com/office/drawing/2014/main" id="{6E85D4F5-6112-EA53-504F-67F2AD0E7195}"/>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sp>
        <p:nvSpPr>
          <p:cNvPr id="14" name="正方形/長方形 13">
            <a:extLst>
              <a:ext uri="{FF2B5EF4-FFF2-40B4-BE49-F238E27FC236}">
                <a16:creationId xmlns:a16="http://schemas.microsoft.com/office/drawing/2014/main" id="{0B468095-D4AE-0978-A021-6BDDEC250032}"/>
              </a:ext>
            </a:extLst>
          </p:cNvPr>
          <p:cNvSpPr/>
          <p:nvPr userDrawn="1"/>
        </p:nvSpPr>
        <p:spPr>
          <a:xfrm>
            <a:off x="434648" y="0"/>
            <a:ext cx="1190947" cy="6858000"/>
          </a:xfrm>
          <a:prstGeom prst="rect">
            <a:avLst/>
          </a:prstGeom>
          <a:gradFill flip="none" rotWithShape="1">
            <a:gsLst>
              <a:gs pos="0">
                <a:srgbClr val="4E95D9">
                  <a:shade val="30000"/>
                  <a:satMod val="115000"/>
                </a:srgbClr>
              </a:gs>
              <a:gs pos="50000">
                <a:srgbClr val="4E95D9">
                  <a:shade val="67500"/>
                  <a:satMod val="115000"/>
                </a:srgbClr>
              </a:gs>
              <a:gs pos="100000">
                <a:srgbClr val="4E95D9">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38F5888E-CB54-C2D9-87BE-F37A84A7D6A4}"/>
              </a:ext>
            </a:extLst>
          </p:cNvPr>
          <p:cNvCxnSpPr>
            <a:cxnSpLocks/>
          </p:cNvCxnSpPr>
          <p:nvPr userDrawn="1"/>
        </p:nvCxnSpPr>
        <p:spPr>
          <a:xfrm flipV="1">
            <a:off x="567395" y="68262"/>
            <a:ext cx="0" cy="6721475"/>
          </a:xfrm>
          <a:prstGeom prst="line">
            <a:avLst/>
          </a:prstGeom>
          <a:ln w="38100">
            <a:solidFill>
              <a:schemeClr val="tx1">
                <a:lumMod val="65000"/>
                <a:lumOff val="35000"/>
              </a:schemeClr>
            </a:solidFill>
            <a:prstDash val="sysDash"/>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1526D9B5-B2EC-4A75-10D9-150236BDF234}"/>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98924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図 8" descr="テキスト&#10;&#10;AI 生成コンテンツは誤りを含む可能性があります。">
            <a:extLst>
              <a:ext uri="{FF2B5EF4-FFF2-40B4-BE49-F238E27FC236}">
                <a16:creationId xmlns:a16="http://schemas.microsoft.com/office/drawing/2014/main" id="{5A8ABCE5-FD79-A293-0E0B-36DF3B2E8E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47" y="1977002"/>
            <a:ext cx="7054915" cy="4014216"/>
          </a:xfrm>
          <a:prstGeom prst="rect">
            <a:avLst/>
          </a:prstGeom>
          <a:ln>
            <a:noFill/>
          </a:ln>
          <a:effectLst>
            <a:softEdge rad="112500"/>
          </a:effectLst>
        </p:spPr>
      </p:pic>
      <p:sp>
        <p:nvSpPr>
          <p:cNvPr id="2" name="タイトル 1">
            <a:extLst>
              <a:ext uri="{FF2B5EF4-FFF2-40B4-BE49-F238E27FC236}">
                <a16:creationId xmlns:a16="http://schemas.microsoft.com/office/drawing/2014/main" id="{288328C3-0F1E-D011-2ABE-1A4D0404BB48}"/>
              </a:ext>
            </a:extLst>
          </p:cNvPr>
          <p:cNvSpPr>
            <a:spLocks noGrp="1"/>
          </p:cNvSpPr>
          <p:nvPr>
            <p:ph type="title"/>
          </p:nvPr>
        </p:nvSpPr>
        <p:spPr>
          <a:xfrm>
            <a:off x="976654" y="174233"/>
            <a:ext cx="10831033" cy="2058987"/>
          </a:xfrm>
          <a:noFill/>
          <a:effectLst>
            <a:glow rad="228600">
              <a:schemeClr val="accent1">
                <a:satMod val="175000"/>
                <a:alpha val="40000"/>
              </a:schemeClr>
            </a:glow>
            <a:outerShdw blurRad="50800" dist="38100" dir="2700000" algn="tl" rotWithShape="0">
              <a:prstClr val="black">
                <a:alpha val="40000"/>
              </a:prstClr>
            </a:outerShdw>
          </a:effectLst>
        </p:spPr>
        <p:txBody>
          <a:bodyPr anchor="ctr">
            <a:normAutofit/>
          </a:bodyPr>
          <a:lstStyle>
            <a:lvl1pPr algn="ctr">
              <a:defRPr sz="8800" b="0"/>
            </a:lvl1pPr>
          </a:lstStyle>
          <a:p>
            <a:endParaRPr kumimoji="1" lang="ja-JP" altLang="en-US" dirty="0"/>
          </a:p>
        </p:txBody>
      </p:sp>
      <p:sp>
        <p:nvSpPr>
          <p:cNvPr id="3" name="テキスト プレースホルダー 2">
            <a:extLst>
              <a:ext uri="{FF2B5EF4-FFF2-40B4-BE49-F238E27FC236}">
                <a16:creationId xmlns:a16="http://schemas.microsoft.com/office/drawing/2014/main" id="{C26F101F-53F6-AE5D-E149-E8132C10D1DF}"/>
              </a:ext>
            </a:extLst>
          </p:cNvPr>
          <p:cNvSpPr>
            <a:spLocks noGrp="1"/>
          </p:cNvSpPr>
          <p:nvPr>
            <p:ph type="body" idx="1"/>
          </p:nvPr>
        </p:nvSpPr>
        <p:spPr>
          <a:xfrm>
            <a:off x="7133163" y="2270467"/>
            <a:ext cx="4745662" cy="3623449"/>
          </a:xfrm>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a:lstStyle>
            <a:lvl1pPr marL="0" indent="0">
              <a:buNone/>
              <a:defRPr sz="2400" b="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95DC95E1-7BEF-84C5-44E0-1974511F501F}"/>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A068D1FB-AAA9-9FCE-A1D1-41E5ED5F2F21}"/>
              </a:ext>
            </a:extLst>
          </p:cNvPr>
          <p:cNvSpPr>
            <a:spLocks noGrp="1"/>
          </p:cNvSpPr>
          <p:nvPr>
            <p:ph type="ftr" sz="quarter" idx="11"/>
          </p:nvPr>
        </p:nvSpPr>
        <p:spPr/>
        <p:txBody>
          <a:bodyPr/>
          <a:lstStyle/>
          <a:p>
            <a:endParaRPr kumimoji="1" lang="ja-JP" altLang="en-US"/>
          </a:p>
        </p:txBody>
      </p:sp>
      <p:grpSp>
        <p:nvGrpSpPr>
          <p:cNvPr id="13" name="グループ化 12">
            <a:extLst>
              <a:ext uri="{FF2B5EF4-FFF2-40B4-BE49-F238E27FC236}">
                <a16:creationId xmlns:a16="http://schemas.microsoft.com/office/drawing/2014/main" id="{8E98E9F8-1F95-3B6F-DDF8-4681FA184A66}"/>
              </a:ext>
            </a:extLst>
          </p:cNvPr>
          <p:cNvGrpSpPr/>
          <p:nvPr userDrawn="1"/>
        </p:nvGrpSpPr>
        <p:grpSpPr>
          <a:xfrm>
            <a:off x="310150" y="170701"/>
            <a:ext cx="11910823" cy="1638855"/>
            <a:chOff x="310150" y="170701"/>
            <a:chExt cx="11910823" cy="1638855"/>
          </a:xfrm>
        </p:grpSpPr>
        <p:sp>
          <p:nvSpPr>
            <p:cNvPr id="6" name="矢印: 山形 5">
              <a:extLst>
                <a:ext uri="{FF2B5EF4-FFF2-40B4-BE49-F238E27FC236}">
                  <a16:creationId xmlns:a16="http://schemas.microsoft.com/office/drawing/2014/main" id="{E9AD0AB5-63B3-3922-411C-D512337B0D18}"/>
                </a:ext>
              </a:extLst>
            </p:cNvPr>
            <p:cNvSpPr/>
            <p:nvPr userDrawn="1"/>
          </p:nvSpPr>
          <p:spPr>
            <a:xfrm>
              <a:off x="335550" y="174233"/>
              <a:ext cx="625094"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矢印: 山形 9">
              <a:extLst>
                <a:ext uri="{FF2B5EF4-FFF2-40B4-BE49-F238E27FC236}">
                  <a16:creationId xmlns:a16="http://schemas.microsoft.com/office/drawing/2014/main" id="{0BCBCE41-45B2-4C67-68CA-0F1933F4FC9B}"/>
                </a:ext>
              </a:extLst>
            </p:cNvPr>
            <p:cNvSpPr/>
            <p:nvPr userDrawn="1"/>
          </p:nvSpPr>
          <p:spPr>
            <a:xfrm>
              <a:off x="838200" y="170701"/>
              <a:ext cx="625095"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正方形/長方形 9">
              <a:extLst>
                <a:ext uri="{FF2B5EF4-FFF2-40B4-BE49-F238E27FC236}">
                  <a16:creationId xmlns:a16="http://schemas.microsoft.com/office/drawing/2014/main" id="{960975AB-87DD-F2E8-0182-585369DBCB30}"/>
                </a:ext>
              </a:extLst>
            </p:cNvPr>
            <p:cNvSpPr/>
            <p:nvPr userDrawn="1"/>
          </p:nvSpPr>
          <p:spPr>
            <a:xfrm>
              <a:off x="310150" y="1723771"/>
              <a:ext cx="11910823" cy="85785"/>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19380 w 10653522"/>
                <a:gd name="csY0" fmla="*/ 0 h 86149"/>
                <a:gd name="csX1" fmla="*/ 10653522 w 10653522"/>
                <a:gd name="csY1" fmla="*/ 1 h 86149"/>
                <a:gd name="csX2" fmla="*/ 10653522 w 10653522"/>
                <a:gd name="csY2" fmla="*/ 86149 h 86149"/>
                <a:gd name="csX3" fmla="*/ 0 w 10653522"/>
                <a:gd name="csY3" fmla="*/ 86149 h 86149"/>
                <a:gd name="csX4" fmla="*/ 19380 w 10653522"/>
                <a:gd name="csY4" fmla="*/ 0 h 86149"/>
                <a:gd name="csX0" fmla="*/ 38312 w 10653522"/>
                <a:gd name="csY0" fmla="*/ 0 h 86149"/>
                <a:gd name="csX1" fmla="*/ 10653522 w 10653522"/>
                <a:gd name="csY1" fmla="*/ 1 h 86149"/>
                <a:gd name="csX2" fmla="*/ 10653522 w 10653522"/>
                <a:gd name="csY2" fmla="*/ 86149 h 86149"/>
                <a:gd name="csX3" fmla="*/ 0 w 10653522"/>
                <a:gd name="csY3" fmla="*/ 86149 h 86149"/>
                <a:gd name="csX4" fmla="*/ 38312 w 10653522"/>
                <a:gd name="csY4" fmla="*/ 0 h 86149"/>
                <a:gd name="csX0" fmla="*/ 29792 w 10653522"/>
                <a:gd name="csY0" fmla="*/ 0 h 86149"/>
                <a:gd name="csX1" fmla="*/ 10653522 w 10653522"/>
                <a:gd name="csY1" fmla="*/ 1 h 86149"/>
                <a:gd name="csX2" fmla="*/ 10653522 w 10653522"/>
                <a:gd name="csY2" fmla="*/ 86149 h 86149"/>
                <a:gd name="csX3" fmla="*/ 0 w 10653522"/>
                <a:gd name="csY3" fmla="*/ 86149 h 86149"/>
                <a:gd name="csX4" fmla="*/ 29792 w 10653522"/>
                <a:gd name="csY4" fmla="*/ 0 h 86149"/>
                <a:gd name="csX0" fmla="*/ 34051 w 10653522"/>
                <a:gd name="csY0" fmla="*/ 0 h 86149"/>
                <a:gd name="csX1" fmla="*/ 10653522 w 10653522"/>
                <a:gd name="csY1" fmla="*/ 1 h 86149"/>
                <a:gd name="csX2" fmla="*/ 10653522 w 10653522"/>
                <a:gd name="csY2" fmla="*/ 86149 h 86149"/>
                <a:gd name="csX3" fmla="*/ 0 w 10653522"/>
                <a:gd name="csY3" fmla="*/ 86149 h 86149"/>
                <a:gd name="csX4" fmla="*/ 34051 w 10653522"/>
                <a:gd name="csY4" fmla="*/ 0 h 86149"/>
                <a:gd name="csX0" fmla="*/ 29791 w 10653522"/>
                <a:gd name="csY0" fmla="*/ 0 h 86149"/>
                <a:gd name="csX1" fmla="*/ 10653522 w 10653522"/>
                <a:gd name="csY1" fmla="*/ 1 h 86149"/>
                <a:gd name="csX2" fmla="*/ 10653522 w 10653522"/>
                <a:gd name="csY2" fmla="*/ 86149 h 86149"/>
                <a:gd name="csX3" fmla="*/ 0 w 10653522"/>
                <a:gd name="csY3" fmla="*/ 86149 h 86149"/>
                <a:gd name="csX4" fmla="*/ 29791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29791" y="0"/>
                  </a:moveTo>
                  <a:lnTo>
                    <a:pt x="10653522" y="1"/>
                  </a:lnTo>
                  <a:lnTo>
                    <a:pt x="10653522" y="86149"/>
                  </a:lnTo>
                  <a:lnTo>
                    <a:pt x="0" y="86149"/>
                  </a:lnTo>
                  <a:lnTo>
                    <a:pt x="29791"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8" name="直線コネクタ 7">
            <a:extLst>
              <a:ext uri="{FF2B5EF4-FFF2-40B4-BE49-F238E27FC236}">
                <a16:creationId xmlns:a16="http://schemas.microsoft.com/office/drawing/2014/main" id="{5499DDB8-C9E6-90C0-847E-FD877AF3BBAF}"/>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33293A54-73D3-537E-2F55-77DFD159CA11}"/>
              </a:ext>
            </a:extLst>
          </p:cNvPr>
          <p:cNvPicPr>
            <a:picLocks noChangeAspect="1"/>
          </p:cNvPicPr>
          <p:nvPr userDrawn="1"/>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88292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313C4F-A02D-8487-45FE-957A23F0DB8E}"/>
              </a:ext>
            </a:extLst>
          </p:cNvPr>
          <p:cNvSpPr>
            <a:spLocks noGrp="1"/>
          </p:cNvSpPr>
          <p:nvPr>
            <p:ph type="title"/>
          </p:nvPr>
        </p:nvSpPr>
        <p:spPr>
          <a:xfrm>
            <a:off x="1114297" y="192516"/>
            <a:ext cx="10515600" cy="885115"/>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CD7E764-4DF6-F388-08C6-76CE3E6DE2D1}"/>
              </a:ext>
            </a:extLst>
          </p:cNvPr>
          <p:cNvSpPr>
            <a:spLocks noGrp="1"/>
          </p:cNvSpPr>
          <p:nvPr>
            <p:ph idx="1"/>
          </p:nvPr>
        </p:nvSpPr>
        <p:spPr>
          <a:xfrm>
            <a:off x="838200" y="1316538"/>
            <a:ext cx="10515600" cy="4860425"/>
          </a:xfrm>
        </p:spPr>
        <p:txBody>
          <a:bodyPr/>
          <a:lstStyle>
            <a:lvl1pPr>
              <a:buNone/>
              <a:defRPr/>
            </a:lvl1pPr>
          </a:lstStyle>
          <a:p>
            <a:pPr lvl="0"/>
            <a:endParaRPr kumimoji="1" lang="ja-JP" altLang="en-US" dirty="0"/>
          </a:p>
        </p:txBody>
      </p:sp>
      <p:sp>
        <p:nvSpPr>
          <p:cNvPr id="4" name="日付プレースホルダー 3">
            <a:extLst>
              <a:ext uri="{FF2B5EF4-FFF2-40B4-BE49-F238E27FC236}">
                <a16:creationId xmlns:a16="http://schemas.microsoft.com/office/drawing/2014/main" id="{2B43D254-3D26-B0B7-05A9-0CD07BDCA5D3}"/>
              </a:ext>
            </a:extLst>
          </p:cNvPr>
          <p:cNvSpPr>
            <a:spLocks noGrp="1"/>
          </p:cNvSpPr>
          <p:nvPr>
            <p:ph type="dt" sz="half" idx="10"/>
          </p:nvPr>
        </p:nvSpPr>
        <p:spPr>
          <a:xfrm>
            <a:off x="-1" y="6259216"/>
            <a:ext cx="2743200" cy="365125"/>
          </a:xfrm>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D41E50FB-9FC6-432E-88D6-31B00177C487}"/>
              </a:ext>
            </a:extLst>
          </p:cNvPr>
          <p:cNvSpPr>
            <a:spLocks noGrp="1"/>
          </p:cNvSpPr>
          <p:nvPr>
            <p:ph type="ftr" sz="quarter" idx="11"/>
          </p:nvPr>
        </p:nvSpPr>
        <p:spPr>
          <a:xfrm>
            <a:off x="4038600" y="6265566"/>
            <a:ext cx="4114800" cy="365125"/>
          </a:xfr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28EE75C-07CE-3D57-97C3-61D15FEF0250}"/>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7" name="図 6" descr="テキスト&#10;&#10;AI 生成コンテンツは誤りを含む可能性があります。">
            <a:extLst>
              <a:ext uri="{FF2B5EF4-FFF2-40B4-BE49-F238E27FC236}">
                <a16:creationId xmlns:a16="http://schemas.microsoft.com/office/drawing/2014/main" id="{761305D1-7424-F6CB-1CD2-6D480F6FB914}"/>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9615424" y="6370215"/>
            <a:ext cx="2195576" cy="456072"/>
          </a:xfrm>
          <a:prstGeom prst="rect">
            <a:avLst/>
          </a:prstGeom>
        </p:spPr>
      </p:pic>
      <p:grpSp>
        <p:nvGrpSpPr>
          <p:cNvPr id="13" name="グループ化 12">
            <a:extLst>
              <a:ext uri="{FF2B5EF4-FFF2-40B4-BE49-F238E27FC236}">
                <a16:creationId xmlns:a16="http://schemas.microsoft.com/office/drawing/2014/main" id="{E03DE539-91EE-7D0C-0350-947895DF8FD2}"/>
              </a:ext>
            </a:extLst>
          </p:cNvPr>
          <p:cNvGrpSpPr/>
          <p:nvPr userDrawn="1"/>
        </p:nvGrpSpPr>
        <p:grpSpPr>
          <a:xfrm>
            <a:off x="287545" y="171398"/>
            <a:ext cx="11904455" cy="862995"/>
            <a:chOff x="287545" y="37322"/>
            <a:chExt cx="11904455" cy="862995"/>
          </a:xfrm>
        </p:grpSpPr>
        <p:sp>
          <p:nvSpPr>
            <p:cNvPr id="11" name="矢印: 山形 10">
              <a:extLst>
                <a:ext uri="{FF2B5EF4-FFF2-40B4-BE49-F238E27FC236}">
                  <a16:creationId xmlns:a16="http://schemas.microsoft.com/office/drawing/2014/main" id="{94E647D0-4C16-DB34-B099-38EE5B03BBE9}"/>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矢印: 山形 11">
              <a:extLst>
                <a:ext uri="{FF2B5EF4-FFF2-40B4-BE49-F238E27FC236}">
                  <a16:creationId xmlns:a16="http://schemas.microsoft.com/office/drawing/2014/main" id="{419BCB27-4240-F057-249E-D9A650B2CED6}"/>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9">
              <a:extLst>
                <a:ext uri="{FF2B5EF4-FFF2-40B4-BE49-F238E27FC236}">
                  <a16:creationId xmlns:a16="http://schemas.microsoft.com/office/drawing/2014/main" id="{16888E1B-68AC-75C5-9A27-1195EF40D7FD}"/>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10" name="直線コネクタ 9">
            <a:extLst>
              <a:ext uri="{FF2B5EF4-FFF2-40B4-BE49-F238E27FC236}">
                <a16:creationId xmlns:a16="http://schemas.microsoft.com/office/drawing/2014/main" id="{8E0F4DAE-867C-376F-F95A-52F61012B2EC}"/>
              </a:ext>
            </a:extLst>
          </p:cNvPr>
          <p:cNvCxnSpPr>
            <a:cxnSpLocks/>
          </p:cNvCxnSpPr>
          <p:nvPr userDrawn="1"/>
        </p:nvCxnSpPr>
        <p:spPr>
          <a:xfrm>
            <a:off x="-1" y="6629964"/>
            <a:ext cx="9615425"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8F89EE3A-EA68-FA56-2199-DF6A3A5577AF}"/>
              </a:ext>
            </a:extLst>
          </p:cNvPr>
          <p:cNvCxnSpPr>
            <a:cxnSpLocks/>
          </p:cNvCxnSpPr>
          <p:nvPr userDrawn="1"/>
        </p:nvCxnSpPr>
        <p:spPr>
          <a:xfrm>
            <a:off x="11811000" y="6629964"/>
            <a:ext cx="381000"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187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1" name="スライド番号プレースホルダー 5">
            <a:extLst>
              <a:ext uri="{FF2B5EF4-FFF2-40B4-BE49-F238E27FC236}">
                <a16:creationId xmlns:a16="http://schemas.microsoft.com/office/drawing/2014/main" id="{FCD78E63-1B68-FDBC-0936-D9AF46D5C438}"/>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26" name="図 25" descr="テキスト&#10;&#10;AI 生成コンテンツは誤りを含む可能性があります。">
            <a:extLst>
              <a:ext uri="{FF2B5EF4-FFF2-40B4-BE49-F238E27FC236}">
                <a16:creationId xmlns:a16="http://schemas.microsoft.com/office/drawing/2014/main" id="{AC9C868F-5E8B-DE67-A7DA-295158B34476}"/>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10135016" y="46987"/>
            <a:ext cx="2056984" cy="427283"/>
          </a:xfrm>
          <a:prstGeom prst="rect">
            <a:avLst/>
          </a:prstGeom>
        </p:spPr>
      </p:pic>
      <p:sp>
        <p:nvSpPr>
          <p:cNvPr id="6" name="タイトル 1">
            <a:extLst>
              <a:ext uri="{FF2B5EF4-FFF2-40B4-BE49-F238E27FC236}">
                <a16:creationId xmlns:a16="http://schemas.microsoft.com/office/drawing/2014/main" id="{F36A0D20-69B9-59C0-0B35-BC7E32F96CE1}"/>
              </a:ext>
            </a:extLst>
          </p:cNvPr>
          <p:cNvSpPr>
            <a:spLocks noGrp="1"/>
          </p:cNvSpPr>
          <p:nvPr>
            <p:ph type="title"/>
          </p:nvPr>
        </p:nvSpPr>
        <p:spPr>
          <a:xfrm>
            <a:off x="1082691" y="31713"/>
            <a:ext cx="10515600" cy="885115"/>
          </a:xfrm>
        </p:spPr>
        <p:txBody>
          <a:bodyPr>
            <a:normAutofit/>
          </a:bodyPr>
          <a:lstStyle>
            <a:lvl1pPr>
              <a:defRPr sz="3200"/>
            </a:lvl1pPr>
          </a:lstStyle>
          <a:p>
            <a:r>
              <a:rPr kumimoji="1" lang="ja-JP" altLang="en-US" dirty="0"/>
              <a:t>マスター タイトルの書式設定</a:t>
            </a:r>
          </a:p>
        </p:txBody>
      </p:sp>
      <p:grpSp>
        <p:nvGrpSpPr>
          <p:cNvPr id="7" name="グループ化 6">
            <a:extLst>
              <a:ext uri="{FF2B5EF4-FFF2-40B4-BE49-F238E27FC236}">
                <a16:creationId xmlns:a16="http://schemas.microsoft.com/office/drawing/2014/main" id="{323CD47C-DAFD-572A-C4DB-6C512BE348E3}"/>
              </a:ext>
            </a:extLst>
          </p:cNvPr>
          <p:cNvGrpSpPr/>
          <p:nvPr userDrawn="1"/>
        </p:nvGrpSpPr>
        <p:grpSpPr>
          <a:xfrm>
            <a:off x="287545" y="31713"/>
            <a:ext cx="11904455" cy="862995"/>
            <a:chOff x="287545" y="37322"/>
            <a:chExt cx="11904455" cy="862995"/>
          </a:xfrm>
        </p:grpSpPr>
        <p:sp>
          <p:nvSpPr>
            <p:cNvPr id="8" name="矢印: 山形 7">
              <a:extLst>
                <a:ext uri="{FF2B5EF4-FFF2-40B4-BE49-F238E27FC236}">
                  <a16:creationId xmlns:a16="http://schemas.microsoft.com/office/drawing/2014/main" id="{4119DA1D-A174-FD08-3708-47BDB8137E5C}"/>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山形 8">
              <a:extLst>
                <a:ext uri="{FF2B5EF4-FFF2-40B4-BE49-F238E27FC236}">
                  <a16:creationId xmlns:a16="http://schemas.microsoft.com/office/drawing/2014/main" id="{3356F3D5-46C4-0ECD-1E33-F32AAF908549}"/>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正方形/長方形 9">
              <a:extLst>
                <a:ext uri="{FF2B5EF4-FFF2-40B4-BE49-F238E27FC236}">
                  <a16:creationId xmlns:a16="http://schemas.microsoft.com/office/drawing/2014/main" id="{3F63B315-B5B0-D69D-C08B-B3F8CA6BB09A}"/>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4AA6DA0E-9F71-822B-02A2-F4099BB438B2}"/>
              </a:ext>
            </a:extLst>
          </p:cNvPr>
          <p:cNvSpPr txBox="1"/>
          <p:nvPr userDrawn="1"/>
        </p:nvSpPr>
        <p:spPr>
          <a:xfrm>
            <a:off x="8439036" y="471734"/>
            <a:ext cx="3778760" cy="338554"/>
          </a:xfrm>
          <a:prstGeom prst="rect">
            <a:avLst/>
          </a:prstGeom>
          <a:noFill/>
        </p:spPr>
        <p:txBody>
          <a:bodyPr wrap="square" rtlCol="0">
            <a:spAutoFit/>
          </a:bodyPr>
          <a:lstStyle/>
          <a:p>
            <a:r>
              <a:rPr kumimoji="1" lang="en-US" altLang="ja-JP" sz="1600" b="1" dirty="0"/>
              <a:t>Tokyo Metropolitan University #C24</a:t>
            </a:r>
            <a:endParaRPr kumimoji="1" lang="ja-JP" altLang="en-US" sz="1600" b="1" dirty="0"/>
          </a:p>
        </p:txBody>
      </p:sp>
      <p:sp>
        <p:nvSpPr>
          <p:cNvPr id="11" name="コンテンツ プレースホルダー 2">
            <a:extLst>
              <a:ext uri="{FF2B5EF4-FFF2-40B4-BE49-F238E27FC236}">
                <a16:creationId xmlns:a16="http://schemas.microsoft.com/office/drawing/2014/main" id="{A75CBFF0-3630-BB59-A95C-B16FE2503BF9}"/>
              </a:ext>
            </a:extLst>
          </p:cNvPr>
          <p:cNvSpPr>
            <a:spLocks noGrp="1"/>
          </p:cNvSpPr>
          <p:nvPr>
            <p:ph idx="1"/>
          </p:nvPr>
        </p:nvSpPr>
        <p:spPr>
          <a:xfrm>
            <a:off x="335550" y="1100942"/>
            <a:ext cx="11460210" cy="5443213"/>
          </a:xfrm>
        </p:spPr>
        <p:txBody>
          <a:bodyPr>
            <a:normAutofit/>
          </a:bodyPr>
          <a:lstStyle>
            <a:lvl1pPr>
              <a:buNone/>
              <a:defRPr sz="1600"/>
            </a:lvl1pPr>
          </a:lstStyle>
          <a:p>
            <a:pPr lvl="0"/>
            <a:endParaRPr kumimoji="1" lang="ja-JP" altLang="en-US" dirty="0"/>
          </a:p>
        </p:txBody>
      </p:sp>
    </p:spTree>
    <p:extLst>
      <p:ext uri="{BB962C8B-B14F-4D97-AF65-F5344CB8AC3E}">
        <p14:creationId xmlns:p14="http://schemas.microsoft.com/office/powerpoint/2010/main" val="11962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AA1F2-66DB-1FF2-F861-BF2D8752A11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E0AC22-DBF8-3EE2-AE24-550743735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766D7-614B-94DA-0C28-863D5B2652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7CC300-9DA2-F998-3548-F1C01403D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3E10214-DE77-F170-AA5F-B8A2B19BD7A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C0C0F2D-8F3C-73A3-E660-FA3756B72B0C}"/>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8" name="フッター プレースホルダー 7">
            <a:extLst>
              <a:ext uri="{FF2B5EF4-FFF2-40B4-BE49-F238E27FC236}">
                <a16:creationId xmlns:a16="http://schemas.microsoft.com/office/drawing/2014/main" id="{624E0F2D-546A-EC3D-FB2C-F8C9F0A39D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E55E62E-4625-59E2-8BB9-366B6AFDEE54}"/>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241486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BE30A7-828F-CC2D-60BF-173188D6CB3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9298BC-17C9-10D6-6AB4-37A89C8936FF}"/>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4" name="フッター プレースホルダー 3">
            <a:extLst>
              <a:ext uri="{FF2B5EF4-FFF2-40B4-BE49-F238E27FC236}">
                <a16:creationId xmlns:a16="http://schemas.microsoft.com/office/drawing/2014/main" id="{8BFBCF83-0338-2574-6486-5678E52B8AF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912BE4-C232-4B3D-E9C8-0FCE6182D0A5}"/>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57744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A48B63-2001-691D-9DED-C0F118BBDA7D}"/>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3" name="フッター プレースホルダー 2">
            <a:extLst>
              <a:ext uri="{FF2B5EF4-FFF2-40B4-BE49-F238E27FC236}">
                <a16:creationId xmlns:a16="http://schemas.microsoft.com/office/drawing/2014/main" id="{F959EAA5-F957-AED1-B63F-6FA3B4D6C38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B0C72B-E445-1A07-DB98-9C5A6DF121FD}"/>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932086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A563B-3EA7-DC33-850D-C5A82F3BC15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DE138D-7CA6-E350-621A-62A2B0141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6C41CD-A85A-5C7A-A64C-7637D482B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175004-67F4-C977-B2C2-2C395E623CC3}"/>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6" name="フッター プレースホルダー 5">
            <a:extLst>
              <a:ext uri="{FF2B5EF4-FFF2-40B4-BE49-F238E27FC236}">
                <a16:creationId xmlns:a16="http://schemas.microsoft.com/office/drawing/2014/main" id="{2E52B3CA-9A2E-8A04-E901-583156C36C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25AFDA-329C-7F85-4AAF-F2262E15FE9A}"/>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19909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4FD402-1447-B49A-2361-F5804EC431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1B6CDF-100D-52E5-9552-4B068564E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E65BF2C-E8F5-DD01-AF7A-75CC192CF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E9A260-9E4E-8830-3AEF-96386D2DF278}"/>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6" name="フッター プレースホルダー 5">
            <a:extLst>
              <a:ext uri="{FF2B5EF4-FFF2-40B4-BE49-F238E27FC236}">
                <a16:creationId xmlns:a16="http://schemas.microsoft.com/office/drawing/2014/main" id="{554E7B1A-24CA-43A1-1548-0EB9B17C65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CD3C03-0814-E87A-5CA5-A0498E80E4C0}"/>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381021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936D40-7B23-7204-11DD-C7C45186319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A96F4-90A0-3BE9-8FC4-C26510FA55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277CE6-5DD1-EDF8-2142-892657955149}"/>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767A1F84-2310-F6EA-726F-37FE0FFA3E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2C90B5-5077-CFD0-2F81-D94ACD9FFA38}"/>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018384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2E02BF8-743A-84DF-DB82-78EAEDB002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3FA70F-353A-F505-9BF2-58667DA2B9B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E828E2-29D0-BE64-3610-9367B87EFB13}"/>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5DDF7D51-359B-2456-30C2-AE60E074AC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9D7B2A-301E-BE3E-82EE-3DC38D07C983}"/>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143799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1959FD-EAC9-0BB4-FDB6-CB9ECEE91648}"/>
              </a:ext>
            </a:extLst>
          </p:cNvPr>
          <p:cNvSpPr>
            <a:spLocks noGrp="1"/>
          </p:cNvSpPr>
          <p:nvPr>
            <p:ph type="title"/>
          </p:nvPr>
        </p:nvSpPr>
        <p:spPr>
          <a:xfrm>
            <a:off x="1676400" y="282702"/>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2D3CF71-2D9C-0894-1AAB-9605E9A067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C61BC02-3CCB-40CE-5381-C193707CA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E79A3DA8-3428-49E0-FC82-6A827A50A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EAC962D1-C988-251E-289C-11C47036A7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244328563"/>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2"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kumimoji="1" sz="4400" b="0" u="none"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wrap="square"/>
          <a:lstStyle/>
          <a:p>
            <a:r>
              <a:rPr sz="4000" b="1" dirty="0">
                <a:latin typeface="游ゴシック"/>
                <a:ea typeface="游ゴシック"/>
                <a:cs typeface="游ゴシック"/>
              </a:rPr>
              <a:t>Aerodynamics</a:t>
            </a:r>
            <a:endParaRPr kumimoji="1" lang="ja-JP" altLang="en-US" dirty="0"/>
          </a:p>
        </p:txBody>
      </p:sp>
      <p:sp>
        <p:nvSpPr>
          <p:cNvPr id="7" name="テキスト ボックス 6">
            <a:extLst>
              <a:ext uri="{FF2B5EF4-FFF2-40B4-BE49-F238E27FC236}">
                <a16:creationId xmlns:a16="http://schemas.microsoft.com/office/drawing/2014/main" id="{16D445E6-D8B2-CEFE-6CAB-A83CCF47C13E}"/>
              </a:ext>
            </a:extLst>
          </p:cNvPr>
          <p:cNvSpPr txBox="1"/>
          <p:nvPr/>
        </p:nvSpPr>
        <p:spPr>
          <a:xfrm>
            <a:off x="138228" y="907916"/>
            <a:ext cx="5028132" cy="461665"/>
          </a:xfrm>
          <a:prstGeom prst="rect">
            <a:avLst/>
          </a:prstGeom>
          <a:noFill/>
        </p:spPr>
        <p:txBody>
          <a:bodyPr wrap="square" rtlCol="0">
            <a:spAutoFit/>
          </a:bodyPr>
          <a:lstStyle/>
          <a:p>
            <a:r>
              <a:rPr sz="2400" b="1" dirty="0">
                <a:latin typeface="游ゴシック"/>
                <a:ea typeface="游ゴシック"/>
                <a:cs typeface="游ゴシック"/>
              </a:rPr>
              <a:t>Aerodynamic Device Overview</a:t>
            </a:r>
            <a:endParaRPr kumimoji="1" lang="ja-JP" altLang="en-US" sz="2400" b="1" dirty="0"/>
          </a:p>
        </p:txBody>
      </p:sp>
      <p:sp>
        <p:nvSpPr>
          <p:cNvPr id="9" name="テキスト ボックス 8">
            <a:extLst>
              <a:ext uri="{FF2B5EF4-FFF2-40B4-BE49-F238E27FC236}">
                <a16:creationId xmlns:a16="http://schemas.microsoft.com/office/drawing/2014/main" id="{155773DE-7AE0-3FAE-1DD1-5B8C5E064532}"/>
              </a:ext>
            </a:extLst>
          </p:cNvPr>
          <p:cNvSpPr txBox="1"/>
          <p:nvPr/>
        </p:nvSpPr>
        <p:spPr>
          <a:xfrm>
            <a:off x="138227" y="1283427"/>
            <a:ext cx="7167141" cy="1323439"/>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0.1 Why aerodynamic devices were adopted</a:t>
            </a:r>
            <a:endParaRPr kumimoji="1" lang="en-US" altLang="ja-JP" sz="1600" dirty="0"/>
          </a:p>
          <a:p>
            <a:r>
              <a:rPr sz="1600" b="0" dirty="0">
                <a:latin typeface="游ゴシック"/>
                <a:ea typeface="游ゴシック"/>
                <a:cs typeface="游ゴシック"/>
              </a:rPr>
              <a:t>Aerodynamic devices were introduced to achieve sharper vehicle behavior.</a:t>
            </a:r>
          </a:p>
          <a:p>
            <a:r>
              <a:rPr sz="1600" b="0" dirty="0">
                <a:latin typeface="游ゴシック"/>
                <a:ea typeface="游ゴシック"/>
                <a:cs typeface="游ゴシック"/>
              </a:rPr>
              <a:t>1. Simulation showed that downforce gains outweigh the added weight.</a:t>
            </a:r>
          </a:p>
          <a:p>
            <a:r>
              <a:rPr sz="1600" b="0" dirty="0">
                <a:latin typeface="游ゴシック"/>
                <a:ea typeface="游ゴシック"/>
                <a:cs typeface="游ゴシック"/>
              </a:rPr>
              <a:t>2. The team had enough members to develop and manufacture them.</a:t>
            </a:r>
          </a:p>
          <a:p>
            <a:r>
              <a:rPr sz="1600" b="0" dirty="0">
                <a:latin typeface="游ゴシック"/>
                <a:ea typeface="游ゴシック"/>
                <a:cs typeface="游ゴシック"/>
              </a:rPr>
              <a:t>3. Production tests were completed last year, so preparation was ready</a:t>
            </a:r>
          </a:p>
        </p:txBody>
      </p:sp>
      <p:sp>
        <p:nvSpPr>
          <p:cNvPr id="5" name="四角形: 角を丸くする 4">
            <a:extLst>
              <a:ext uri="{FF2B5EF4-FFF2-40B4-BE49-F238E27FC236}">
                <a16:creationId xmlns:a16="http://schemas.microsoft.com/office/drawing/2014/main" id="{428FD632-EA39-7B8C-48E3-497E3AEFF664}"/>
              </a:ext>
            </a:extLst>
          </p:cNvPr>
          <p:cNvSpPr/>
          <p:nvPr/>
        </p:nvSpPr>
        <p:spPr>
          <a:xfrm>
            <a:off x="18154" y="2618858"/>
            <a:ext cx="6391882" cy="1850690"/>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09722B6-89CC-FA00-C4FC-226C4F8C296A}"/>
              </a:ext>
            </a:extLst>
          </p:cNvPr>
          <p:cNvSpPr txBox="1"/>
          <p:nvPr/>
        </p:nvSpPr>
        <p:spPr>
          <a:xfrm>
            <a:off x="198607" y="2616267"/>
            <a:ext cx="5936911" cy="2092881"/>
          </a:xfrm>
          <a:prstGeom prst="rect">
            <a:avLst/>
          </a:prstGeom>
          <a:noFill/>
        </p:spPr>
        <p:txBody>
          <a:bodyPr wrap="square" rtlCol="0">
            <a:spAutoFit/>
          </a:bodyPr>
          <a:lstStyle/>
          <a:p>
            <a:r>
              <a:rPr sz="1600" b="1" dirty="0">
                <a:latin typeface="游ゴシック"/>
                <a:ea typeface="游ゴシック"/>
                <a:cs typeface="游ゴシック"/>
              </a:rPr>
              <a:t>0.2 Development targets</a:t>
            </a:r>
            <a:endParaRPr lang="en-US" altLang="ja-JP" b="1" u="sng" dirty="0"/>
          </a:p>
          <a:p>
            <a:r>
              <a:rPr sz="1600" b="0" dirty="0">
                <a:latin typeface="游ゴシック"/>
                <a:ea typeface="游ゴシック"/>
                <a:cs typeface="游ゴシック"/>
              </a:rPr>
              <a:t>For the first aero package, the design focused on four targets:</a:t>
            </a:r>
          </a:p>
          <a:p>
            <a:r>
              <a:rPr sz="1600" b="0" dirty="0">
                <a:latin typeface="游ゴシック"/>
                <a:ea typeface="游ゴシック"/>
                <a:cs typeface="游ゴシック"/>
              </a:rPr>
              <a:t>1. Easy-to-manufacture geometry.</a:t>
            </a:r>
          </a:p>
          <a:p>
            <a:r>
              <a:rPr sz="1600" b="0" dirty="0">
                <a:latin typeface="游ゴシック"/>
                <a:ea typeface="游ゴシック"/>
                <a:cs typeface="游ゴシック"/>
              </a:rPr>
              <a:t>2. Sufficient downforce.</a:t>
            </a:r>
          </a:p>
          <a:p>
            <a:r>
              <a:rPr sz="1600" b="0" dirty="0">
                <a:latin typeface="游ゴシック"/>
                <a:ea typeface="游ゴシック"/>
                <a:cs typeface="游ゴシック"/>
              </a:rPr>
              <a:t>3. Strength against failure.</a:t>
            </a:r>
          </a:p>
          <a:p>
            <a:r>
              <a:rPr sz="1600" b="0" dirty="0">
                <a:latin typeface="游ゴシック"/>
                <a:ea typeface="游ゴシック"/>
                <a:cs typeface="游ゴシック"/>
              </a:rPr>
              <a:t>4. Weight reduction, while prioritizing manufacturability.</a:t>
            </a:r>
          </a:p>
        </p:txBody>
      </p:sp>
      <p:sp>
        <p:nvSpPr>
          <p:cNvPr id="3" name="四角形: 角を丸くする 4">
            <a:extLst>
              <a:ext uri="{FF2B5EF4-FFF2-40B4-BE49-F238E27FC236}">
                <a16:creationId xmlns:a16="http://schemas.microsoft.com/office/drawing/2014/main" id="{93040181-E2A7-0372-9D27-4D4D05D74C12}"/>
              </a:ext>
            </a:extLst>
          </p:cNvPr>
          <p:cNvSpPr/>
          <p:nvPr/>
        </p:nvSpPr>
        <p:spPr>
          <a:xfrm>
            <a:off x="28053" y="4510820"/>
            <a:ext cx="6381983" cy="137385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EA7266-A7C2-FBA1-2964-03E2B96D7CBF}"/>
              </a:ext>
            </a:extLst>
          </p:cNvPr>
          <p:cNvSpPr txBox="1"/>
          <p:nvPr/>
        </p:nvSpPr>
        <p:spPr>
          <a:xfrm>
            <a:off x="208507" y="4561238"/>
            <a:ext cx="6201530" cy="1323439"/>
          </a:xfrm>
          <a:prstGeom prst="rect">
            <a:avLst/>
          </a:prstGeom>
          <a:noFill/>
        </p:spPr>
        <p:txBody>
          <a:bodyPr wrap="square" rtlCol="0">
            <a:spAutoFit/>
          </a:bodyPr>
          <a:lstStyle/>
          <a:p>
            <a:r>
              <a:rPr sz="1600" b="1" dirty="0">
                <a:latin typeface="游ゴシック"/>
                <a:ea typeface="游ゴシック"/>
                <a:cs typeface="游ゴシック"/>
              </a:rPr>
              <a:t>0.3 Development risk management</a:t>
            </a:r>
            <a:endParaRPr lang="en-US" altLang="ja-JP" b="1" u="sng" dirty="0"/>
          </a:p>
          <a:p>
            <a:r>
              <a:rPr sz="1600" b="0" dirty="0">
                <a:latin typeface="游ゴシック"/>
                <a:ea typeface="游ゴシック"/>
                <a:cs typeface="游ゴシック"/>
              </a:rPr>
              <a:t>As the first aero package, this work could affect the whole vehicle schedule. To control risk and workload, development would stop immediately if SES approval was delayed or a critical issue occurred.</a:t>
            </a:r>
          </a:p>
        </p:txBody>
      </p:sp>
      <p:sp>
        <p:nvSpPr>
          <p:cNvPr id="13" name="四角形: 角を丸くする 4">
            <a:extLst>
              <a:ext uri="{FF2B5EF4-FFF2-40B4-BE49-F238E27FC236}">
                <a16:creationId xmlns:a16="http://schemas.microsoft.com/office/drawing/2014/main" id="{0E25AC76-A627-C593-E986-F04C36649CFF}"/>
              </a:ext>
            </a:extLst>
          </p:cNvPr>
          <p:cNvSpPr/>
          <p:nvPr/>
        </p:nvSpPr>
        <p:spPr>
          <a:xfrm>
            <a:off x="6419935" y="3269910"/>
            <a:ext cx="5753911" cy="231021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FDE60A3-C02E-86A5-FC04-20E35CEAE10D}"/>
              </a:ext>
            </a:extLst>
          </p:cNvPr>
          <p:cNvSpPr txBox="1"/>
          <p:nvPr/>
        </p:nvSpPr>
        <p:spPr>
          <a:xfrm>
            <a:off x="6600389" y="3343188"/>
            <a:ext cx="5563558" cy="2092881"/>
          </a:xfrm>
          <a:prstGeom prst="rect">
            <a:avLst/>
          </a:prstGeom>
          <a:noFill/>
        </p:spPr>
        <p:txBody>
          <a:bodyPr wrap="square" rtlCol="0">
            <a:spAutoFit/>
          </a:bodyPr>
          <a:lstStyle/>
          <a:p>
            <a:r>
              <a:rPr sz="1600" b="1" dirty="0">
                <a:latin typeface="游ゴシック"/>
                <a:ea typeface="游ゴシック"/>
                <a:cs typeface="游ゴシック"/>
              </a:rPr>
              <a:t>0.4 Performance target</a:t>
            </a:r>
          </a:p>
          <a:p>
            <a:r>
              <a:rPr sz="1600" b="0" dirty="0">
                <a:latin typeface="游ゴシック"/>
                <a:ea typeface="游ゴシック"/>
                <a:cs typeface="游ゴシック"/>
              </a:rPr>
              <a:t>The figure plots vertical load on the horizontal axis and resultant tire force on the vertical axis.</a:t>
            </a:r>
          </a:p>
          <a:p>
            <a:r>
              <a:rPr sz="1600" b="0" dirty="0">
                <a:latin typeface="游ゴシック"/>
                <a:ea typeface="游ゴシック"/>
                <a:cs typeface="游ゴシック"/>
              </a:rPr>
              <a:t>Looking only at the maximum tire force, the trend increases almost linearly as vertical load rises.</a:t>
            </a:r>
          </a:p>
          <a:p>
            <a:r>
              <a:rPr sz="1600" b="0" dirty="0">
                <a:latin typeface="游ゴシック"/>
                <a:ea typeface="游ゴシック"/>
                <a:cs typeface="游ゴシック"/>
              </a:rPr>
              <a:t>Therefore, the aero design prioritizes maximizing downforce. Simulation also showed that downforce benefit exceeds drag loss when L/D is above 3, so L/D &gt; 3 was set as a design constraint.</a:t>
            </a:r>
          </a:p>
        </p:txBody>
      </p:sp>
      <p:pic>
        <p:nvPicPr>
          <p:cNvPr id="6" name="図 5">
            <a:extLst>
              <a:ext uri="{FF2B5EF4-FFF2-40B4-BE49-F238E27FC236}">
                <a16:creationId xmlns:a16="http://schemas.microsoft.com/office/drawing/2014/main" id="{4DFEAFA2-23CC-F16A-FAF7-EC276664F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8270" y="934018"/>
            <a:ext cx="3137584" cy="2091722"/>
          </a:xfrm>
          <a:prstGeom prst="rect">
            <a:avLst/>
          </a:prstGeom>
        </p:spPr>
      </p:pic>
      <p:cxnSp>
        <p:nvCxnSpPr>
          <p:cNvPr id="8" name="直線コネクタ 7">
            <a:extLst>
              <a:ext uri="{FF2B5EF4-FFF2-40B4-BE49-F238E27FC236}">
                <a16:creationId xmlns:a16="http://schemas.microsoft.com/office/drawing/2014/main" id="{A51EE117-7421-467A-2ED6-7F0A4C0CB86E}"/>
              </a:ext>
            </a:extLst>
          </p:cNvPr>
          <p:cNvCxnSpPr>
            <a:cxnSpLocks/>
          </p:cNvCxnSpPr>
          <p:nvPr/>
        </p:nvCxnSpPr>
        <p:spPr>
          <a:xfrm flipH="1">
            <a:off x="9292590" y="1171676"/>
            <a:ext cx="1125363" cy="1515266"/>
          </a:xfrm>
          <a:prstGeom prst="line">
            <a:avLst/>
          </a:prstGeom>
          <a:ln w="47625">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角丸四角形吹き出し 15">
            <a:extLst>
              <a:ext uri="{FF2B5EF4-FFF2-40B4-BE49-F238E27FC236}">
                <a16:creationId xmlns:a16="http://schemas.microsoft.com/office/drawing/2014/main" id="{F48310BF-8813-AA2C-0492-4CC15C342200}"/>
              </a:ext>
            </a:extLst>
          </p:cNvPr>
          <p:cNvSpPr/>
          <p:nvPr/>
        </p:nvSpPr>
        <p:spPr>
          <a:xfrm>
            <a:off x="7146909" y="2593983"/>
            <a:ext cx="1871361" cy="448947"/>
          </a:xfrm>
          <a:prstGeom prst="wedgeRoundRectCallout">
            <a:avLst>
              <a:gd name="adj1" fmla="val 91578"/>
              <a:gd name="adj2" fmla="val -202458"/>
              <a:gd name="adj3" fmla="val 16667"/>
            </a:avLst>
          </a:prstGeom>
          <a:solidFill>
            <a:schemeClr val="accent1">
              <a:lumMod val="20000"/>
              <a:lumOff val="80000"/>
              <a:alpha val="8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ja-JP" dirty="0">
                <a:ln w="0"/>
                <a:solidFill>
                  <a:schemeClr val="tx1"/>
                </a:solidFill>
                <a:effectLst>
                  <a:outerShdw blurRad="38100" dist="19050" dir="2700000" algn="tl" rotWithShape="0">
                    <a:schemeClr val="dk1">
                      <a:alpha val="40000"/>
                    </a:schemeClr>
                  </a:outerShdw>
                </a:effectLst>
                <a:ea typeface="游ゴシック"/>
                <a:cs typeface="游ゴシック"/>
              </a:rPr>
              <a:t>increases almost linearly</a:t>
            </a: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17" name="テキスト ボックス 16">
            <a:extLst>
              <a:ext uri="{FF2B5EF4-FFF2-40B4-BE49-F238E27FC236}">
                <a16:creationId xmlns:a16="http://schemas.microsoft.com/office/drawing/2014/main" id="{6AA04708-DFDF-3CC4-1319-652DCC7C1B10}"/>
              </a:ext>
            </a:extLst>
          </p:cNvPr>
          <p:cNvSpPr txBox="1"/>
          <p:nvPr/>
        </p:nvSpPr>
        <p:spPr>
          <a:xfrm>
            <a:off x="8198952" y="3009141"/>
            <a:ext cx="4106436" cy="338554"/>
          </a:xfrm>
          <a:prstGeom prst="rect">
            <a:avLst/>
          </a:prstGeom>
          <a:noFill/>
        </p:spPr>
        <p:txBody>
          <a:bodyPr wrap="square">
            <a:spAutoFit/>
          </a:bodyPr>
          <a:lstStyle/>
          <a:p>
            <a:r>
              <a:rPr lang="en" altLang="ja-JP" sz="1600" dirty="0">
                <a:solidFill>
                  <a:prstClr val="black"/>
                </a:solidFill>
              </a:rPr>
              <a:t>Fig1. </a:t>
            </a:r>
            <a:r>
              <a:rPr lang="en" altLang="ja-JP" sz="1600" dirty="0">
                <a:ea typeface="游ゴシック"/>
                <a:cs typeface="游ゴシック"/>
              </a:rPr>
              <a:t>vertical load VS resultant tire force </a:t>
            </a:r>
            <a:endParaRPr lang="ja-JP" altLang="en-US" sz="1600"/>
          </a:p>
        </p:txBody>
      </p:sp>
    </p:spTree>
    <p:extLst>
      <p:ext uri="{BB962C8B-B14F-4D97-AF65-F5344CB8AC3E}">
        <p14:creationId xmlns:p14="http://schemas.microsoft.com/office/powerpoint/2010/main" val="3925297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8AC6-BBEF-8137-BFE3-9A4C37ADA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864743-40AF-AD59-7E5A-8DC26C4A263C}"/>
              </a:ext>
            </a:extLst>
          </p:cNvPr>
          <p:cNvSpPr>
            <a:spLocks noGrp="1"/>
          </p:cNvSpPr>
          <p:nvPr>
            <p:ph type="title"/>
          </p:nvPr>
        </p:nvSpPr>
        <p:spPr/>
        <p:txBody>
          <a:bodyPr wrap="square"/>
          <a:lstStyle/>
          <a:p>
            <a:r>
              <a:rPr sz="4000" b="1" dirty="0">
                <a:latin typeface="游ゴシック"/>
                <a:ea typeface="游ゴシック"/>
                <a:cs typeface="游ゴシック"/>
              </a:rPr>
              <a:t>Aerodynamics</a:t>
            </a:r>
            <a:endParaRPr kumimoji="1" lang="ja-JP" altLang="en-US" dirty="0"/>
          </a:p>
        </p:txBody>
      </p:sp>
      <p:sp>
        <p:nvSpPr>
          <p:cNvPr id="4" name="テキスト ボックス 3">
            <a:extLst>
              <a:ext uri="{FF2B5EF4-FFF2-40B4-BE49-F238E27FC236}">
                <a16:creationId xmlns:a16="http://schemas.microsoft.com/office/drawing/2014/main" id="{666C5CF8-9F00-79B7-73E9-30FA650CF38A}"/>
              </a:ext>
            </a:extLst>
          </p:cNvPr>
          <p:cNvSpPr txBox="1"/>
          <p:nvPr/>
        </p:nvSpPr>
        <p:spPr>
          <a:xfrm>
            <a:off x="138228" y="898086"/>
            <a:ext cx="5028132" cy="461665"/>
          </a:xfrm>
          <a:prstGeom prst="rect">
            <a:avLst/>
          </a:prstGeom>
          <a:noFill/>
        </p:spPr>
        <p:txBody>
          <a:bodyPr wrap="square" rtlCol="0">
            <a:spAutoFit/>
          </a:bodyPr>
          <a:lstStyle/>
          <a:p>
            <a:r>
              <a:rPr sz="2400" b="1" dirty="0">
                <a:latin typeface="游ゴシック"/>
                <a:ea typeface="游ゴシック"/>
                <a:cs typeface="游ゴシック"/>
              </a:rPr>
              <a:t>Manufacturability Verification</a:t>
            </a:r>
            <a:endParaRPr kumimoji="1" lang="ja-JP" altLang="en-US" sz="2400" b="1" dirty="0"/>
          </a:p>
        </p:txBody>
      </p:sp>
      <p:sp>
        <p:nvSpPr>
          <p:cNvPr id="8" name="テキスト ボックス 7">
            <a:extLst>
              <a:ext uri="{FF2B5EF4-FFF2-40B4-BE49-F238E27FC236}">
                <a16:creationId xmlns:a16="http://schemas.microsoft.com/office/drawing/2014/main" id="{8F3048C6-F9B3-25FF-6556-2A7D8CB2562E}"/>
              </a:ext>
            </a:extLst>
          </p:cNvPr>
          <p:cNvSpPr txBox="1"/>
          <p:nvPr/>
        </p:nvSpPr>
        <p:spPr>
          <a:xfrm>
            <a:off x="138227" y="1283427"/>
            <a:ext cx="8251393" cy="1569660"/>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0.5 Manufacturing feasibility tests</a:t>
            </a:r>
            <a:endParaRPr kumimoji="1" lang="en-US" altLang="ja-JP" sz="1600" dirty="0"/>
          </a:p>
          <a:p>
            <a:r>
              <a:rPr sz="1600" b="0" dirty="0">
                <a:latin typeface="游ゴシック"/>
                <a:ea typeface="游ゴシック"/>
                <a:cs typeface="游ゴシック"/>
              </a:rPr>
              <a:t>Small-scale production tests were repeated before final aero manufacturing.</a:t>
            </a:r>
          </a:p>
          <a:p>
            <a:r>
              <a:rPr sz="1600" b="0" dirty="0">
                <a:latin typeface="游ゴシック"/>
                <a:ea typeface="游ゴシック"/>
                <a:cs typeface="游ゴシック"/>
              </a:rPr>
              <a:t>1. Wet layup sandwich samples were produced with glass fiber and foam core.</a:t>
            </a:r>
          </a:p>
          <a:p>
            <a:r>
              <a:rPr sz="1600" b="0" dirty="0">
                <a:latin typeface="游ゴシック"/>
                <a:ea typeface="游ゴシック"/>
                <a:cs typeface="游ゴシック"/>
              </a:rPr>
              <a:t>2. </a:t>
            </a:r>
            <a:r>
              <a:rPr sz="1600" b="0" dirty="0" err="1">
                <a:latin typeface="游ゴシック"/>
                <a:ea typeface="游ゴシック"/>
                <a:cs typeface="游ゴシック"/>
              </a:rPr>
              <a:t>VaRTM</a:t>
            </a:r>
            <a:r>
              <a:rPr sz="1600" b="0" dirty="0">
                <a:latin typeface="游ゴシック"/>
                <a:ea typeface="游ゴシック"/>
                <a:cs typeface="游ゴシック"/>
              </a:rPr>
              <a:t> trials were also conducted to verify resin flow and bagging quality.</a:t>
            </a:r>
          </a:p>
          <a:p>
            <a:r>
              <a:rPr sz="1600" b="0" dirty="0">
                <a:latin typeface="游ゴシック"/>
                <a:ea typeface="游ゴシック"/>
                <a:cs typeface="游ゴシック"/>
              </a:rPr>
              <a:t>3. Vacuum bagging reached -0.92 atm, confirming sufficient suction for trial parts.</a:t>
            </a:r>
          </a:p>
          <a:p>
            <a:r>
              <a:rPr sz="1600" b="0" dirty="0">
                <a:latin typeface="游ゴシック"/>
                <a:ea typeface="游ゴシック"/>
                <a:cs typeface="游ゴシック"/>
              </a:rPr>
              <a:t>4. A first 1-ply sample bonded to the MDF board, showing release was the main issue.</a:t>
            </a:r>
          </a:p>
        </p:txBody>
      </p:sp>
      <p:sp>
        <p:nvSpPr>
          <p:cNvPr id="11" name="四角形: 角を丸くする 4">
            <a:extLst>
              <a:ext uri="{FF2B5EF4-FFF2-40B4-BE49-F238E27FC236}">
                <a16:creationId xmlns:a16="http://schemas.microsoft.com/office/drawing/2014/main" id="{709775D7-20EF-3CFE-A601-D1AEA5443F32}"/>
              </a:ext>
            </a:extLst>
          </p:cNvPr>
          <p:cNvSpPr/>
          <p:nvPr/>
        </p:nvSpPr>
        <p:spPr>
          <a:xfrm>
            <a:off x="138226" y="2872450"/>
            <a:ext cx="6271809" cy="1378102"/>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EF9F5E1-5163-BA76-2537-934C550CAD84}"/>
              </a:ext>
            </a:extLst>
          </p:cNvPr>
          <p:cNvSpPr txBox="1"/>
          <p:nvPr/>
        </p:nvSpPr>
        <p:spPr>
          <a:xfrm>
            <a:off x="198607" y="2869859"/>
            <a:ext cx="6211428" cy="1323439"/>
          </a:xfrm>
          <a:prstGeom prst="rect">
            <a:avLst/>
          </a:prstGeom>
          <a:noFill/>
        </p:spPr>
        <p:txBody>
          <a:bodyPr wrap="square" rtlCol="0">
            <a:spAutoFit/>
          </a:bodyPr>
          <a:lstStyle/>
          <a:p>
            <a:r>
              <a:rPr sz="1600" b="1" dirty="0">
                <a:latin typeface="游ゴシック"/>
                <a:ea typeface="游ゴシック"/>
                <a:cs typeface="游ゴシック"/>
              </a:rPr>
              <a:t>0.6 Release-process findings</a:t>
            </a:r>
            <a:endParaRPr lang="en-US" altLang="ja-JP" b="1" u="sng" dirty="0"/>
          </a:p>
          <a:p>
            <a:r>
              <a:rPr sz="1600" b="0" dirty="0">
                <a:latin typeface="游ゴシック"/>
                <a:ea typeface="游ゴシック"/>
                <a:cs typeface="游ゴシック"/>
              </a:rPr>
              <a:t>The team tested several changes to improve demolding:</a:t>
            </a:r>
          </a:p>
          <a:p>
            <a:r>
              <a:rPr sz="1600" b="0" dirty="0">
                <a:latin typeface="游ゴシック"/>
                <a:ea typeface="游ゴシック"/>
                <a:cs typeface="游ゴシック"/>
              </a:rPr>
              <a:t>1. Move samples to the MDF board edges to allow tool access.</a:t>
            </a:r>
          </a:p>
          <a:p>
            <a:r>
              <a:rPr sz="1600" b="0" dirty="0">
                <a:latin typeface="游ゴシック"/>
                <a:ea typeface="游ゴシック"/>
                <a:cs typeface="游ゴシック"/>
              </a:rPr>
              <a:t>2. Increase peel-ply size to about four times the previous area.</a:t>
            </a:r>
          </a:p>
          <a:p>
            <a:r>
              <a:rPr sz="1600" b="0" dirty="0">
                <a:latin typeface="游ゴシック"/>
                <a:ea typeface="游ゴシック"/>
                <a:cs typeface="游ゴシック"/>
              </a:rPr>
              <a:t>3. Increase PVA concentration from 1:3 to 1:1.</a:t>
            </a:r>
          </a:p>
        </p:txBody>
      </p:sp>
      <p:sp>
        <p:nvSpPr>
          <p:cNvPr id="16" name="四角形: 角を丸くする 4">
            <a:extLst>
              <a:ext uri="{FF2B5EF4-FFF2-40B4-BE49-F238E27FC236}">
                <a16:creationId xmlns:a16="http://schemas.microsoft.com/office/drawing/2014/main" id="{5F4F65F1-5C72-88D6-0790-D4AA439A8E9E}"/>
              </a:ext>
            </a:extLst>
          </p:cNvPr>
          <p:cNvSpPr/>
          <p:nvPr/>
        </p:nvSpPr>
        <p:spPr>
          <a:xfrm>
            <a:off x="138226" y="4250977"/>
            <a:ext cx="6271810" cy="166579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D88AB56-565B-73A2-1764-B54EE28C53C0}"/>
              </a:ext>
            </a:extLst>
          </p:cNvPr>
          <p:cNvSpPr txBox="1"/>
          <p:nvPr/>
        </p:nvSpPr>
        <p:spPr>
          <a:xfrm>
            <a:off x="208507" y="4347115"/>
            <a:ext cx="6077994" cy="1569660"/>
          </a:xfrm>
          <a:prstGeom prst="rect">
            <a:avLst/>
          </a:prstGeom>
          <a:noFill/>
        </p:spPr>
        <p:txBody>
          <a:bodyPr wrap="square" rtlCol="0">
            <a:spAutoFit/>
          </a:bodyPr>
          <a:lstStyle/>
          <a:p>
            <a:r>
              <a:rPr sz="1600" b="1" dirty="0">
                <a:latin typeface="游ゴシック"/>
                <a:ea typeface="游ゴシック"/>
                <a:cs typeface="游ゴシック"/>
              </a:rPr>
              <a:t>0.7 Cure-time lesson</a:t>
            </a:r>
            <a:endParaRPr lang="en-US" altLang="ja-JP" b="1" u="sng" dirty="0"/>
          </a:p>
          <a:p>
            <a:r>
              <a:rPr sz="1600" b="0" dirty="0">
                <a:latin typeface="游ゴシック"/>
                <a:ea typeface="游ゴシック"/>
                <a:cs typeface="游ゴシック"/>
              </a:rPr>
              <a:t>Even after an overnight cure, strong adhesion and tacky PVA remained. This indicated that catalog cure time was not enough under actual workshop conditions, so longer curing and thicker PVA application were treated as process requirements.</a:t>
            </a:r>
          </a:p>
        </p:txBody>
      </p:sp>
      <p:sp>
        <p:nvSpPr>
          <p:cNvPr id="18" name="四角形: 角を丸くする 4">
            <a:extLst>
              <a:ext uri="{FF2B5EF4-FFF2-40B4-BE49-F238E27FC236}">
                <a16:creationId xmlns:a16="http://schemas.microsoft.com/office/drawing/2014/main" id="{759B3991-B934-2E1C-D4F5-786ED8222108}"/>
              </a:ext>
            </a:extLst>
          </p:cNvPr>
          <p:cNvSpPr/>
          <p:nvPr/>
        </p:nvSpPr>
        <p:spPr>
          <a:xfrm>
            <a:off x="6419935" y="2869777"/>
            <a:ext cx="5753911" cy="251678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7F5F8EAF-8456-ABC6-CDC8-9641574C87AE}"/>
              </a:ext>
            </a:extLst>
          </p:cNvPr>
          <p:cNvSpPr txBox="1"/>
          <p:nvPr/>
        </p:nvSpPr>
        <p:spPr>
          <a:xfrm>
            <a:off x="6600389" y="2920195"/>
            <a:ext cx="5563558" cy="2092881"/>
          </a:xfrm>
          <a:prstGeom prst="rect">
            <a:avLst/>
          </a:prstGeom>
          <a:noFill/>
        </p:spPr>
        <p:txBody>
          <a:bodyPr wrap="square" rtlCol="0">
            <a:spAutoFit/>
          </a:bodyPr>
          <a:lstStyle/>
          <a:p>
            <a:r>
              <a:rPr sz="1600" b="1" dirty="0">
                <a:latin typeface="游ゴシック"/>
                <a:ea typeface="游ゴシック"/>
                <a:cs typeface="游ゴシック"/>
              </a:rPr>
              <a:t>0.8 Manufacturing readiness</a:t>
            </a:r>
          </a:p>
          <a:p>
            <a:r>
              <a:rPr sz="1600" b="0" dirty="0">
                <a:latin typeface="游ゴシック"/>
                <a:ea typeface="游ゴシック"/>
                <a:cs typeface="游ゴシック"/>
              </a:rPr>
              <a:t>Mold preparation also progressed through gelcoat application for tooling.</a:t>
            </a:r>
          </a:p>
          <a:p>
            <a:r>
              <a:rPr sz="1600" b="0" dirty="0">
                <a:latin typeface="游ゴシック"/>
                <a:ea typeface="游ゴシック"/>
                <a:cs typeface="游ゴシック"/>
              </a:rPr>
              <a:t>For actual production, simple wet layup is used for large parts where speed and handling are important.</a:t>
            </a:r>
          </a:p>
          <a:p>
            <a:r>
              <a:rPr sz="1600" b="0" dirty="0" err="1">
                <a:latin typeface="游ゴシック"/>
                <a:ea typeface="游ゴシック"/>
                <a:cs typeface="游ゴシック"/>
              </a:rPr>
              <a:t>VaRTM</a:t>
            </a:r>
            <a:r>
              <a:rPr sz="1600" b="0" dirty="0">
                <a:latin typeface="游ゴシック"/>
                <a:ea typeface="游ゴシック"/>
                <a:cs typeface="游ゴシック"/>
              </a:rPr>
              <a:t> is used for smaller parts where resin control, fiber volume, and repeatability are easier to manage.</a:t>
            </a:r>
          </a:p>
          <a:p>
            <a:r>
              <a:rPr sz="1600" b="0" dirty="0">
                <a:latin typeface="游ゴシック"/>
                <a:ea typeface="游ゴシック"/>
                <a:cs typeface="游ゴシック"/>
              </a:rPr>
              <a:t>These tests fixed the practical constraints: release margin, peel-ply coverage, tool access, vacuum quality, and cure time.</a:t>
            </a:r>
          </a:p>
        </p:txBody>
      </p:sp>
      <p:pic>
        <p:nvPicPr>
          <p:cNvPr id="21" name="図 20" descr="画像">
            <a:extLst>
              <a:ext uri="{FF2B5EF4-FFF2-40B4-BE49-F238E27FC236}">
                <a16:creationId xmlns:a16="http://schemas.microsoft.com/office/drawing/2014/main" id="{5FA89FFB-F2A5-5E26-453D-EC7F3BEF1847}"/>
              </a:ext>
            </a:extLst>
          </p:cNvPr>
          <p:cNvPicPr>
            <a:picLocks noChangeAspect="1"/>
          </p:cNvPicPr>
          <p:nvPr/>
        </p:nvPicPr>
        <p:blipFill rotWithShape="1">
          <a:blip r:embed="rId3"/>
          <a:srcRect l="6003" t="12485" r="7389" b="36209"/>
          <a:stretch>
            <a:fillRect/>
          </a:stretch>
        </p:blipFill>
        <p:spPr>
          <a:xfrm>
            <a:off x="6600389" y="5464258"/>
            <a:ext cx="1613000" cy="1273357"/>
          </a:xfrm>
          <a:prstGeom prst="rect">
            <a:avLst/>
          </a:prstGeom>
        </p:spPr>
      </p:pic>
      <p:pic>
        <p:nvPicPr>
          <p:cNvPr id="22" name="図 21" descr="画像">
            <a:extLst>
              <a:ext uri="{FF2B5EF4-FFF2-40B4-BE49-F238E27FC236}">
                <a16:creationId xmlns:a16="http://schemas.microsoft.com/office/drawing/2014/main" id="{0CE689E8-F3D2-24FA-7874-6D651BBF1B12}"/>
              </a:ext>
            </a:extLst>
          </p:cNvPr>
          <p:cNvPicPr>
            <a:picLocks noChangeAspect="1"/>
          </p:cNvPicPr>
          <p:nvPr/>
        </p:nvPicPr>
        <p:blipFill>
          <a:blip r:embed="rId4"/>
          <a:srcRect t="17592" b="15670"/>
          <a:stretch>
            <a:fillRect/>
          </a:stretch>
        </p:blipFill>
        <p:spPr>
          <a:xfrm>
            <a:off x="10622128" y="5464258"/>
            <a:ext cx="1431644" cy="1273358"/>
          </a:xfrm>
          <a:prstGeom prst="rect">
            <a:avLst/>
          </a:prstGeom>
        </p:spPr>
      </p:pic>
      <p:pic>
        <p:nvPicPr>
          <p:cNvPr id="23" name="図 22" descr="画像">
            <a:extLst>
              <a:ext uri="{FF2B5EF4-FFF2-40B4-BE49-F238E27FC236}">
                <a16:creationId xmlns:a16="http://schemas.microsoft.com/office/drawing/2014/main" id="{D154A6EC-05A4-CD67-8B49-869BBF785453}"/>
              </a:ext>
            </a:extLst>
          </p:cNvPr>
          <p:cNvPicPr>
            <a:picLocks noChangeAspect="1"/>
          </p:cNvPicPr>
          <p:nvPr/>
        </p:nvPicPr>
        <p:blipFill>
          <a:blip r:embed="rId5"/>
          <a:srcRect l="20075" t="27409" r="8915" b="20154"/>
          <a:stretch>
            <a:fillRect/>
          </a:stretch>
        </p:blipFill>
        <p:spPr>
          <a:xfrm>
            <a:off x="9093036" y="994519"/>
            <a:ext cx="2823957" cy="1569661"/>
          </a:xfrm>
          <a:prstGeom prst="rect">
            <a:avLst/>
          </a:prstGeom>
        </p:spPr>
      </p:pic>
      <p:sp>
        <p:nvSpPr>
          <p:cNvPr id="5" name="テキスト ボックス 4">
            <a:extLst>
              <a:ext uri="{FF2B5EF4-FFF2-40B4-BE49-F238E27FC236}">
                <a16:creationId xmlns:a16="http://schemas.microsoft.com/office/drawing/2014/main" id="{D192FF48-D6EA-31B8-1D60-195F2E4AFCCA}"/>
              </a:ext>
            </a:extLst>
          </p:cNvPr>
          <p:cNvSpPr txBox="1"/>
          <p:nvPr/>
        </p:nvSpPr>
        <p:spPr>
          <a:xfrm>
            <a:off x="9364400" y="2556432"/>
            <a:ext cx="2271008" cy="338554"/>
          </a:xfrm>
          <a:prstGeom prst="rect">
            <a:avLst/>
          </a:prstGeom>
          <a:noFill/>
        </p:spPr>
        <p:txBody>
          <a:bodyPr wrap="square">
            <a:spAutoFit/>
          </a:bodyPr>
          <a:lstStyle/>
          <a:p>
            <a:r>
              <a:rPr lang="en" altLang="ja-JP" sz="1600" dirty="0">
                <a:solidFill>
                  <a:prstClr val="black"/>
                </a:solidFill>
              </a:rPr>
              <a:t>Fig2. FRP test </a:t>
            </a:r>
            <a:r>
              <a:rPr lang="en" altLang="ja-JP" sz="1600" dirty="0" err="1">
                <a:solidFill>
                  <a:prstClr val="black"/>
                </a:solidFill>
              </a:rPr>
              <a:t>pece</a:t>
            </a:r>
            <a:endParaRPr lang="ja-JP" altLang="en-US" sz="1600"/>
          </a:p>
        </p:txBody>
      </p:sp>
      <p:sp>
        <p:nvSpPr>
          <p:cNvPr id="6" name="テキスト ボックス 5">
            <a:extLst>
              <a:ext uri="{FF2B5EF4-FFF2-40B4-BE49-F238E27FC236}">
                <a16:creationId xmlns:a16="http://schemas.microsoft.com/office/drawing/2014/main" id="{6B36AD99-1C2B-E309-1908-5182C4C2EE5B}"/>
              </a:ext>
            </a:extLst>
          </p:cNvPr>
          <p:cNvSpPr txBox="1"/>
          <p:nvPr/>
        </p:nvSpPr>
        <p:spPr>
          <a:xfrm>
            <a:off x="8350610" y="5571304"/>
            <a:ext cx="2271008" cy="830997"/>
          </a:xfrm>
          <a:prstGeom prst="rect">
            <a:avLst/>
          </a:prstGeom>
          <a:noFill/>
        </p:spPr>
        <p:txBody>
          <a:bodyPr wrap="square">
            <a:spAutoFit/>
          </a:bodyPr>
          <a:lstStyle/>
          <a:p>
            <a:r>
              <a:rPr lang="ja-JP" altLang="en-US" sz="1600">
                <a:solidFill>
                  <a:prstClr val="black"/>
                </a:solidFill>
              </a:rPr>
              <a:t>←</a:t>
            </a:r>
            <a:r>
              <a:rPr lang="en" altLang="ja-JP" sz="1600" dirty="0">
                <a:solidFill>
                  <a:prstClr val="black"/>
                </a:solidFill>
              </a:rPr>
              <a:t>Fig3. </a:t>
            </a:r>
            <a:r>
              <a:rPr lang="en" altLang="ja-JP" sz="1600" dirty="0" err="1">
                <a:solidFill>
                  <a:prstClr val="black"/>
                </a:solidFill>
              </a:rPr>
              <a:t>VaRTM</a:t>
            </a:r>
            <a:r>
              <a:rPr lang="en" altLang="ja-JP" sz="1600" dirty="0">
                <a:solidFill>
                  <a:prstClr val="black"/>
                </a:solidFill>
              </a:rPr>
              <a:t> tests</a:t>
            </a:r>
          </a:p>
          <a:p>
            <a:endParaRPr lang="en" altLang="ja-JP" sz="1600" dirty="0">
              <a:solidFill>
                <a:prstClr val="black"/>
              </a:solidFill>
            </a:endParaRPr>
          </a:p>
          <a:p>
            <a:r>
              <a:rPr lang="en" altLang="ja-JP" sz="1600" dirty="0">
                <a:solidFill>
                  <a:prstClr val="black"/>
                </a:solidFill>
              </a:rPr>
              <a:t>Fig4. CFRP test tray</a:t>
            </a:r>
            <a:r>
              <a:rPr lang="ja-JP" altLang="en-US" sz="1600">
                <a:solidFill>
                  <a:prstClr val="black"/>
                </a:solidFill>
              </a:rPr>
              <a:t>→</a:t>
            </a:r>
            <a:endParaRPr lang="ja-JP" altLang="en-US" sz="1600"/>
          </a:p>
        </p:txBody>
      </p:sp>
    </p:spTree>
    <p:extLst>
      <p:ext uri="{BB962C8B-B14F-4D97-AF65-F5344CB8AC3E}">
        <p14:creationId xmlns:p14="http://schemas.microsoft.com/office/powerpoint/2010/main" val="1987892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21A6B-3DA2-E068-4ED6-38AA0BA530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5FA9F6-F98C-5628-32C0-D07DC6F75571}"/>
              </a:ext>
            </a:extLst>
          </p:cNvPr>
          <p:cNvSpPr>
            <a:spLocks noGrp="1"/>
          </p:cNvSpPr>
          <p:nvPr>
            <p:ph type="title"/>
          </p:nvPr>
        </p:nvSpPr>
        <p:spPr/>
        <p:txBody>
          <a:bodyPr wrap="square"/>
          <a:lstStyle/>
          <a:p>
            <a:r>
              <a:rPr sz="4000" b="1" dirty="0">
                <a:latin typeface="游ゴシック"/>
                <a:ea typeface="游ゴシック"/>
                <a:cs typeface="游ゴシック"/>
              </a:rPr>
              <a:t>Aerodynamics</a:t>
            </a:r>
            <a:endParaRPr kumimoji="1" lang="ja-JP" altLang="en-US" dirty="0"/>
          </a:p>
        </p:txBody>
      </p:sp>
      <p:sp>
        <p:nvSpPr>
          <p:cNvPr id="7" name="テキスト ボックス 6">
            <a:extLst>
              <a:ext uri="{FF2B5EF4-FFF2-40B4-BE49-F238E27FC236}">
                <a16:creationId xmlns:a16="http://schemas.microsoft.com/office/drawing/2014/main" id="{199DEFAC-4F67-0E16-CE92-A92E2F0C9607}"/>
              </a:ext>
            </a:extLst>
          </p:cNvPr>
          <p:cNvSpPr txBox="1"/>
          <p:nvPr/>
        </p:nvSpPr>
        <p:spPr>
          <a:xfrm>
            <a:off x="138228" y="907916"/>
            <a:ext cx="5028132" cy="461665"/>
          </a:xfrm>
          <a:prstGeom prst="rect">
            <a:avLst/>
          </a:prstGeom>
          <a:noFill/>
        </p:spPr>
        <p:txBody>
          <a:bodyPr wrap="square" rtlCol="0">
            <a:spAutoFit/>
          </a:bodyPr>
          <a:lstStyle/>
          <a:p>
            <a:r>
              <a:rPr kumimoji="1" lang="en-US" altLang="ja-JP" sz="2400" b="1" dirty="0"/>
              <a:t>Front</a:t>
            </a:r>
            <a:r>
              <a:rPr kumimoji="1" lang="ja-JP" altLang="en-US" sz="2400" b="1"/>
              <a:t> </a:t>
            </a:r>
            <a:r>
              <a:rPr kumimoji="1" lang="en-US" altLang="ja-JP" sz="2400" b="1" dirty="0"/>
              <a:t>Wing</a:t>
            </a:r>
            <a:endParaRPr kumimoji="1" lang="ja-JP" altLang="en-US" sz="2400" b="1" dirty="0"/>
          </a:p>
        </p:txBody>
      </p:sp>
      <p:sp>
        <p:nvSpPr>
          <p:cNvPr id="4" name="Rounded Rectangle 4">
            <a:extLst>
              <a:ext uri="{FF2B5EF4-FFF2-40B4-BE49-F238E27FC236}">
                <a16:creationId xmlns:a16="http://schemas.microsoft.com/office/drawing/2014/main" id="{067B9AC8-00A1-98E4-4321-E11160876B64}"/>
              </a:ext>
            </a:extLst>
          </p:cNvPr>
          <p:cNvSpPr/>
          <p:nvPr/>
        </p:nvSpPr>
        <p:spPr>
          <a:xfrm>
            <a:off x="0" y="1303020"/>
            <a:ext cx="4206239" cy="2666870"/>
          </a:xfrm>
          <a:prstGeom prst="roundRect">
            <a:avLst/>
          </a:prstGeom>
          <a:solidFill>
            <a:srgbClr val="F2F6FA"/>
          </a:solidFill>
          <a:ln w="12700">
            <a:solidFill>
              <a:srgbClr val="5A789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spcAft>
                <a:spcPts val="100"/>
              </a:spcAft>
            </a:pPr>
            <a:r>
              <a:rPr sz="1600" b="1" dirty="0">
                <a:solidFill>
                  <a:schemeClr val="tx1"/>
                </a:solidFill>
                <a:latin typeface="游ゴシック"/>
                <a:ea typeface="游ゴシック"/>
                <a:cs typeface="游ゴシック"/>
              </a:rPr>
              <a:t>1. Target / constraints</a:t>
            </a:r>
          </a:p>
          <a:p>
            <a:pPr>
              <a:spcAft>
                <a:spcPts val="100"/>
              </a:spcAft>
            </a:pPr>
            <a:r>
              <a:rPr sz="1600" b="0" dirty="0">
                <a:solidFill>
                  <a:schemeClr val="tx1"/>
                </a:solidFill>
                <a:latin typeface="游ゴシック"/>
                <a:ea typeface="游ゴシック"/>
                <a:cs typeface="游ゴシック"/>
              </a:rPr>
              <a:t>Use different element counts inside and outside the tire-front regulated area.</a:t>
            </a:r>
          </a:p>
          <a:p>
            <a:pPr>
              <a:spcAft>
                <a:spcPts val="100"/>
              </a:spcAft>
            </a:pPr>
            <a:r>
              <a:rPr sz="1600" b="0" dirty="0">
                <a:solidFill>
                  <a:schemeClr val="tx1"/>
                </a:solidFill>
                <a:latin typeface="游ゴシック"/>
                <a:ea typeface="游ゴシック"/>
                <a:cs typeface="游ゴシック"/>
              </a:rPr>
              <a:t>Target: span 1 m, wind speed 11 m/s (= 39.6 km/h), downforce &gt;= 130 N.</a:t>
            </a:r>
          </a:p>
          <a:p>
            <a:pPr>
              <a:spcAft>
                <a:spcPts val="100"/>
              </a:spcAft>
            </a:pPr>
            <a:r>
              <a:rPr sz="1600" b="0" dirty="0">
                <a:solidFill>
                  <a:schemeClr val="tx1"/>
                </a:solidFill>
                <a:latin typeface="游ゴシック"/>
                <a:ea typeface="游ゴシック"/>
                <a:cs typeface="游ゴシック"/>
              </a:rPr>
              <a:t>Design aim: increase </a:t>
            </a:r>
            <a:r>
              <a:rPr sz="1600" b="0" dirty="0" err="1">
                <a:solidFill>
                  <a:schemeClr val="tx1"/>
                </a:solidFill>
                <a:latin typeface="游ゴシック"/>
                <a:ea typeface="游ゴシック"/>
                <a:cs typeface="游ゴシック"/>
              </a:rPr>
              <a:t>Df</a:t>
            </a:r>
            <a:r>
              <a:rPr sz="1600" b="0" dirty="0">
                <a:solidFill>
                  <a:schemeClr val="tx1"/>
                </a:solidFill>
                <a:latin typeface="游ゴシック"/>
                <a:ea typeface="游ゴシック"/>
                <a:cs typeface="游ゴシック"/>
              </a:rPr>
              <a:t> while minimizing drag; </a:t>
            </a:r>
            <a:endParaRPr lang="en-US" sz="1600" b="0" dirty="0">
              <a:solidFill>
                <a:schemeClr val="tx1"/>
              </a:solidFill>
              <a:latin typeface="游ゴシック"/>
              <a:ea typeface="游ゴシック"/>
              <a:cs typeface="游ゴシック"/>
            </a:endParaRPr>
          </a:p>
          <a:p>
            <a:pPr>
              <a:spcAft>
                <a:spcPts val="100"/>
              </a:spcAft>
            </a:pPr>
            <a:r>
              <a:rPr lang="en-US" sz="1600" dirty="0">
                <a:solidFill>
                  <a:schemeClr val="tx1"/>
                </a:solidFill>
                <a:latin typeface="游ゴシック"/>
                <a:ea typeface="游ゴシック"/>
                <a:cs typeface="游ゴシック"/>
              </a:rPr>
              <a:t>Since we focused on the machine's drive wheels </a:t>
            </a:r>
            <a:r>
              <a:rPr lang="en" sz="1600" b="0" dirty="0">
                <a:solidFill>
                  <a:schemeClr val="tx1"/>
                </a:solidFill>
                <a:latin typeface="游ゴシック"/>
                <a:ea typeface="游ゴシック"/>
                <a:cs typeface="游ゴシック"/>
              </a:rPr>
              <a:t>r</a:t>
            </a:r>
            <a:r>
              <a:rPr sz="1600" b="0" dirty="0" err="1">
                <a:solidFill>
                  <a:schemeClr val="tx1"/>
                </a:solidFill>
                <a:latin typeface="游ゴシック"/>
                <a:ea typeface="游ゴシック"/>
                <a:cs typeface="游ゴシック"/>
              </a:rPr>
              <a:t>ear:front</a:t>
            </a:r>
            <a:r>
              <a:rPr sz="1600" b="0" dirty="0">
                <a:solidFill>
                  <a:schemeClr val="tx1"/>
                </a:solidFill>
                <a:latin typeface="游ゴシック"/>
                <a:ea typeface="游ゴシック"/>
                <a:cs typeface="游ゴシック"/>
              </a:rPr>
              <a:t> aero balance guideline = 4:6</a:t>
            </a:r>
            <a:r>
              <a:rPr lang="en-US" altLang="ja-JP" sz="1600" b="0" dirty="0">
                <a:solidFill>
                  <a:schemeClr val="tx1"/>
                </a:solidFill>
                <a:latin typeface="游ゴシック"/>
                <a:ea typeface="游ゴシック"/>
                <a:cs typeface="游ゴシック"/>
              </a:rPr>
              <a:t>.</a:t>
            </a:r>
            <a:endParaRPr lang="en-US" sz="1600" dirty="0">
              <a:solidFill>
                <a:schemeClr val="tx1"/>
              </a:solidFill>
              <a:latin typeface="游ゴシック"/>
              <a:ea typeface="游ゴシック"/>
              <a:cs typeface="游ゴシック"/>
            </a:endParaRPr>
          </a:p>
        </p:txBody>
      </p:sp>
      <p:sp>
        <p:nvSpPr>
          <p:cNvPr id="11" name="Rounded Rectangle 5">
            <a:extLst>
              <a:ext uri="{FF2B5EF4-FFF2-40B4-BE49-F238E27FC236}">
                <a16:creationId xmlns:a16="http://schemas.microsoft.com/office/drawing/2014/main" id="{A35493E2-200D-B592-E0B2-6719F4D9B0C2}"/>
              </a:ext>
            </a:extLst>
          </p:cNvPr>
          <p:cNvSpPr/>
          <p:nvPr/>
        </p:nvSpPr>
        <p:spPr>
          <a:xfrm>
            <a:off x="4206240" y="1303020"/>
            <a:ext cx="3749039" cy="2713482"/>
          </a:xfrm>
          <a:prstGeom prst="roundRect">
            <a:avLst/>
          </a:prstGeom>
          <a:solidFill>
            <a:srgbClr val="F7F4EE"/>
          </a:solidFill>
          <a:ln w="12700">
            <a:solidFill>
              <a:srgbClr val="96785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spcAft>
                <a:spcPts val="100"/>
              </a:spcAft>
            </a:pPr>
            <a:r>
              <a:rPr sz="1600" b="1" dirty="0">
                <a:solidFill>
                  <a:schemeClr val="tx1"/>
                </a:solidFill>
                <a:latin typeface="游ゴシック"/>
                <a:ea typeface="游ゴシック"/>
                <a:cs typeface="游ゴシック"/>
              </a:rPr>
              <a:t>2. Solution / iteration</a:t>
            </a:r>
          </a:p>
          <a:p>
            <a:pPr>
              <a:spcAft>
                <a:spcPts val="100"/>
              </a:spcAft>
            </a:pPr>
            <a:r>
              <a:rPr sz="1600" b="0" dirty="0">
                <a:solidFill>
                  <a:schemeClr val="tx1"/>
                </a:solidFill>
                <a:latin typeface="游ゴシック"/>
                <a:ea typeface="游ゴシック"/>
                <a:cs typeface="游ゴシック"/>
              </a:rPr>
              <a:t>2D and 3D Ansys analyses measured </a:t>
            </a:r>
            <a:r>
              <a:rPr sz="1600" b="0" dirty="0" err="1">
                <a:solidFill>
                  <a:schemeClr val="tx1"/>
                </a:solidFill>
                <a:latin typeface="游ゴシック"/>
                <a:ea typeface="游ゴシック"/>
                <a:cs typeface="游ゴシック"/>
              </a:rPr>
              <a:t>Df</a:t>
            </a:r>
            <a:r>
              <a:rPr sz="1600" b="0" dirty="0">
                <a:solidFill>
                  <a:schemeClr val="tx1"/>
                </a:solidFill>
                <a:latin typeface="游ゴシック"/>
                <a:ea typeface="游ゴシック"/>
                <a:cs typeface="游ゴシック"/>
              </a:rPr>
              <a:t> and drag; SolidWorks Flow Simulation checked local airflow.</a:t>
            </a:r>
          </a:p>
          <a:p>
            <a:pPr>
              <a:spcAft>
                <a:spcPts val="100"/>
              </a:spcAft>
            </a:pPr>
            <a:r>
              <a:rPr sz="1600" b="0" dirty="0">
                <a:solidFill>
                  <a:schemeClr val="tx1"/>
                </a:solidFill>
                <a:latin typeface="游ゴシック"/>
                <a:ea typeface="游ゴシック"/>
                <a:cs typeface="游ゴシック"/>
              </a:rPr>
              <a:t>S1223 was the base low-Re airfoil, but 80 mm ride height limited ground effect.</a:t>
            </a:r>
          </a:p>
          <a:p>
            <a:pPr>
              <a:spcAft>
                <a:spcPts val="100"/>
              </a:spcAft>
            </a:pPr>
            <a:r>
              <a:rPr sz="1600" b="0" dirty="0">
                <a:solidFill>
                  <a:schemeClr val="tx1"/>
                </a:solidFill>
                <a:latin typeface="游ゴシック"/>
                <a:ea typeface="游ゴシック"/>
                <a:cs typeface="游ゴシック"/>
              </a:rPr>
              <a:t>The first tire-front (1) and inboard (2) elements were changed to E423 to suppress drag increase.</a:t>
            </a:r>
          </a:p>
        </p:txBody>
      </p:sp>
      <p:sp>
        <p:nvSpPr>
          <p:cNvPr id="15" name="Rounded Rectangle 6">
            <a:extLst>
              <a:ext uri="{FF2B5EF4-FFF2-40B4-BE49-F238E27FC236}">
                <a16:creationId xmlns:a16="http://schemas.microsoft.com/office/drawing/2014/main" id="{73B8F365-6EF4-B315-9236-58761443DB27}"/>
              </a:ext>
            </a:extLst>
          </p:cNvPr>
          <p:cNvSpPr/>
          <p:nvPr/>
        </p:nvSpPr>
        <p:spPr>
          <a:xfrm>
            <a:off x="7955279" y="1303020"/>
            <a:ext cx="4236721" cy="2072961"/>
          </a:xfrm>
          <a:prstGeom prst="roundRect">
            <a:avLst/>
          </a:prstGeom>
          <a:solidFill>
            <a:srgbClr val="F1F7F3"/>
          </a:solidFill>
          <a:ln w="12700">
            <a:solidFill>
              <a:srgbClr val="50875F"/>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spcAft>
                <a:spcPts val="100"/>
              </a:spcAft>
            </a:pPr>
            <a:r>
              <a:rPr sz="1600" b="1" dirty="0">
                <a:solidFill>
                  <a:schemeClr val="tx1"/>
                </a:solidFill>
                <a:latin typeface="游ゴシック"/>
                <a:ea typeface="游ゴシック"/>
                <a:cs typeface="游ゴシック"/>
              </a:rPr>
              <a:t>3. Evaluation / final result</a:t>
            </a:r>
          </a:p>
          <a:p>
            <a:pPr>
              <a:spcAft>
                <a:spcPts val="100"/>
              </a:spcAft>
            </a:pPr>
            <a:r>
              <a:rPr sz="1600" b="0" dirty="0">
                <a:solidFill>
                  <a:schemeClr val="tx1"/>
                </a:solidFill>
                <a:latin typeface="游ゴシック"/>
                <a:ea typeface="游ゴシック"/>
                <a:cs typeface="游ゴシック"/>
              </a:rPr>
              <a:t>Configuration checks: 129.08 N / 23.00 N drag and 110.76 N / 20.83 N drag.</a:t>
            </a:r>
          </a:p>
          <a:p>
            <a:pPr>
              <a:spcAft>
                <a:spcPts val="100"/>
              </a:spcAft>
            </a:pPr>
            <a:r>
              <a:rPr sz="1600" b="0" dirty="0">
                <a:solidFill>
                  <a:schemeClr val="tx1"/>
                </a:solidFill>
                <a:latin typeface="游ゴシック"/>
                <a:ea typeface="游ゴシック"/>
                <a:cs typeface="游ゴシック"/>
              </a:rPr>
              <a:t>Final evaluated result at span 1 m and 11 m/s: </a:t>
            </a:r>
            <a:r>
              <a:rPr sz="1600" b="0" dirty="0" err="1">
                <a:solidFill>
                  <a:schemeClr val="tx1"/>
                </a:solidFill>
                <a:latin typeface="游ゴシック"/>
                <a:ea typeface="游ゴシック"/>
                <a:cs typeface="游ゴシック"/>
              </a:rPr>
              <a:t>Df</a:t>
            </a:r>
            <a:r>
              <a:rPr sz="1600" b="0" dirty="0">
                <a:solidFill>
                  <a:schemeClr val="tx1"/>
                </a:solidFill>
                <a:latin typeface="游ゴシック"/>
                <a:ea typeface="游ゴシック"/>
                <a:cs typeface="游ゴシック"/>
              </a:rPr>
              <a:t> = -122 N, drag = 23.7183 N.</a:t>
            </a:r>
          </a:p>
          <a:p>
            <a:pPr>
              <a:spcAft>
                <a:spcPts val="100"/>
              </a:spcAft>
            </a:pPr>
            <a:r>
              <a:rPr sz="1600" b="0" dirty="0">
                <a:solidFill>
                  <a:schemeClr val="tx1"/>
                </a:solidFill>
                <a:latin typeface="游ゴシック"/>
                <a:ea typeface="游ゴシック"/>
                <a:cs typeface="游ゴシック"/>
              </a:rPr>
              <a:t>Ribs secure wing strength; the FB-lower section is flat to avoid IA/frame interference in collision.</a:t>
            </a:r>
          </a:p>
        </p:txBody>
      </p:sp>
      <p:sp>
        <p:nvSpPr>
          <p:cNvPr id="18" name="TextBox 7">
            <a:extLst>
              <a:ext uri="{FF2B5EF4-FFF2-40B4-BE49-F238E27FC236}">
                <a16:creationId xmlns:a16="http://schemas.microsoft.com/office/drawing/2014/main" id="{CFD5D0A6-D4FD-FBAE-A2E2-7849631F9038}"/>
              </a:ext>
            </a:extLst>
          </p:cNvPr>
          <p:cNvSpPr txBox="1"/>
          <p:nvPr/>
        </p:nvSpPr>
        <p:spPr>
          <a:xfrm>
            <a:off x="-75438" y="4016502"/>
            <a:ext cx="2148840" cy="338554"/>
          </a:xfrm>
          <a:prstGeom prst="rect">
            <a:avLst/>
          </a:prstGeom>
          <a:noFill/>
        </p:spPr>
        <p:txBody>
          <a:bodyPr wrap="square">
            <a:spAutoFit/>
          </a:bodyPr>
          <a:lstStyle/>
          <a:p>
            <a:r>
              <a:rPr sz="1600" b="1" dirty="0">
                <a:latin typeface="游ゴシック"/>
                <a:ea typeface="游ゴシック"/>
                <a:cs typeface="游ゴシック"/>
              </a:rPr>
              <a:t>Regulation concept</a:t>
            </a:r>
          </a:p>
        </p:txBody>
      </p:sp>
      <p:pic>
        <p:nvPicPr>
          <p:cNvPr id="19" name="Picture 8" descr="image.png">
            <a:extLst>
              <a:ext uri="{FF2B5EF4-FFF2-40B4-BE49-F238E27FC236}">
                <a16:creationId xmlns:a16="http://schemas.microsoft.com/office/drawing/2014/main" id="{64FD2DB6-6C83-BFEB-375B-F8C61EED6F9E}"/>
              </a:ext>
            </a:extLst>
          </p:cNvPr>
          <p:cNvPicPr>
            <a:picLocks noChangeAspect="1"/>
          </p:cNvPicPr>
          <p:nvPr/>
        </p:nvPicPr>
        <p:blipFill>
          <a:blip r:embed="rId3"/>
          <a:stretch>
            <a:fillRect/>
          </a:stretch>
        </p:blipFill>
        <p:spPr>
          <a:xfrm>
            <a:off x="285750" y="4347972"/>
            <a:ext cx="1581912" cy="795459"/>
          </a:xfrm>
          <a:prstGeom prst="rect">
            <a:avLst/>
          </a:prstGeom>
        </p:spPr>
      </p:pic>
      <p:sp>
        <p:nvSpPr>
          <p:cNvPr id="20" name="TextBox 9">
            <a:extLst>
              <a:ext uri="{FF2B5EF4-FFF2-40B4-BE49-F238E27FC236}">
                <a16:creationId xmlns:a16="http://schemas.microsoft.com/office/drawing/2014/main" id="{4C200B5D-83A0-C78F-EE6D-693BC156CC48}"/>
              </a:ext>
            </a:extLst>
          </p:cNvPr>
          <p:cNvSpPr txBox="1"/>
          <p:nvPr/>
        </p:nvSpPr>
        <p:spPr>
          <a:xfrm>
            <a:off x="2125980" y="4016502"/>
            <a:ext cx="2011680" cy="338554"/>
          </a:xfrm>
          <a:prstGeom prst="rect">
            <a:avLst/>
          </a:prstGeom>
          <a:noFill/>
        </p:spPr>
        <p:txBody>
          <a:bodyPr wrap="square">
            <a:spAutoFit/>
          </a:bodyPr>
          <a:lstStyle/>
          <a:p>
            <a:r>
              <a:rPr sz="1600" b="1">
                <a:latin typeface="游ゴシック"/>
                <a:ea typeface="游ゴシック"/>
                <a:cs typeface="游ゴシック"/>
              </a:rPr>
              <a:t>Airfoil / structure</a:t>
            </a:r>
          </a:p>
        </p:txBody>
      </p:sp>
      <p:pic>
        <p:nvPicPr>
          <p:cNvPr id="21" name="Picture 10" descr="image.png">
            <a:extLst>
              <a:ext uri="{FF2B5EF4-FFF2-40B4-BE49-F238E27FC236}">
                <a16:creationId xmlns:a16="http://schemas.microsoft.com/office/drawing/2014/main" id="{FFDED3E9-C1D9-1F6A-CC7C-8F374000296E}"/>
              </a:ext>
            </a:extLst>
          </p:cNvPr>
          <p:cNvPicPr>
            <a:picLocks noChangeAspect="1"/>
          </p:cNvPicPr>
          <p:nvPr/>
        </p:nvPicPr>
        <p:blipFill>
          <a:blip r:embed="rId4"/>
          <a:stretch>
            <a:fillRect/>
          </a:stretch>
        </p:blipFill>
        <p:spPr>
          <a:xfrm>
            <a:off x="1936242" y="4320540"/>
            <a:ext cx="2148840" cy="1448302"/>
          </a:xfrm>
          <a:prstGeom prst="rect">
            <a:avLst/>
          </a:prstGeom>
        </p:spPr>
      </p:pic>
      <p:sp>
        <p:nvSpPr>
          <p:cNvPr id="22" name="TextBox 11">
            <a:extLst>
              <a:ext uri="{FF2B5EF4-FFF2-40B4-BE49-F238E27FC236}">
                <a16:creationId xmlns:a16="http://schemas.microsoft.com/office/drawing/2014/main" id="{0B545089-1FC5-6826-6DE4-C2DB4CFEACF4}"/>
              </a:ext>
            </a:extLst>
          </p:cNvPr>
          <p:cNvSpPr txBox="1"/>
          <p:nvPr/>
        </p:nvSpPr>
        <p:spPr>
          <a:xfrm>
            <a:off x="4302252" y="4016502"/>
            <a:ext cx="1965960" cy="338554"/>
          </a:xfrm>
          <a:prstGeom prst="rect">
            <a:avLst/>
          </a:prstGeom>
          <a:noFill/>
        </p:spPr>
        <p:txBody>
          <a:bodyPr wrap="square">
            <a:spAutoFit/>
          </a:bodyPr>
          <a:lstStyle/>
          <a:p>
            <a:r>
              <a:rPr sz="1600" b="1">
                <a:latin typeface="游ゴシック"/>
                <a:ea typeface="游ゴシック"/>
                <a:cs typeface="游ゴシック"/>
              </a:rPr>
              <a:t>Config. 1</a:t>
            </a:r>
          </a:p>
        </p:txBody>
      </p:sp>
      <p:pic>
        <p:nvPicPr>
          <p:cNvPr id="23" name="Picture 12" descr="image.png">
            <a:extLst>
              <a:ext uri="{FF2B5EF4-FFF2-40B4-BE49-F238E27FC236}">
                <a16:creationId xmlns:a16="http://schemas.microsoft.com/office/drawing/2014/main" id="{E4025EC9-4AD0-001F-DCB9-6A702D717CBC}"/>
              </a:ext>
            </a:extLst>
          </p:cNvPr>
          <p:cNvPicPr>
            <a:picLocks noChangeAspect="1"/>
          </p:cNvPicPr>
          <p:nvPr/>
        </p:nvPicPr>
        <p:blipFill>
          <a:blip r:embed="rId5"/>
          <a:stretch>
            <a:fillRect/>
          </a:stretch>
        </p:blipFill>
        <p:spPr>
          <a:xfrm>
            <a:off x="4121658" y="4320540"/>
            <a:ext cx="2148840" cy="926899"/>
          </a:xfrm>
          <a:prstGeom prst="rect">
            <a:avLst/>
          </a:prstGeom>
        </p:spPr>
      </p:pic>
      <p:sp>
        <p:nvSpPr>
          <p:cNvPr id="24" name="TextBox 13">
            <a:extLst>
              <a:ext uri="{FF2B5EF4-FFF2-40B4-BE49-F238E27FC236}">
                <a16:creationId xmlns:a16="http://schemas.microsoft.com/office/drawing/2014/main" id="{B5FD1C51-CEFF-4D83-196C-9717EC04973F}"/>
              </a:ext>
            </a:extLst>
          </p:cNvPr>
          <p:cNvSpPr txBox="1"/>
          <p:nvPr/>
        </p:nvSpPr>
        <p:spPr>
          <a:xfrm>
            <a:off x="4121658" y="5292090"/>
            <a:ext cx="2148840" cy="584775"/>
          </a:xfrm>
          <a:prstGeom prst="rect">
            <a:avLst/>
          </a:prstGeom>
          <a:noFill/>
        </p:spPr>
        <p:txBody>
          <a:bodyPr wrap="square">
            <a:spAutoFit/>
          </a:bodyPr>
          <a:lstStyle/>
          <a:p>
            <a:pPr algn="ctr"/>
            <a:r>
              <a:rPr sz="1600" b="1" dirty="0" err="1">
                <a:latin typeface="游ゴシック"/>
                <a:ea typeface="游ゴシック"/>
                <a:cs typeface="游ゴシック"/>
              </a:rPr>
              <a:t>Df</a:t>
            </a:r>
            <a:r>
              <a:rPr sz="1600" b="1" dirty="0">
                <a:latin typeface="游ゴシック"/>
                <a:ea typeface="游ゴシック"/>
                <a:cs typeface="游ゴシック"/>
              </a:rPr>
              <a:t> 129.08 N / drag 23.00 N</a:t>
            </a:r>
          </a:p>
        </p:txBody>
      </p:sp>
      <p:sp>
        <p:nvSpPr>
          <p:cNvPr id="25" name="TextBox 14">
            <a:extLst>
              <a:ext uri="{FF2B5EF4-FFF2-40B4-BE49-F238E27FC236}">
                <a16:creationId xmlns:a16="http://schemas.microsoft.com/office/drawing/2014/main" id="{677A1AE7-A6F8-7D51-7318-76F2C9B3134D}"/>
              </a:ext>
            </a:extLst>
          </p:cNvPr>
          <p:cNvSpPr txBox="1"/>
          <p:nvPr/>
        </p:nvSpPr>
        <p:spPr>
          <a:xfrm>
            <a:off x="6496812" y="4016502"/>
            <a:ext cx="1965960" cy="338554"/>
          </a:xfrm>
          <a:prstGeom prst="rect">
            <a:avLst/>
          </a:prstGeom>
          <a:noFill/>
        </p:spPr>
        <p:txBody>
          <a:bodyPr wrap="square">
            <a:spAutoFit/>
          </a:bodyPr>
          <a:lstStyle/>
          <a:p>
            <a:r>
              <a:rPr sz="1600" b="1" dirty="0">
                <a:latin typeface="游ゴシック"/>
                <a:ea typeface="游ゴシック"/>
                <a:cs typeface="游ゴシック"/>
              </a:rPr>
              <a:t>Config. 2</a:t>
            </a:r>
          </a:p>
        </p:txBody>
      </p:sp>
      <p:pic>
        <p:nvPicPr>
          <p:cNvPr id="26" name="Picture 15" descr="image.png">
            <a:extLst>
              <a:ext uri="{FF2B5EF4-FFF2-40B4-BE49-F238E27FC236}">
                <a16:creationId xmlns:a16="http://schemas.microsoft.com/office/drawing/2014/main" id="{F91700C8-A10C-0EE2-695A-C35C7375DB13}"/>
              </a:ext>
            </a:extLst>
          </p:cNvPr>
          <p:cNvPicPr>
            <a:picLocks noChangeAspect="1"/>
          </p:cNvPicPr>
          <p:nvPr/>
        </p:nvPicPr>
        <p:blipFill>
          <a:blip r:embed="rId6"/>
          <a:stretch>
            <a:fillRect/>
          </a:stretch>
        </p:blipFill>
        <p:spPr>
          <a:xfrm>
            <a:off x="6307074" y="4320540"/>
            <a:ext cx="2331720" cy="813640"/>
          </a:xfrm>
          <a:prstGeom prst="rect">
            <a:avLst/>
          </a:prstGeom>
        </p:spPr>
      </p:pic>
      <p:sp>
        <p:nvSpPr>
          <p:cNvPr id="27" name="TextBox 16">
            <a:extLst>
              <a:ext uri="{FF2B5EF4-FFF2-40B4-BE49-F238E27FC236}">
                <a16:creationId xmlns:a16="http://schemas.microsoft.com/office/drawing/2014/main" id="{FB83B15C-8A45-0417-0066-DD6A4498F7BB}"/>
              </a:ext>
            </a:extLst>
          </p:cNvPr>
          <p:cNvSpPr txBox="1"/>
          <p:nvPr/>
        </p:nvSpPr>
        <p:spPr>
          <a:xfrm>
            <a:off x="6297930" y="5292090"/>
            <a:ext cx="2423160" cy="584775"/>
          </a:xfrm>
          <a:prstGeom prst="rect">
            <a:avLst/>
          </a:prstGeom>
          <a:noFill/>
        </p:spPr>
        <p:txBody>
          <a:bodyPr wrap="square">
            <a:spAutoFit/>
          </a:bodyPr>
          <a:lstStyle/>
          <a:p>
            <a:pPr algn="ctr"/>
            <a:r>
              <a:rPr sz="1600" b="1">
                <a:latin typeface="游ゴシック"/>
                <a:ea typeface="游ゴシック"/>
                <a:cs typeface="游ゴシック"/>
              </a:rPr>
              <a:t>Df 110.76 N / drag 20.83 N</a:t>
            </a:r>
          </a:p>
        </p:txBody>
      </p:sp>
      <p:sp>
        <p:nvSpPr>
          <p:cNvPr id="28" name="TextBox 17">
            <a:extLst>
              <a:ext uri="{FF2B5EF4-FFF2-40B4-BE49-F238E27FC236}">
                <a16:creationId xmlns:a16="http://schemas.microsoft.com/office/drawing/2014/main" id="{18ECAE0C-9976-B520-D654-6A78CAB8E6DE}"/>
              </a:ext>
            </a:extLst>
          </p:cNvPr>
          <p:cNvSpPr txBox="1"/>
          <p:nvPr/>
        </p:nvSpPr>
        <p:spPr>
          <a:xfrm>
            <a:off x="8892540" y="3330702"/>
            <a:ext cx="2240280" cy="338554"/>
          </a:xfrm>
          <a:prstGeom prst="rect">
            <a:avLst/>
          </a:prstGeom>
          <a:noFill/>
        </p:spPr>
        <p:txBody>
          <a:bodyPr wrap="square">
            <a:spAutoFit/>
          </a:bodyPr>
          <a:lstStyle/>
          <a:p>
            <a:r>
              <a:rPr sz="1600" b="1" dirty="0">
                <a:latin typeface="游ゴシック"/>
                <a:ea typeface="游ゴシック"/>
                <a:cs typeface="游ゴシック"/>
              </a:rPr>
              <a:t>Final position table</a:t>
            </a:r>
          </a:p>
        </p:txBody>
      </p:sp>
      <p:pic>
        <p:nvPicPr>
          <p:cNvPr id="29" name="Picture 18" descr="image.png">
            <a:extLst>
              <a:ext uri="{FF2B5EF4-FFF2-40B4-BE49-F238E27FC236}">
                <a16:creationId xmlns:a16="http://schemas.microsoft.com/office/drawing/2014/main" id="{0059CBEF-AAFE-8A1A-107A-96B1EBB037FA}"/>
              </a:ext>
            </a:extLst>
          </p:cNvPr>
          <p:cNvPicPr>
            <a:picLocks noChangeAspect="1"/>
          </p:cNvPicPr>
          <p:nvPr/>
        </p:nvPicPr>
        <p:blipFill>
          <a:blip r:embed="rId7"/>
          <a:stretch>
            <a:fillRect/>
          </a:stretch>
        </p:blipFill>
        <p:spPr>
          <a:xfrm>
            <a:off x="8721089" y="3698748"/>
            <a:ext cx="3376863" cy="584774"/>
          </a:xfrm>
          <a:prstGeom prst="rect">
            <a:avLst/>
          </a:prstGeom>
        </p:spPr>
      </p:pic>
      <p:sp>
        <p:nvSpPr>
          <p:cNvPr id="30" name="Rectangle 19">
            <a:extLst>
              <a:ext uri="{FF2B5EF4-FFF2-40B4-BE49-F238E27FC236}">
                <a16:creationId xmlns:a16="http://schemas.microsoft.com/office/drawing/2014/main" id="{59AF0D91-4691-3819-5575-7459804E97E0}"/>
              </a:ext>
            </a:extLst>
          </p:cNvPr>
          <p:cNvSpPr/>
          <p:nvPr/>
        </p:nvSpPr>
        <p:spPr>
          <a:xfrm>
            <a:off x="320040" y="5810679"/>
            <a:ext cx="11503152" cy="1010745"/>
          </a:xfrm>
          <a:prstGeom prst="rect">
            <a:avLst/>
          </a:prstGeom>
          <a:solidFill>
            <a:srgbClr val="FFFFFF"/>
          </a:solidFill>
          <a:ln w="12700">
            <a:solidFill>
              <a:srgbClr val="5A5A5A"/>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spcAft>
                <a:spcPts val="100"/>
              </a:spcAft>
            </a:pPr>
            <a:r>
              <a:rPr sz="1600" b="1" dirty="0">
                <a:solidFill>
                  <a:schemeClr val="tx1"/>
                </a:solidFill>
                <a:latin typeface="游ゴシック"/>
                <a:ea typeface="游ゴシック"/>
                <a:cs typeface="游ゴシック"/>
              </a:rPr>
              <a:t>Conclusion</a:t>
            </a:r>
          </a:p>
          <a:p>
            <a:pPr>
              <a:spcAft>
                <a:spcPts val="100"/>
              </a:spcAft>
            </a:pPr>
            <a:r>
              <a:rPr sz="1600" b="0" dirty="0">
                <a:solidFill>
                  <a:schemeClr val="tx1"/>
                </a:solidFill>
                <a:latin typeface="游ゴシック"/>
                <a:ea typeface="游ゴシック"/>
                <a:cs typeface="游ゴシック"/>
              </a:rPr>
              <a:t>The front wing target was set from a 130 N downforce requirement at 1 m span and 11 m/s. The design was solved by iterating element count, airfoil choice, and wing position under regulation constraints, then evaluated by </a:t>
            </a:r>
            <a:r>
              <a:rPr sz="1600" b="0" dirty="0" err="1">
                <a:solidFill>
                  <a:schemeClr val="tx1"/>
                </a:solidFill>
                <a:latin typeface="游ゴシック"/>
                <a:ea typeface="游ゴシック"/>
                <a:cs typeface="游ゴシック"/>
              </a:rPr>
              <a:t>Df</a:t>
            </a:r>
            <a:r>
              <a:rPr sz="1600" b="0" dirty="0">
                <a:solidFill>
                  <a:schemeClr val="tx1"/>
                </a:solidFill>
                <a:latin typeface="游ゴシック"/>
                <a:ea typeface="游ゴシック"/>
                <a:cs typeface="游ゴシック"/>
              </a:rPr>
              <a:t>/drag analysis and manufacturability/impact-clearance checks.</a:t>
            </a:r>
          </a:p>
        </p:txBody>
      </p:sp>
      <p:pic>
        <p:nvPicPr>
          <p:cNvPr id="31" name="図 30" descr="オレンジ, 座る, 水, 探す が含まれている画像&#10;&#10;AI 生成コンテンツは誤りを含む可能性があります。">
            <a:extLst>
              <a:ext uri="{FF2B5EF4-FFF2-40B4-BE49-F238E27FC236}">
                <a16:creationId xmlns:a16="http://schemas.microsoft.com/office/drawing/2014/main" id="{8C7468FE-7F39-5903-2458-F08FA40BBC92}"/>
              </a:ext>
            </a:extLst>
          </p:cNvPr>
          <p:cNvPicPr>
            <a:picLocks noChangeAspect="1"/>
          </p:cNvPicPr>
          <p:nvPr/>
        </p:nvPicPr>
        <p:blipFill>
          <a:blip r:embed="rId8"/>
          <a:stretch>
            <a:fillRect/>
          </a:stretch>
        </p:blipFill>
        <p:spPr>
          <a:xfrm>
            <a:off x="9254169" y="4585370"/>
            <a:ext cx="2310701" cy="1183472"/>
          </a:xfrm>
          <a:prstGeom prst="rect">
            <a:avLst/>
          </a:prstGeom>
        </p:spPr>
      </p:pic>
      <p:sp>
        <p:nvSpPr>
          <p:cNvPr id="33" name="テキスト ボックス 32">
            <a:extLst>
              <a:ext uri="{FF2B5EF4-FFF2-40B4-BE49-F238E27FC236}">
                <a16:creationId xmlns:a16="http://schemas.microsoft.com/office/drawing/2014/main" id="{7F58A224-14C0-ECC6-8406-168EC9DDCFDE}"/>
              </a:ext>
            </a:extLst>
          </p:cNvPr>
          <p:cNvSpPr txBox="1"/>
          <p:nvPr/>
        </p:nvSpPr>
        <p:spPr>
          <a:xfrm>
            <a:off x="8974746" y="4296892"/>
            <a:ext cx="2931504" cy="369332"/>
          </a:xfrm>
          <a:prstGeom prst="rect">
            <a:avLst/>
          </a:prstGeom>
          <a:noFill/>
        </p:spPr>
        <p:txBody>
          <a:bodyPr wrap="square">
            <a:spAutoFit/>
          </a:bodyPr>
          <a:lstStyle/>
          <a:p>
            <a:pPr algn="ctr"/>
            <a:r>
              <a:rPr lang="en" altLang="ja-JP" sz="1800" b="1" dirty="0">
                <a:latin typeface="游ゴシック"/>
                <a:ea typeface="游ゴシック"/>
                <a:cs typeface="游ゴシック"/>
              </a:rPr>
              <a:t>Visualization </a:t>
            </a:r>
            <a:r>
              <a:rPr lang="en" altLang="ja-JP" b="1" dirty="0"/>
              <a:t>Flow Field</a:t>
            </a:r>
            <a:endParaRPr lang="ja-JP" altLang="en-US" b="1"/>
          </a:p>
        </p:txBody>
      </p:sp>
    </p:spTree>
    <p:extLst>
      <p:ext uri="{BB962C8B-B14F-4D97-AF65-F5344CB8AC3E}">
        <p14:creationId xmlns:p14="http://schemas.microsoft.com/office/powerpoint/2010/main" val="3312273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116AE-BBBE-BD1E-48D1-FA6B439B43D1}"/>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8F1BB135-EBF4-BB07-336F-9899F1C83303}"/>
              </a:ext>
            </a:extLst>
          </p:cNvPr>
          <p:cNvSpPr txBox="1"/>
          <p:nvPr/>
        </p:nvSpPr>
        <p:spPr>
          <a:xfrm>
            <a:off x="1856908" y="1034717"/>
            <a:ext cx="4909923" cy="338554"/>
          </a:xfrm>
          <a:prstGeom prst="rect">
            <a:avLst/>
          </a:prstGeom>
          <a:noFill/>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First, the design process is outlined below.</a:t>
            </a:r>
            <a:endParaRPr kumimoji="1" lang="ja-JP" altLang="en-US" sz="1600" dirty="0">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588D0BA3-C132-51D2-03A7-5F69576DCD83}"/>
              </a:ext>
            </a:extLst>
          </p:cNvPr>
          <p:cNvSpPr txBox="1"/>
          <p:nvPr/>
        </p:nvSpPr>
        <p:spPr>
          <a:xfrm>
            <a:off x="138228" y="1493012"/>
            <a:ext cx="5865409" cy="830997"/>
          </a:xfrm>
          <a:prstGeom prst="rect">
            <a:avLst/>
          </a:prstGeom>
          <a:noFill/>
          <a:ln>
            <a:solidFill>
              <a:srgbClr val="4E95D9"/>
            </a:solidFill>
          </a:ln>
        </p:spPr>
        <p:txBody>
          <a:bodyPr wrap="square" rtlCol="0">
            <a:spAutoFit/>
          </a:bodyPr>
          <a:lstStyle/>
          <a:p>
            <a:r>
              <a:rPr kumimoji="1" lang="ja-JP" altLang="en-US" sz="1600" dirty="0">
                <a:latin typeface="游ゴシック" panose="020B0400000000000000" pitchFamily="50" charset="-128"/>
                <a:ea typeface="游ゴシック" panose="020B0400000000000000" pitchFamily="50" charset="-128"/>
              </a:rPr>
              <a:t>１．</a:t>
            </a:r>
            <a:r>
              <a:rPr lang="en-US" altLang="ja-JP" sz="1600" dirty="0">
                <a:latin typeface="游ゴシック" panose="020B0400000000000000" pitchFamily="50" charset="-128"/>
                <a:ea typeface="游ゴシック" panose="020B0400000000000000" pitchFamily="50" charset="-128"/>
              </a:rPr>
              <a:t>Selection of Airfoil and Determination of Angle of Attack</a:t>
            </a:r>
          </a:p>
          <a:p>
            <a:r>
              <a:rPr lang="ja-JP" altLang="en-US" sz="1600" dirty="0">
                <a:latin typeface="游ゴシック" panose="020B0400000000000000" pitchFamily="50" charset="-128"/>
                <a:ea typeface="游ゴシック" panose="020B0400000000000000" pitchFamily="50" charset="-128"/>
              </a:rPr>
              <a:t>２．</a:t>
            </a:r>
            <a:r>
              <a:rPr lang="en-US" altLang="ja-JP" sz="1600" dirty="0">
                <a:latin typeface="游ゴシック" panose="020B0400000000000000" pitchFamily="50" charset="-128"/>
                <a:ea typeface="游ゴシック" panose="020B0400000000000000" pitchFamily="50" charset="-128"/>
              </a:rPr>
              <a:t> Determining Slot Gaps and Overlaps</a:t>
            </a:r>
          </a:p>
          <a:p>
            <a:r>
              <a:rPr lang="ja-JP" altLang="en-US" sz="1600" dirty="0">
                <a:latin typeface="游ゴシック" panose="020B0400000000000000" pitchFamily="50" charset="-128"/>
                <a:ea typeface="游ゴシック" panose="020B0400000000000000" pitchFamily="50" charset="-128"/>
              </a:rPr>
              <a:t>３．</a:t>
            </a:r>
            <a:r>
              <a:rPr lang="en-US" altLang="ja-JP" sz="1600" dirty="0">
                <a:latin typeface="游ゴシック" panose="020B0400000000000000" pitchFamily="50" charset="-128"/>
                <a:ea typeface="游ゴシック" panose="020B0400000000000000" pitchFamily="50" charset="-128"/>
              </a:rPr>
              <a:t> 3D Modeling</a:t>
            </a:r>
          </a:p>
        </p:txBody>
      </p:sp>
      <p:sp>
        <p:nvSpPr>
          <p:cNvPr id="5" name="四角形: 角を丸くする 4">
            <a:extLst>
              <a:ext uri="{FF2B5EF4-FFF2-40B4-BE49-F238E27FC236}">
                <a16:creationId xmlns:a16="http://schemas.microsoft.com/office/drawing/2014/main" id="{044D7BA9-389B-F0D9-288E-E7603CFC8261}"/>
              </a:ext>
            </a:extLst>
          </p:cNvPr>
          <p:cNvSpPr/>
          <p:nvPr/>
        </p:nvSpPr>
        <p:spPr>
          <a:xfrm>
            <a:off x="30656" y="2551814"/>
            <a:ext cx="6736175" cy="4274473"/>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6F01E3B3-AF0D-BADC-9AB6-ACEA55586F3E}"/>
              </a:ext>
            </a:extLst>
          </p:cNvPr>
          <p:cNvSpPr txBox="1"/>
          <p:nvPr/>
        </p:nvSpPr>
        <p:spPr>
          <a:xfrm>
            <a:off x="192651" y="2652025"/>
            <a:ext cx="6500170" cy="4093428"/>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１</a:t>
            </a:r>
            <a:r>
              <a:rPr lang="en-US" altLang="ja-JP" b="1" dirty="0">
                <a:latin typeface="游ゴシック" panose="020B0400000000000000" pitchFamily="50" charset="-128"/>
                <a:ea typeface="游ゴシック" panose="020B0400000000000000" pitchFamily="50" charset="-128"/>
              </a:rPr>
              <a:t>.</a:t>
            </a:r>
            <a:r>
              <a:rPr lang="ja-JP" altLang="en-US" b="1" dirty="0">
                <a:latin typeface="游ゴシック" panose="020B0400000000000000" pitchFamily="50" charset="-128"/>
                <a:ea typeface="游ゴシック" panose="020B0400000000000000" pitchFamily="50" charset="-128"/>
              </a:rPr>
              <a:t> </a:t>
            </a:r>
            <a:r>
              <a:rPr lang="en-US" altLang="ja-JP" b="1" dirty="0">
                <a:latin typeface="游ゴシック" panose="020B0400000000000000" pitchFamily="50" charset="-128"/>
                <a:ea typeface="游ゴシック" panose="020B0400000000000000" pitchFamily="50" charset="-128"/>
              </a:rPr>
              <a:t>Selection of Airfoil Shapes and Determination of Angle of Attack</a:t>
            </a:r>
          </a:p>
          <a:p>
            <a:r>
              <a:rPr lang="en-US" altLang="ja-JP" sz="1600" dirty="0">
                <a:latin typeface="游ゴシック" panose="020B0400000000000000" pitchFamily="50" charset="-128"/>
                <a:ea typeface="游ゴシック" panose="020B0400000000000000" pitchFamily="50" charset="-128"/>
              </a:rPr>
              <a:t>First, the design was based exclusively on the S1223 material, which has a high lift coefficient and delivers excellent performance in the low Reynolds number range. </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We designed a three-bladed multi-element wing, assuming a span of 1000 mm. After repeatedly performing 2D analysis in Ansys while varying the angle of attack, we found that settings of </a:t>
            </a:r>
          </a:p>
          <a:p>
            <a:r>
              <a:rPr lang="en-US" altLang="ja-JP" sz="1600" dirty="0">
                <a:latin typeface="游ゴシック" panose="020B0400000000000000" pitchFamily="50" charset="-128"/>
                <a:ea typeface="游ゴシック" panose="020B0400000000000000" pitchFamily="50" charset="-128"/>
              </a:rPr>
              <a:t>0°, 30°, and  50° resulted in the lowest drag.</a:t>
            </a:r>
          </a:p>
          <a:p>
            <a:r>
              <a:rPr lang="en-US" altLang="ja-JP" sz="1600" dirty="0">
                <a:latin typeface="游ゴシック" panose="020B0400000000000000" pitchFamily="50" charset="-128"/>
                <a:ea typeface="游ゴシック" panose="020B0400000000000000" pitchFamily="50" charset="-128"/>
              </a:rPr>
              <a:t>Therefore, we decided to use these angles.</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Furthermore, considering the structural loads caused by large negative pitching moments and the instability of downforce, we decided to replace the S1223 main wing with the S1223 RTL, which features an upward-curved trailing edge.</a:t>
            </a:r>
          </a:p>
        </p:txBody>
      </p:sp>
      <p:sp>
        <p:nvSpPr>
          <p:cNvPr id="6" name="四角形: 角を丸くする 5">
            <a:extLst>
              <a:ext uri="{FF2B5EF4-FFF2-40B4-BE49-F238E27FC236}">
                <a16:creationId xmlns:a16="http://schemas.microsoft.com/office/drawing/2014/main" id="{6D4BE3C0-7384-4EE6-E3B1-AEA2DB37514C}"/>
              </a:ext>
            </a:extLst>
          </p:cNvPr>
          <p:cNvSpPr/>
          <p:nvPr/>
        </p:nvSpPr>
        <p:spPr>
          <a:xfrm>
            <a:off x="6849809" y="3994017"/>
            <a:ext cx="5227939" cy="2832270"/>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D100BA18-219B-36C4-ECF2-E1DCC27C0C2D}"/>
              </a:ext>
            </a:extLst>
          </p:cNvPr>
          <p:cNvSpPr txBox="1"/>
          <p:nvPr/>
        </p:nvSpPr>
        <p:spPr>
          <a:xfrm>
            <a:off x="7051833" y="3994017"/>
            <a:ext cx="5058979" cy="2800767"/>
          </a:xfrm>
          <a:prstGeom prst="rect">
            <a:avLst/>
          </a:prstGeom>
          <a:noFill/>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We also decided to incorporate an upper wing to generate downforce. </a:t>
            </a:r>
          </a:p>
          <a:p>
            <a:r>
              <a:rPr lang="en-US" altLang="ja-JP" sz="1600" dirty="0">
                <a:latin typeface="游ゴシック" panose="020B0400000000000000" pitchFamily="50" charset="-128"/>
                <a:ea typeface="游ゴシック" panose="020B0400000000000000" pitchFamily="50" charset="-128"/>
              </a:rPr>
              <a:t>However, since the first wing of the upper wing design tended to stall easily, we opted for the E423.</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We considered the NACA M3 as well, but because the angle of attack on the second wing was small, we didn’t observe a significant difference in stall or drag.</a:t>
            </a:r>
          </a:p>
          <a:p>
            <a:r>
              <a:rPr lang="en-US" altLang="ja-JP" sz="1600" dirty="0">
                <a:latin typeface="游ゴシック" panose="020B0400000000000000" pitchFamily="50" charset="-128"/>
                <a:ea typeface="游ゴシック" panose="020B0400000000000000" pitchFamily="50" charset="-128"/>
              </a:rPr>
              <a:t>Therefore, we chose the E423, which is better suited for generating downforce.</a:t>
            </a:r>
            <a:endParaRPr kumimoji="1" lang="en-US" altLang="ja-JP" sz="1600"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932D9B95-6EDE-2F59-F03C-23E8BA39342E}"/>
                  </a:ext>
                </a:extLst>
              </p:cNvPr>
              <p:cNvSpPr txBox="1"/>
              <p:nvPr/>
            </p:nvSpPr>
            <p:spPr>
              <a:xfrm>
                <a:off x="6999018" y="2081158"/>
                <a:ext cx="4694218" cy="712631"/>
              </a:xfrm>
              <a:prstGeom prst="rect">
                <a:avLst/>
              </a:prstGeom>
              <a:noFill/>
              <a:ln>
                <a:solidFill>
                  <a:srgbClr val="4E95D9"/>
                </a:solidFill>
              </a:ln>
            </p:spPr>
            <p:txBody>
              <a:bodyPr wrap="square" rtlCol="0">
                <a:spAutoFit/>
              </a:bodyPr>
              <a:lstStyle/>
              <a:p>
                <a:r>
                  <a:rPr lang="en-US" altLang="ja-JP" sz="2800" b="1" dirty="0">
                    <a:latin typeface="游ゴシック" panose="020B0400000000000000" pitchFamily="50" charset="-128"/>
                    <a:ea typeface="游ゴシック" panose="020B0400000000000000" pitchFamily="50" charset="-128"/>
                  </a:rPr>
                  <a:t>M = </a:t>
                </a:r>
                <a14:m>
                  <m:oMath xmlns:m="http://schemas.openxmlformats.org/officeDocument/2006/math">
                    <m:f>
                      <m:fPr>
                        <m:ctrlPr>
                          <a:rPr lang="en-US" altLang="ja-JP" sz="2800" b="1" i="1" smtClean="0">
                            <a:latin typeface="Cambria Math" panose="02040503050406030204" pitchFamily="18" charset="0"/>
                          </a:rPr>
                        </m:ctrlPr>
                      </m:fPr>
                      <m:num>
                        <m:r>
                          <a:rPr lang="en-US" altLang="ja-JP" sz="2800" b="1" i="1" smtClean="0">
                            <a:latin typeface="Cambria Math" panose="02040503050406030204" pitchFamily="18" charset="0"/>
                          </a:rPr>
                          <m:t>𝟏</m:t>
                        </m:r>
                      </m:num>
                      <m:den>
                        <m:r>
                          <a:rPr lang="en-US" altLang="ja-JP" sz="2800" b="1" i="1" smtClean="0">
                            <a:latin typeface="Cambria Math" panose="02040503050406030204" pitchFamily="18" charset="0"/>
                          </a:rPr>
                          <m:t>𝟐</m:t>
                        </m:r>
                      </m:den>
                    </m:f>
                    <m:r>
                      <a:rPr lang="ja-JP" altLang="en-US" sz="2800" b="1" i="1" smtClean="0">
                        <a:latin typeface="Cambria Math" panose="02040503050406030204" pitchFamily="18" charset="0"/>
                      </a:rPr>
                      <m:t>𝝆</m:t>
                    </m:r>
                    <m:sSup>
                      <m:sSupPr>
                        <m:ctrlPr>
                          <a:rPr lang="en-US" altLang="ja-JP" sz="2800" b="1" i="1" smtClean="0">
                            <a:latin typeface="Cambria Math" panose="02040503050406030204" pitchFamily="18" charset="0"/>
                          </a:rPr>
                        </m:ctrlPr>
                      </m:sSupPr>
                      <m:e>
                        <m:r>
                          <a:rPr lang="ja-JP" altLang="en-US" sz="2800" b="1" i="1" smtClean="0">
                            <a:latin typeface="Cambria Math" panose="02040503050406030204" pitchFamily="18" charset="0"/>
                          </a:rPr>
                          <m:t>𝝊</m:t>
                        </m:r>
                      </m:e>
                      <m:sup>
                        <m:r>
                          <a:rPr lang="en-US" altLang="ja-JP" sz="2800" b="1" i="1" smtClean="0">
                            <a:latin typeface="Cambria Math" panose="02040503050406030204" pitchFamily="18" charset="0"/>
                          </a:rPr>
                          <m:t>𝟐</m:t>
                        </m:r>
                      </m:sup>
                    </m:sSup>
                  </m:oMath>
                </a14:m>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S</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Cm   (1)</a:t>
                </a:r>
                <a:endParaRPr kumimoji="1" lang="ja-JP" altLang="en-US" sz="2800" b="1" dirty="0">
                  <a:latin typeface="游ゴシック" panose="020B0400000000000000" pitchFamily="50" charset="-128"/>
                  <a:ea typeface="游ゴシック" panose="020B0400000000000000" pitchFamily="50" charset="-128"/>
                </a:endParaRPr>
              </a:p>
            </p:txBody>
          </p:sp>
        </mc:Choice>
        <mc:Fallback xmlns="">
          <p:sp>
            <p:nvSpPr>
              <p:cNvPr id="3" name="テキスト ボックス 2">
                <a:extLst>
                  <a:ext uri="{FF2B5EF4-FFF2-40B4-BE49-F238E27FC236}">
                    <a16:creationId xmlns:a16="http://schemas.microsoft.com/office/drawing/2014/main" id="{932D9B95-6EDE-2F59-F03C-23E8BA39342E}"/>
                  </a:ext>
                </a:extLst>
              </p:cNvPr>
              <p:cNvSpPr txBox="1">
                <a:spLocks noRot="1" noChangeAspect="1" noMove="1" noResize="1" noEditPoints="1" noAdjustHandles="1" noChangeArrowheads="1" noChangeShapeType="1" noTextEdit="1"/>
              </p:cNvSpPr>
              <p:nvPr/>
            </p:nvSpPr>
            <p:spPr>
              <a:xfrm>
                <a:off x="6999018" y="2081158"/>
                <a:ext cx="4694218" cy="712631"/>
              </a:xfrm>
              <a:prstGeom prst="rect">
                <a:avLst/>
              </a:prstGeom>
              <a:blipFill>
                <a:blip r:embed="rId2"/>
                <a:stretch>
                  <a:fillRect l="-2461" r="-1943" b="-10084"/>
                </a:stretch>
              </a:blipFill>
              <a:ln>
                <a:solidFill>
                  <a:srgbClr val="4E95D9"/>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A0744CE-1C70-A769-42E0-5662E45CB6AC}"/>
                  </a:ext>
                </a:extLst>
              </p:cNvPr>
              <p:cNvSpPr txBox="1"/>
              <p:nvPr/>
            </p:nvSpPr>
            <p:spPr>
              <a:xfrm>
                <a:off x="7478347" y="2777061"/>
                <a:ext cx="3887883" cy="1185453"/>
              </a:xfrm>
              <a:prstGeom prst="rect">
                <a:avLst/>
              </a:prstGeom>
              <a:noFill/>
            </p:spPr>
            <p:txBody>
              <a:bodyPr wrap="square" rtlCol="0">
                <a:spAutoFit/>
              </a:bodyPr>
              <a:lstStyle/>
              <a:p>
                <a14:m>
                  <m:oMath xmlns:m="http://schemas.openxmlformats.org/officeDocument/2006/math">
                    <m:f>
                      <m:fPr>
                        <m:ctrlPr>
                          <a:rPr lang="en-US" altLang="ja-JP" sz="1600" b="1" i="1">
                            <a:latin typeface="Cambria Math" panose="02040503050406030204" pitchFamily="18" charset="0"/>
                          </a:rPr>
                        </m:ctrlPr>
                      </m:fPr>
                      <m:num>
                        <m:r>
                          <a:rPr lang="en-US" altLang="ja-JP" sz="1600" b="1" i="1">
                            <a:latin typeface="Cambria Math" panose="02040503050406030204" pitchFamily="18" charset="0"/>
                          </a:rPr>
                          <m:t>𝟏</m:t>
                        </m:r>
                      </m:num>
                      <m:den>
                        <m:r>
                          <a:rPr lang="en-US" altLang="ja-JP" sz="1600" b="1" i="1">
                            <a:latin typeface="Cambria Math" panose="02040503050406030204" pitchFamily="18" charset="0"/>
                          </a:rPr>
                          <m:t>𝟐</m:t>
                        </m:r>
                      </m:den>
                    </m:f>
                    <m:r>
                      <a:rPr lang="ja-JP" altLang="en-US" sz="1600" b="1" i="1">
                        <a:latin typeface="Cambria Math" panose="02040503050406030204" pitchFamily="18" charset="0"/>
                      </a:rPr>
                      <m:t>𝝆</m:t>
                    </m:r>
                    <m:sSup>
                      <m:sSupPr>
                        <m:ctrlPr>
                          <a:rPr lang="en-US" altLang="ja-JP" sz="1600" b="1" i="1">
                            <a:latin typeface="Cambria Math" panose="02040503050406030204" pitchFamily="18" charset="0"/>
                          </a:rPr>
                        </m:ctrlPr>
                      </m:sSupPr>
                      <m:e>
                        <m:r>
                          <a:rPr lang="ja-JP" altLang="en-US" sz="1600" b="1" i="1">
                            <a:latin typeface="Cambria Math" panose="02040503050406030204" pitchFamily="18" charset="0"/>
                          </a:rPr>
                          <m:t>𝝊</m:t>
                        </m:r>
                      </m:e>
                      <m:sup>
                        <m:r>
                          <a:rPr lang="en-US" altLang="ja-JP" sz="1600" b="1" i="1">
                            <a:latin typeface="Cambria Math" panose="02040503050406030204" pitchFamily="18" charset="0"/>
                          </a:rPr>
                          <m:t>𝟐</m:t>
                        </m:r>
                      </m:sup>
                    </m:sSup>
                  </m:oMath>
                </a14:m>
                <a:r>
                  <a:rPr kumimoji="1"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Dynamic pressure (N/m)</a:t>
                </a:r>
              </a:p>
              <a:p>
                <a:r>
                  <a:rPr lang="en-US" altLang="ja-JP" sz="1600" b="1" dirty="0">
                    <a:latin typeface="游ゴシック" panose="020B0400000000000000" pitchFamily="50" charset="-128"/>
                    <a:ea typeface="游ゴシック" panose="020B0400000000000000" pitchFamily="50" charset="-128"/>
                  </a:rPr>
                  <a:t>S</a:t>
                </a:r>
                <a:r>
                  <a:rPr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Representative area (m²)</a:t>
                </a:r>
              </a:p>
              <a:p>
                <a:r>
                  <a:rPr kumimoji="1" lang="en-US" altLang="ja-JP" sz="1600" b="1" dirty="0">
                    <a:latin typeface="游ゴシック" panose="020B0400000000000000" pitchFamily="50" charset="-128"/>
                    <a:ea typeface="游ゴシック" panose="020B0400000000000000" pitchFamily="50" charset="-128"/>
                  </a:rPr>
                  <a:t>C</a:t>
                </a:r>
                <a:r>
                  <a:rPr kumimoji="1"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Wingspan (m)</a:t>
                </a:r>
              </a:p>
              <a:p>
                <a:r>
                  <a:rPr lang="en-US" altLang="ja-JP" sz="1600" b="1" dirty="0">
                    <a:latin typeface="游ゴシック" panose="020B0400000000000000" pitchFamily="50" charset="-128"/>
                    <a:ea typeface="游ゴシック" panose="020B0400000000000000" pitchFamily="50" charset="-128"/>
                  </a:rPr>
                  <a:t>Cm</a:t>
                </a:r>
                <a:r>
                  <a:rPr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 Pitching moment coefficient</a:t>
                </a:r>
                <a:endParaRPr kumimoji="1" lang="ja-JP" altLang="en-US" sz="1600" b="1" dirty="0">
                  <a:latin typeface="游ゴシック" panose="020B0400000000000000" pitchFamily="50" charset="-128"/>
                  <a:ea typeface="游ゴシック" panose="020B0400000000000000" pitchFamily="50" charset="-128"/>
                </a:endParaRPr>
              </a:p>
            </p:txBody>
          </p:sp>
        </mc:Choice>
        <mc:Fallback xmlns="">
          <p:sp>
            <p:nvSpPr>
              <p:cNvPr id="17" name="テキスト ボックス 16">
                <a:extLst>
                  <a:ext uri="{FF2B5EF4-FFF2-40B4-BE49-F238E27FC236}">
                    <a16:creationId xmlns:a16="http://schemas.microsoft.com/office/drawing/2014/main" id="{AA0744CE-1C70-A769-42E0-5662E45CB6AC}"/>
                  </a:ext>
                </a:extLst>
              </p:cNvPr>
              <p:cNvSpPr txBox="1">
                <a:spLocks noRot="1" noChangeAspect="1" noMove="1" noResize="1" noEditPoints="1" noAdjustHandles="1" noChangeArrowheads="1" noChangeShapeType="1" noTextEdit="1"/>
              </p:cNvSpPr>
              <p:nvPr/>
            </p:nvSpPr>
            <p:spPr>
              <a:xfrm>
                <a:off x="7478347" y="2777061"/>
                <a:ext cx="3887883" cy="1185453"/>
              </a:xfrm>
              <a:prstGeom prst="rect">
                <a:avLst/>
              </a:prstGeom>
              <a:blipFill>
                <a:blip r:embed="rId3"/>
                <a:stretch>
                  <a:fillRect l="-940" b="-5670"/>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801B810B-DFD3-9584-9413-0BD66F376E56}"/>
              </a:ext>
            </a:extLst>
          </p:cNvPr>
          <p:cNvSpPr txBox="1"/>
          <p:nvPr/>
        </p:nvSpPr>
        <p:spPr>
          <a:xfrm>
            <a:off x="6188365" y="960384"/>
            <a:ext cx="5957772" cy="1077218"/>
          </a:xfrm>
          <a:prstGeom prst="rect">
            <a:avLst/>
          </a:prstGeom>
          <a:noFill/>
          <a:ln>
            <a:solidFill>
              <a:srgbClr val="4E95D9"/>
            </a:solidFill>
          </a:ln>
        </p:spPr>
        <p:txBody>
          <a:bodyPr wrap="square">
            <a:spAutoFit/>
          </a:bodyPr>
          <a:lstStyle/>
          <a:p>
            <a:r>
              <a:rPr lang="ja-JP" altLang="en-US" sz="1600" dirty="0">
                <a:latin typeface="游ゴシック" panose="020B0400000000000000" pitchFamily="50" charset="-128"/>
                <a:ea typeface="游ゴシック" panose="020B0400000000000000" pitchFamily="50" charset="-128"/>
              </a:rPr>
              <a:t>This reduced the pitching moment coefficient from approximately -0.24 to approximately -0.10, which reduced the pitching moment by about 58%, thereby ensuring structural and dynamic stability.</a:t>
            </a:r>
            <a:r>
              <a:rPr lang="en-US" altLang="ja-JP" sz="1600" dirty="0">
                <a:latin typeface="游ゴシック" panose="020B0400000000000000" pitchFamily="50" charset="-128"/>
                <a:ea typeface="游ゴシック" panose="020B0400000000000000" pitchFamily="50" charset="-128"/>
              </a:rPr>
              <a:t>(</a:t>
            </a:r>
            <a:r>
              <a:rPr lang="ja-JP" altLang="en-US" sz="1600" dirty="0">
                <a:latin typeface="游ゴシック" panose="020B0400000000000000" pitchFamily="50" charset="-128"/>
              </a:rPr>
              <a:t>based on Equation (1)</a:t>
            </a:r>
            <a:r>
              <a:rPr lang="en-US" altLang="ja-JP" sz="1600" dirty="0">
                <a:latin typeface="游ゴシック" panose="020B0400000000000000" pitchFamily="50" charset="-128"/>
              </a:rPr>
              <a:t>)</a:t>
            </a:r>
            <a:endParaRPr lang="ja-JP" altLang="en-US" sz="1600" dirty="0">
              <a:latin typeface="游ゴシック" panose="020B0400000000000000" pitchFamily="50" charset="-128"/>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759B7B9B-1C0F-0AF5-0D4C-0925F2257477}"/>
              </a:ext>
            </a:extLst>
          </p:cNvPr>
          <p:cNvSpPr txBox="1"/>
          <p:nvPr/>
        </p:nvSpPr>
        <p:spPr>
          <a:xfrm>
            <a:off x="138228" y="898086"/>
            <a:ext cx="5028132" cy="461665"/>
          </a:xfrm>
          <a:prstGeom prst="rect">
            <a:avLst/>
          </a:prstGeom>
          <a:noFill/>
        </p:spPr>
        <p:txBody>
          <a:bodyPr wrap="square" rtlCol="0">
            <a:spAutoFit/>
          </a:bodyPr>
          <a:lstStyle/>
          <a:p>
            <a:r>
              <a:rPr kumimoji="1" lang="en-US" altLang="ja-JP" sz="2400" b="1" dirty="0"/>
              <a:t>Rear Wing</a:t>
            </a:r>
            <a:endParaRPr kumimoji="1" lang="ja-JP" altLang="en-US" sz="2400" b="1" dirty="0"/>
          </a:p>
        </p:txBody>
      </p:sp>
      <p:sp>
        <p:nvSpPr>
          <p:cNvPr id="16" name="タイトル 1">
            <a:extLst>
              <a:ext uri="{FF2B5EF4-FFF2-40B4-BE49-F238E27FC236}">
                <a16:creationId xmlns:a16="http://schemas.microsoft.com/office/drawing/2014/main" id="{E215CAE9-8D49-03AB-7BC3-9C840C0E2170}"/>
              </a:ext>
            </a:extLst>
          </p:cNvPr>
          <p:cNvSpPr>
            <a:spLocks noGrp="1"/>
          </p:cNvSpPr>
          <p:nvPr>
            <p:ph type="title"/>
          </p:nvPr>
        </p:nvSpPr>
        <p:spPr>
          <a:xfrm>
            <a:off x="1082691" y="31713"/>
            <a:ext cx="10515600" cy="885115"/>
          </a:xfrm>
        </p:spPr>
        <p:txBody>
          <a:bodyPr wrap="square"/>
          <a:lstStyle/>
          <a:p>
            <a:r>
              <a:rPr sz="4000" b="1" dirty="0">
                <a:latin typeface="游ゴシック"/>
                <a:ea typeface="游ゴシック"/>
                <a:cs typeface="游ゴシック"/>
              </a:rPr>
              <a:t>Aerodynamics</a:t>
            </a:r>
            <a:endParaRPr kumimoji="1" lang="ja-JP" altLang="en-US" dirty="0"/>
          </a:p>
        </p:txBody>
      </p:sp>
    </p:spTree>
    <p:extLst>
      <p:ext uri="{BB962C8B-B14F-4D97-AF65-F5344CB8AC3E}">
        <p14:creationId xmlns:p14="http://schemas.microsoft.com/office/powerpoint/2010/main" val="376148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6B8D-1B65-5F62-51BE-D79D634BAE9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BEFF77D-229B-5BD0-CEC2-A0B21632B4C2}"/>
              </a:ext>
            </a:extLst>
          </p:cNvPr>
          <p:cNvSpPr txBox="1"/>
          <p:nvPr/>
        </p:nvSpPr>
        <p:spPr>
          <a:xfrm>
            <a:off x="85298" y="974353"/>
            <a:ext cx="6974722" cy="1846659"/>
          </a:xfrm>
          <a:prstGeom prst="rect">
            <a:avLst/>
          </a:prstGeom>
          <a:noFill/>
          <a:ln>
            <a:solidFill>
              <a:srgbClr val="4E95D9"/>
            </a:solidFill>
          </a:ln>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２</a:t>
            </a:r>
            <a:r>
              <a:rPr lang="en-US" altLang="ja-JP" b="1" dirty="0">
                <a:latin typeface="游ゴシック" panose="020B0400000000000000" pitchFamily="50" charset="-128"/>
                <a:ea typeface="游ゴシック" panose="020B0400000000000000" pitchFamily="50" charset="-128"/>
              </a:rPr>
              <a:t>.</a:t>
            </a:r>
            <a:r>
              <a:rPr lang="ja-JP" altLang="en-US" b="1" dirty="0">
                <a:latin typeface="游ゴシック" panose="020B0400000000000000" pitchFamily="50" charset="-128"/>
                <a:ea typeface="游ゴシック" panose="020B0400000000000000" pitchFamily="50" charset="-128"/>
              </a:rPr>
              <a:t> </a:t>
            </a:r>
            <a:r>
              <a:rPr lang="en-US" altLang="ja-JP" b="1" dirty="0">
                <a:latin typeface="游ゴシック" panose="020B0400000000000000" pitchFamily="50" charset="-128"/>
              </a:rPr>
              <a:t>Determining Slot Gaps and Overlaps</a:t>
            </a:r>
          </a:p>
          <a:p>
            <a:r>
              <a:rPr lang="en-US" altLang="ja-JP" sz="1600" dirty="0">
                <a:latin typeface="游ゴシック" panose="020B0400000000000000" pitchFamily="50" charset="-128"/>
              </a:rPr>
              <a:t>After determining the airfoil and angle of attack, we performed repeated 2D analyses in Ansys, making changes only to the slot gap and overlap.</a:t>
            </a:r>
          </a:p>
          <a:p>
            <a:endParaRPr lang="en-US" altLang="ja-JP" sz="1600" dirty="0">
              <a:latin typeface="游ゴシック" panose="020B0400000000000000" pitchFamily="50" charset="-128"/>
            </a:endParaRPr>
          </a:p>
          <a:p>
            <a:r>
              <a:rPr lang="en-US" altLang="ja-JP" sz="1600" dirty="0">
                <a:latin typeface="游ゴシック" panose="020B0400000000000000" pitchFamily="50" charset="-128"/>
              </a:rPr>
              <a:t>Focusing on reducing drag, the airfoil, slot gap, and overlap values ultimately adopted are shown in Figure 1.</a:t>
            </a:r>
          </a:p>
          <a:p>
            <a:r>
              <a:rPr lang="en-US" altLang="ja-JP" sz="1600" dirty="0">
                <a:latin typeface="游ゴシック" panose="020B0400000000000000" pitchFamily="50" charset="-128"/>
              </a:rPr>
              <a:t>The final 2D analysis results are shown in Figure 2.</a:t>
            </a:r>
            <a:endParaRPr kumimoji="1" lang="ja-JP" altLang="en-US" sz="1600" dirty="0">
              <a:latin typeface="游ゴシック" panose="020B0400000000000000" pitchFamily="50" charset="-128"/>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24ECD5F1-2D57-9312-F0A1-2A182BA3BCD0}"/>
              </a:ext>
            </a:extLst>
          </p:cNvPr>
          <p:cNvSpPr txBox="1"/>
          <p:nvPr/>
        </p:nvSpPr>
        <p:spPr>
          <a:xfrm>
            <a:off x="7166104" y="1000526"/>
            <a:ext cx="4936831" cy="1815882"/>
          </a:xfrm>
          <a:prstGeom prst="rect">
            <a:avLst/>
          </a:prstGeom>
          <a:noFill/>
          <a:ln>
            <a:solidFill>
              <a:srgbClr val="4E95D9"/>
            </a:solidFill>
          </a:ln>
        </p:spPr>
        <p:txBody>
          <a:bodyPr wrap="square" rtlCol="0">
            <a:spAutoFit/>
          </a:bodyPr>
          <a:lstStyle/>
          <a:p>
            <a:r>
              <a:rPr kumimoji="1" lang="ja-JP" altLang="en-US" sz="1600" b="1" dirty="0">
                <a:latin typeface="游ゴシック" panose="020B0400000000000000" pitchFamily="50" charset="-128"/>
                <a:ea typeface="游ゴシック" panose="020B0400000000000000" pitchFamily="50" charset="-128"/>
              </a:rPr>
              <a:t>３</a:t>
            </a:r>
            <a:r>
              <a:rPr lang="en-US" altLang="ja-JP" sz="1600" b="1" dirty="0">
                <a:latin typeface="游ゴシック" panose="020B0400000000000000" pitchFamily="50" charset="-128"/>
                <a:ea typeface="游ゴシック" panose="020B0400000000000000" pitchFamily="50" charset="-128"/>
              </a:rPr>
              <a:t>.</a:t>
            </a:r>
            <a:r>
              <a:rPr lang="ja-JP" altLang="en-US" sz="1600" b="1" dirty="0">
                <a:latin typeface="游ゴシック" panose="020B0400000000000000" pitchFamily="50" charset="-128"/>
                <a:ea typeface="游ゴシック" panose="020B0400000000000000" pitchFamily="50" charset="-128"/>
              </a:rPr>
              <a:t> </a:t>
            </a:r>
            <a:r>
              <a:rPr lang="en-US" altLang="ja-JP" sz="1600" b="1" dirty="0">
                <a:latin typeface="游ゴシック" panose="020B0400000000000000" pitchFamily="50" charset="-128"/>
              </a:rPr>
              <a:t>3D Modeling </a:t>
            </a:r>
          </a:p>
          <a:p>
            <a:r>
              <a:rPr lang="en-US" altLang="ja-JP" sz="1600" dirty="0">
                <a:latin typeface="游ゴシック" panose="020B0400000000000000" pitchFamily="50" charset="-128"/>
              </a:rPr>
              <a:t>We created a 3D model based on the results of the 2D analysis. </a:t>
            </a:r>
          </a:p>
          <a:p>
            <a:r>
              <a:rPr lang="en-US" altLang="ja-JP" sz="1600" dirty="0">
                <a:latin typeface="游ゴシック" panose="020B0400000000000000" pitchFamily="50" charset="-128"/>
              </a:rPr>
              <a:t>Considering the tread width of 1,335 mm, the tire width of approximately 200 mm, the weight, and manufacturing tolerances, the span length was determined to be 1,040 mm.</a:t>
            </a:r>
          </a:p>
        </p:txBody>
      </p:sp>
      <p:sp>
        <p:nvSpPr>
          <p:cNvPr id="11" name="テキスト ボックス 10">
            <a:extLst>
              <a:ext uri="{FF2B5EF4-FFF2-40B4-BE49-F238E27FC236}">
                <a16:creationId xmlns:a16="http://schemas.microsoft.com/office/drawing/2014/main" id="{51E99F7A-0656-75B4-EBEA-EC42DB5E394A}"/>
              </a:ext>
            </a:extLst>
          </p:cNvPr>
          <p:cNvSpPr txBox="1"/>
          <p:nvPr/>
        </p:nvSpPr>
        <p:spPr>
          <a:xfrm>
            <a:off x="80451" y="5845003"/>
            <a:ext cx="6096000" cy="923330"/>
          </a:xfrm>
          <a:prstGeom prst="rect">
            <a:avLst/>
          </a:prstGeom>
          <a:noFill/>
          <a:ln>
            <a:solidFill>
              <a:schemeClr val="tx1"/>
            </a:solidFill>
          </a:ln>
        </p:spPr>
        <p:txBody>
          <a:bodyPr wrap="square" rtlCol="0">
            <a:spAutoFit/>
          </a:bodyPr>
          <a:lstStyle/>
          <a:p>
            <a:r>
              <a:rPr kumimoji="1" lang="en-US" altLang="ja-JP" dirty="0">
                <a:latin typeface="游ゴシック" panose="020B0400000000000000" pitchFamily="50" charset="-128"/>
                <a:ea typeface="游ゴシック" panose="020B0400000000000000" pitchFamily="50" charset="-128"/>
              </a:rPr>
              <a:t>Wind speed 40km/h </a:t>
            </a:r>
          </a:p>
          <a:p>
            <a:r>
              <a:rPr kumimoji="1" lang="en-US" altLang="ja-JP" dirty="0">
                <a:latin typeface="游ゴシック" panose="020B0400000000000000" pitchFamily="50" charset="-128"/>
                <a:ea typeface="游ゴシック" panose="020B0400000000000000" pitchFamily="50" charset="-128"/>
              </a:rPr>
              <a:t>down force : 159N  drag : 4.9N</a:t>
            </a:r>
            <a:r>
              <a:rPr lang="en-US" altLang="ja-JP" dirty="0">
                <a:latin typeface="游ゴシック" panose="020B0400000000000000" pitchFamily="50" charset="-128"/>
                <a:ea typeface="游ゴシック" panose="020B0400000000000000" pitchFamily="50" charset="-128"/>
              </a:rPr>
              <a:t> (Span length: 1000 mm)</a:t>
            </a:r>
            <a:endParaRPr kumimoji="1" lang="en-US" altLang="ja-JP" dirty="0">
              <a:latin typeface="游ゴシック" panose="020B0400000000000000" pitchFamily="50" charset="-128"/>
              <a:ea typeface="游ゴシック" panose="020B0400000000000000" pitchFamily="50" charset="-128"/>
            </a:endParaRPr>
          </a:p>
          <a:p>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the image is inverted vertically for analysis purposes.</a:t>
            </a:r>
            <a:endParaRPr kumimoji="1" lang="ja-JP" altLang="en-US" dirty="0">
              <a:latin typeface="游ゴシック" panose="020B0400000000000000" pitchFamily="50" charset="-128"/>
              <a:ea typeface="游ゴシック" panose="020B0400000000000000" pitchFamily="50" charset="-128"/>
            </a:endParaRPr>
          </a:p>
        </p:txBody>
      </p:sp>
      <p:pic>
        <p:nvPicPr>
          <p:cNvPr id="5" name="図 4">
            <a:extLst>
              <a:ext uri="{FF2B5EF4-FFF2-40B4-BE49-F238E27FC236}">
                <a16:creationId xmlns:a16="http://schemas.microsoft.com/office/drawing/2014/main" id="{B4A2D38A-C383-9E83-E964-C25441552A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4203" y="5305343"/>
            <a:ext cx="2097319" cy="1484150"/>
          </a:xfrm>
          <a:prstGeom prst="rect">
            <a:avLst/>
          </a:prstGeom>
        </p:spPr>
      </p:pic>
      <p:pic>
        <p:nvPicPr>
          <p:cNvPr id="7" name="図 6">
            <a:extLst>
              <a:ext uri="{FF2B5EF4-FFF2-40B4-BE49-F238E27FC236}">
                <a16:creationId xmlns:a16="http://schemas.microsoft.com/office/drawing/2014/main" id="{75CA0C58-2854-99C9-BCEC-E04A573A9D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5854" y="3484057"/>
            <a:ext cx="2274392" cy="1218856"/>
          </a:xfrm>
          <a:prstGeom prst="rect">
            <a:avLst/>
          </a:prstGeom>
        </p:spPr>
      </p:pic>
      <p:sp>
        <p:nvSpPr>
          <p:cNvPr id="17" name="テキスト ボックス 16">
            <a:extLst>
              <a:ext uri="{FF2B5EF4-FFF2-40B4-BE49-F238E27FC236}">
                <a16:creationId xmlns:a16="http://schemas.microsoft.com/office/drawing/2014/main" id="{0F620A0A-D366-DB5C-5DEF-51122E214651}"/>
              </a:ext>
            </a:extLst>
          </p:cNvPr>
          <p:cNvSpPr txBox="1"/>
          <p:nvPr/>
        </p:nvSpPr>
        <p:spPr>
          <a:xfrm>
            <a:off x="2356557" y="5514767"/>
            <a:ext cx="1047160" cy="338554"/>
          </a:xfrm>
          <a:prstGeom prst="rect">
            <a:avLst/>
          </a:prstGeom>
          <a:noFill/>
        </p:spPr>
        <p:txBody>
          <a:bodyPr wrap="square" rtlCol="0">
            <a:spAutoFit/>
          </a:bodyPr>
          <a:lstStyle/>
          <a:p>
            <a:r>
              <a:rPr lang="en-US" altLang="ja-JP" sz="1600" b="1" dirty="0">
                <a:latin typeface="游ゴシック" panose="020B0400000000000000" pitchFamily="50" charset="-128"/>
              </a:rPr>
              <a:t>Figure 1</a:t>
            </a:r>
            <a:endParaRPr kumimoji="1" lang="ja-JP" altLang="en-US" sz="1600" b="1" dirty="0">
              <a:latin typeface="游ゴシック" panose="020B0400000000000000" pitchFamily="50" charset="-128"/>
              <a:ea typeface="游ゴシック" panose="020B0400000000000000" pitchFamily="50" charset="-128"/>
            </a:endParaRPr>
          </a:p>
        </p:txBody>
      </p:sp>
      <p:sp>
        <p:nvSpPr>
          <p:cNvPr id="18" name="テキスト ボックス 17">
            <a:extLst>
              <a:ext uri="{FF2B5EF4-FFF2-40B4-BE49-F238E27FC236}">
                <a16:creationId xmlns:a16="http://schemas.microsoft.com/office/drawing/2014/main" id="{390A8E53-7862-E2C8-B838-0A6BB37731EB}"/>
              </a:ext>
            </a:extLst>
          </p:cNvPr>
          <p:cNvSpPr txBox="1"/>
          <p:nvPr/>
        </p:nvSpPr>
        <p:spPr>
          <a:xfrm>
            <a:off x="6369055" y="4702913"/>
            <a:ext cx="987989" cy="338554"/>
          </a:xfrm>
          <a:prstGeom prst="rect">
            <a:avLst/>
          </a:prstGeom>
          <a:noFill/>
        </p:spPr>
        <p:txBody>
          <a:bodyPr wrap="square" rtlCol="0">
            <a:spAutoFit/>
          </a:bodyPr>
          <a:lstStyle/>
          <a:p>
            <a:r>
              <a:rPr lang="en-US" altLang="ja-JP" sz="1600" b="1" dirty="0">
                <a:latin typeface="游ゴシック" panose="020B0400000000000000" pitchFamily="50" charset="-128"/>
              </a:rPr>
              <a:t>Figure 2</a:t>
            </a:r>
            <a:endParaRPr kumimoji="1" lang="ja-JP" altLang="en-US" sz="1600" b="1" dirty="0">
              <a:latin typeface="游ゴシック" panose="020B0400000000000000" pitchFamily="50" charset="-128"/>
              <a:ea typeface="游ゴシック" panose="020B0400000000000000" pitchFamily="50" charset="-128"/>
            </a:endParaRPr>
          </a:p>
        </p:txBody>
      </p:sp>
      <p:pic>
        <p:nvPicPr>
          <p:cNvPr id="20" name="図 19">
            <a:extLst>
              <a:ext uri="{FF2B5EF4-FFF2-40B4-BE49-F238E27FC236}">
                <a16:creationId xmlns:a16="http://schemas.microsoft.com/office/drawing/2014/main" id="{86E3022C-3346-B4CA-E39A-D8E8DADCE2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6171" y="5305343"/>
            <a:ext cx="1852794" cy="1484150"/>
          </a:xfrm>
          <a:prstGeom prst="rect">
            <a:avLst/>
          </a:prstGeom>
        </p:spPr>
      </p:pic>
      <p:pic>
        <p:nvPicPr>
          <p:cNvPr id="22" name="図 21">
            <a:extLst>
              <a:ext uri="{FF2B5EF4-FFF2-40B4-BE49-F238E27FC236}">
                <a16:creationId xmlns:a16="http://schemas.microsoft.com/office/drawing/2014/main" id="{A8F1C5A3-6C80-523F-EACA-10066DBF73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63614" y="5262518"/>
            <a:ext cx="1539321" cy="1566810"/>
          </a:xfrm>
          <a:prstGeom prst="rect">
            <a:avLst/>
          </a:prstGeom>
        </p:spPr>
      </p:pic>
      <p:sp>
        <p:nvSpPr>
          <p:cNvPr id="23" name="テキスト ボックス 22">
            <a:extLst>
              <a:ext uri="{FF2B5EF4-FFF2-40B4-BE49-F238E27FC236}">
                <a16:creationId xmlns:a16="http://schemas.microsoft.com/office/drawing/2014/main" id="{B11AD367-F574-BA2E-F18F-E9A849F3E1EB}"/>
              </a:ext>
            </a:extLst>
          </p:cNvPr>
          <p:cNvSpPr txBox="1"/>
          <p:nvPr/>
        </p:nvSpPr>
        <p:spPr>
          <a:xfrm>
            <a:off x="9227042" y="5474620"/>
            <a:ext cx="1163951" cy="338554"/>
          </a:xfrm>
          <a:prstGeom prst="rect">
            <a:avLst/>
          </a:prstGeom>
          <a:noFill/>
          <a:ln>
            <a:solidFill>
              <a:schemeClr val="tx1"/>
            </a:solidFill>
          </a:ln>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Swanneck</a:t>
            </a:r>
            <a:endParaRPr kumimoji="1" lang="ja-JP" altLang="en-US" sz="1600" dirty="0">
              <a:latin typeface="游ゴシック" panose="020B0400000000000000" pitchFamily="50" charset="-128"/>
              <a:ea typeface="游ゴシック" panose="020B0400000000000000" pitchFamily="50" charset="-128"/>
            </a:endParaRPr>
          </a:p>
        </p:txBody>
      </p:sp>
      <p:pic>
        <p:nvPicPr>
          <p:cNvPr id="29" name="図 28">
            <a:extLst>
              <a:ext uri="{FF2B5EF4-FFF2-40B4-BE49-F238E27FC236}">
                <a16:creationId xmlns:a16="http://schemas.microsoft.com/office/drawing/2014/main" id="{6710699F-7E5C-9201-16BC-CDD8F3A396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065" y="2850822"/>
            <a:ext cx="5582145" cy="2663517"/>
          </a:xfrm>
          <a:prstGeom prst="rect">
            <a:avLst/>
          </a:prstGeom>
        </p:spPr>
      </p:pic>
      <p:sp>
        <p:nvSpPr>
          <p:cNvPr id="30" name="テキスト ボックス 29">
            <a:extLst>
              <a:ext uri="{FF2B5EF4-FFF2-40B4-BE49-F238E27FC236}">
                <a16:creationId xmlns:a16="http://schemas.microsoft.com/office/drawing/2014/main" id="{0D8A50B1-7A88-B85E-FA9E-7FE09F9B9E05}"/>
              </a:ext>
            </a:extLst>
          </p:cNvPr>
          <p:cNvSpPr txBox="1"/>
          <p:nvPr/>
        </p:nvSpPr>
        <p:spPr>
          <a:xfrm>
            <a:off x="9809018" y="5876646"/>
            <a:ext cx="581975" cy="338554"/>
          </a:xfrm>
          <a:prstGeom prst="rect">
            <a:avLst/>
          </a:prstGeom>
          <a:noFill/>
          <a:ln>
            <a:solidFill>
              <a:schemeClr val="tx1"/>
            </a:solidFill>
          </a:ln>
        </p:spPr>
        <p:txBody>
          <a:bodyPr wrap="square" rtlCol="0">
            <a:spAutoFit/>
          </a:bodyPr>
          <a:lstStyle/>
          <a:p>
            <a:r>
              <a:rPr kumimoji="1" lang="en-US" altLang="ja-JP" sz="1600" dirty="0">
                <a:latin typeface="游ゴシック" panose="020B0400000000000000" pitchFamily="50" charset="-128"/>
                <a:ea typeface="游ゴシック" panose="020B0400000000000000" pitchFamily="50" charset="-128"/>
              </a:rPr>
              <a:t>stay</a:t>
            </a:r>
            <a:endParaRPr kumimoji="1" lang="ja-JP" altLang="en-US" sz="1600" dirty="0">
              <a:latin typeface="游ゴシック" panose="020B0400000000000000" pitchFamily="50" charset="-128"/>
              <a:ea typeface="游ゴシック" panose="020B0400000000000000" pitchFamily="50" charset="-128"/>
            </a:endParaRPr>
          </a:p>
        </p:txBody>
      </p:sp>
      <p:cxnSp>
        <p:nvCxnSpPr>
          <p:cNvPr id="32" name="直線矢印コネクタ 31">
            <a:extLst>
              <a:ext uri="{FF2B5EF4-FFF2-40B4-BE49-F238E27FC236}">
                <a16:creationId xmlns:a16="http://schemas.microsoft.com/office/drawing/2014/main" id="{2D0111D1-3C2B-1035-A644-3DFCDA23AD4A}"/>
              </a:ext>
            </a:extLst>
          </p:cNvPr>
          <p:cNvCxnSpPr>
            <a:cxnSpLocks/>
          </p:cNvCxnSpPr>
          <p:nvPr/>
        </p:nvCxnSpPr>
        <p:spPr>
          <a:xfrm flipH="1">
            <a:off x="9706585" y="6215200"/>
            <a:ext cx="223203" cy="2812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54D974E4-AA1A-E6DE-F946-7A49BAA6EB87}"/>
              </a:ext>
            </a:extLst>
          </p:cNvPr>
          <p:cNvCxnSpPr>
            <a:cxnSpLocks/>
            <a:stCxn id="30" idx="3"/>
          </p:cNvCxnSpPr>
          <p:nvPr/>
        </p:nvCxnSpPr>
        <p:spPr>
          <a:xfrm>
            <a:off x="10390993" y="6045923"/>
            <a:ext cx="505607" cy="200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線矢印コネクタ 45">
            <a:extLst>
              <a:ext uri="{FF2B5EF4-FFF2-40B4-BE49-F238E27FC236}">
                <a16:creationId xmlns:a16="http://schemas.microsoft.com/office/drawing/2014/main" id="{579CD698-BEA2-9257-45D1-98CFB1AB5C8A}"/>
              </a:ext>
            </a:extLst>
          </p:cNvPr>
          <p:cNvCxnSpPr>
            <a:cxnSpLocks/>
            <a:stCxn id="23" idx="1"/>
          </p:cNvCxnSpPr>
          <p:nvPr/>
        </p:nvCxnSpPr>
        <p:spPr>
          <a:xfrm flipH="1" flipV="1">
            <a:off x="9061267" y="5613254"/>
            <a:ext cx="165775" cy="306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テキスト ボックス 11">
            <a:extLst>
              <a:ext uri="{FF2B5EF4-FFF2-40B4-BE49-F238E27FC236}">
                <a16:creationId xmlns:a16="http://schemas.microsoft.com/office/drawing/2014/main" id="{8BF6C305-C35A-43F5-57E7-FCAD51DA2E1F}"/>
              </a:ext>
            </a:extLst>
          </p:cNvPr>
          <p:cNvSpPr txBox="1"/>
          <p:nvPr/>
        </p:nvSpPr>
        <p:spPr>
          <a:xfrm>
            <a:off x="8054891" y="2883369"/>
            <a:ext cx="4048044" cy="2308324"/>
          </a:xfrm>
          <a:prstGeom prst="rect">
            <a:avLst/>
          </a:prstGeom>
          <a:noFill/>
          <a:ln>
            <a:solidFill>
              <a:srgbClr val="4E95D9"/>
            </a:solidFill>
          </a:ln>
        </p:spPr>
        <p:txBody>
          <a:bodyPr wrap="square">
            <a:spAutoFit/>
          </a:bodyPr>
          <a:lstStyle/>
          <a:p>
            <a:r>
              <a:rPr lang="en-US" altLang="ja-JP" sz="1600" dirty="0">
                <a:latin typeface="游ゴシック" panose="020B0400000000000000" pitchFamily="50" charset="-128"/>
              </a:rPr>
              <a:t>We also examined the placement of the struts and other components. The design was intended to create a geometrically rigid structure by forming a triangular configuration with the swan neck and struts when viewed from the side, and by arranging the struts in a V-shape when viewed from the rear.</a:t>
            </a:r>
          </a:p>
          <a:p>
            <a:r>
              <a:rPr lang="en-US" altLang="ja-JP" sz="1600" dirty="0">
                <a:latin typeface="游ゴシック" panose="020B0400000000000000" pitchFamily="50" charset="-128"/>
              </a:rPr>
              <a:t>(Please refer to the images below.)</a:t>
            </a:r>
            <a:endParaRPr lang="ja-JP" altLang="en-US" sz="1600" dirty="0">
              <a:latin typeface="游ゴシック" panose="020B0400000000000000" pitchFamily="50" charset="-128"/>
              <a:ea typeface="游ゴシック" panose="020B0400000000000000" pitchFamily="50" charset="-128"/>
            </a:endParaRPr>
          </a:p>
        </p:txBody>
      </p:sp>
      <p:sp>
        <p:nvSpPr>
          <p:cNvPr id="9" name="タイトル 1">
            <a:extLst>
              <a:ext uri="{FF2B5EF4-FFF2-40B4-BE49-F238E27FC236}">
                <a16:creationId xmlns:a16="http://schemas.microsoft.com/office/drawing/2014/main" id="{4C5A1A08-9379-CCF4-95B7-10AFDA266D39}"/>
              </a:ext>
            </a:extLst>
          </p:cNvPr>
          <p:cNvSpPr>
            <a:spLocks noGrp="1"/>
          </p:cNvSpPr>
          <p:nvPr>
            <p:ph type="title"/>
          </p:nvPr>
        </p:nvSpPr>
        <p:spPr>
          <a:xfrm>
            <a:off x="1082691" y="31713"/>
            <a:ext cx="10515600" cy="885115"/>
          </a:xfrm>
        </p:spPr>
        <p:txBody>
          <a:bodyPr wrap="square"/>
          <a:lstStyle/>
          <a:p>
            <a:r>
              <a:rPr sz="4000" b="1" dirty="0">
                <a:latin typeface="游ゴシック"/>
                <a:ea typeface="游ゴシック"/>
                <a:cs typeface="游ゴシック"/>
              </a:rPr>
              <a:t>Aerodynamics</a:t>
            </a:r>
            <a:endParaRPr kumimoji="1" lang="ja-JP" altLang="en-US" dirty="0"/>
          </a:p>
        </p:txBody>
      </p:sp>
    </p:spTree>
    <p:extLst>
      <p:ext uri="{BB962C8B-B14F-4D97-AF65-F5344CB8AC3E}">
        <p14:creationId xmlns:p14="http://schemas.microsoft.com/office/powerpoint/2010/main" val="4235963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A6A0A1B-418E-A189-F997-ADB052CF429C}"/>
              </a:ext>
            </a:extLst>
          </p:cNvPr>
          <p:cNvSpPr>
            <a:spLocks noGrp="1"/>
          </p:cNvSpPr>
          <p:nvPr>
            <p:ph idx="1"/>
          </p:nvPr>
        </p:nvSpPr>
        <p:spPr>
          <a:xfrm>
            <a:off x="103103" y="1025260"/>
            <a:ext cx="1851059" cy="330293"/>
          </a:xfrm>
        </p:spPr>
        <p:txBody>
          <a:bodyPr wrap="square">
            <a:noAutofit/>
          </a:bodyPr>
          <a:lstStyle/>
          <a:p>
            <a:r>
              <a:rPr sz="2800" b="1">
                <a:latin typeface="游ゴシック"/>
                <a:ea typeface="游ゴシック"/>
                <a:cs typeface="游ゴシック"/>
              </a:rPr>
              <a:t>Floor</a:t>
            </a:r>
          </a:p>
        </p:txBody>
      </p:sp>
      <p:sp>
        <p:nvSpPr>
          <p:cNvPr id="5" name="テキスト ボックス 4">
            <a:extLst>
              <a:ext uri="{FF2B5EF4-FFF2-40B4-BE49-F238E27FC236}">
                <a16:creationId xmlns:a16="http://schemas.microsoft.com/office/drawing/2014/main" id="{29E2B4F5-F554-2D68-A213-016B549E9302}"/>
              </a:ext>
            </a:extLst>
          </p:cNvPr>
          <p:cNvSpPr txBox="1"/>
          <p:nvPr/>
        </p:nvSpPr>
        <p:spPr>
          <a:xfrm>
            <a:off x="4915" y="3917726"/>
            <a:ext cx="3618271" cy="830997"/>
          </a:xfrm>
          <a:prstGeom prst="rect">
            <a:avLst/>
          </a:prstGeom>
          <a:noFill/>
        </p:spPr>
        <p:txBody>
          <a:bodyPr wrap="square" rtlCol="0">
            <a:spAutoFit/>
          </a:bodyPr>
          <a:lstStyle/>
          <a:p>
            <a:r>
              <a:rPr sz="1600" b="1" dirty="0">
                <a:latin typeface="游ゴシック"/>
                <a:ea typeface="游ゴシック"/>
                <a:cs typeface="游ゴシック"/>
              </a:rPr>
              <a:t>&lt;Last year&gt;</a:t>
            </a:r>
            <a:endParaRPr kumimoji="1" lang="en-US" altLang="ja-JP" sz="1600" dirty="0"/>
          </a:p>
          <a:p>
            <a:r>
              <a:rPr sz="1600" b="0" dirty="0">
                <a:latin typeface="游ゴシック"/>
                <a:ea typeface="游ゴシック"/>
                <a:cs typeface="游ゴシック"/>
              </a:rPr>
              <a:t>Purpose: driver protection</a:t>
            </a:r>
          </a:p>
          <a:p>
            <a:r>
              <a:rPr sz="1600" b="0" dirty="0">
                <a:latin typeface="游ゴシック"/>
                <a:ea typeface="游ゴシック"/>
                <a:cs typeface="游ゴシック"/>
              </a:rPr>
              <a:t>Material: glass mat</a:t>
            </a:r>
          </a:p>
        </p:txBody>
      </p:sp>
      <p:sp>
        <p:nvSpPr>
          <p:cNvPr id="6" name="テキスト ボックス 5">
            <a:extLst>
              <a:ext uri="{FF2B5EF4-FFF2-40B4-BE49-F238E27FC236}">
                <a16:creationId xmlns:a16="http://schemas.microsoft.com/office/drawing/2014/main" id="{1A19F3F6-DB65-B2E5-24A0-902F149BA8D3}"/>
              </a:ext>
            </a:extLst>
          </p:cNvPr>
          <p:cNvSpPr txBox="1"/>
          <p:nvPr/>
        </p:nvSpPr>
        <p:spPr>
          <a:xfrm>
            <a:off x="-57150" y="5370675"/>
            <a:ext cx="2868930" cy="1323439"/>
          </a:xfrm>
          <a:prstGeom prst="rect">
            <a:avLst/>
          </a:prstGeom>
          <a:noFill/>
        </p:spPr>
        <p:txBody>
          <a:bodyPr wrap="square" rtlCol="0">
            <a:spAutoFit/>
          </a:bodyPr>
          <a:lstStyle/>
          <a:p>
            <a:r>
              <a:rPr sz="1600" b="1" dirty="0">
                <a:latin typeface="游ゴシック"/>
                <a:ea typeface="游ゴシック"/>
                <a:cs typeface="游ゴシック"/>
              </a:rPr>
              <a:t>&lt;This year&gt;</a:t>
            </a:r>
            <a:endParaRPr kumimoji="1" lang="en-US" altLang="ja-JP" sz="1600" dirty="0"/>
          </a:p>
          <a:p>
            <a:r>
              <a:rPr sz="1600" b="0" dirty="0">
                <a:latin typeface="游ゴシック"/>
                <a:ea typeface="游ゴシック"/>
                <a:cs typeface="游ゴシック"/>
              </a:rPr>
              <a:t>Purpose: 1. driver protection</a:t>
            </a:r>
          </a:p>
          <a:p>
            <a:r>
              <a:rPr sz="1600" b="0" dirty="0">
                <a:latin typeface="游ゴシック"/>
                <a:ea typeface="游ゴシック"/>
                <a:cs typeface="游ゴシック"/>
              </a:rPr>
              <a:t>2. increase wheel load</a:t>
            </a:r>
          </a:p>
          <a:p>
            <a:r>
              <a:rPr sz="1600" b="0" dirty="0">
                <a:latin typeface="游ゴシック"/>
                <a:ea typeface="游ゴシック"/>
                <a:cs typeface="游ゴシック"/>
              </a:rPr>
              <a:t>→ diffuser added</a:t>
            </a:r>
          </a:p>
          <a:p>
            <a:r>
              <a:rPr sz="1600" b="0" dirty="0">
                <a:latin typeface="游ゴシック"/>
                <a:ea typeface="游ゴシック"/>
                <a:cs typeface="游ゴシック"/>
              </a:rPr>
              <a:t>Material: AFRP</a:t>
            </a:r>
          </a:p>
        </p:txBody>
      </p:sp>
      <p:sp>
        <p:nvSpPr>
          <p:cNvPr id="7" name="テキスト ボックス 6">
            <a:extLst>
              <a:ext uri="{FF2B5EF4-FFF2-40B4-BE49-F238E27FC236}">
                <a16:creationId xmlns:a16="http://schemas.microsoft.com/office/drawing/2014/main" id="{17082F90-1A57-76E4-765A-92897ABA0D13}"/>
              </a:ext>
            </a:extLst>
          </p:cNvPr>
          <p:cNvSpPr txBox="1"/>
          <p:nvPr/>
        </p:nvSpPr>
        <p:spPr>
          <a:xfrm>
            <a:off x="98319" y="1695635"/>
            <a:ext cx="7067789" cy="461665"/>
          </a:xfrm>
          <a:prstGeom prst="rect">
            <a:avLst/>
          </a:prstGeom>
          <a:noFill/>
        </p:spPr>
        <p:txBody>
          <a:bodyPr wrap="square" rtlCol="0">
            <a:spAutoFit/>
          </a:bodyPr>
          <a:lstStyle/>
          <a:p>
            <a:r>
              <a:rPr sz="1600" b="1">
                <a:latin typeface="游ゴシック"/>
                <a:ea typeface="游ゴシック"/>
                <a:cs typeface="游ゴシック"/>
              </a:rPr>
              <a:t>Vehicle concept: “Strong, Sharp, Reliable”</a:t>
            </a:r>
          </a:p>
        </p:txBody>
      </p:sp>
      <p:cxnSp>
        <p:nvCxnSpPr>
          <p:cNvPr id="8" name="直線コネクタ 7">
            <a:extLst>
              <a:ext uri="{FF2B5EF4-FFF2-40B4-BE49-F238E27FC236}">
                <a16:creationId xmlns:a16="http://schemas.microsoft.com/office/drawing/2014/main" id="{A9935990-0A86-225C-BC7B-EF8178682E7A}"/>
              </a:ext>
            </a:extLst>
          </p:cNvPr>
          <p:cNvCxnSpPr>
            <a:cxnSpLocks/>
          </p:cNvCxnSpPr>
          <p:nvPr/>
        </p:nvCxnSpPr>
        <p:spPr>
          <a:xfrm flipV="1">
            <a:off x="5973095" y="1063165"/>
            <a:ext cx="0" cy="5694823"/>
          </a:xfrm>
          <a:prstGeom prst="line">
            <a:avLst/>
          </a:prstGeom>
          <a:ln w="57150">
            <a:solidFill>
              <a:srgbClr val="00B0F0"/>
            </a:solidFill>
            <a:prstDash val="solid"/>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21CE451D-0F7F-5429-868D-F06BF8489910}"/>
              </a:ext>
            </a:extLst>
          </p:cNvPr>
          <p:cNvCxnSpPr>
            <a:cxnSpLocks/>
          </p:cNvCxnSpPr>
          <p:nvPr/>
        </p:nvCxnSpPr>
        <p:spPr>
          <a:xfrm flipH="1">
            <a:off x="2730774" y="2009637"/>
            <a:ext cx="678425" cy="0"/>
          </a:xfrm>
          <a:prstGeom prst="line">
            <a:avLst/>
          </a:prstGeom>
          <a:ln w="57150">
            <a:solidFill>
              <a:srgbClr val="FF0000"/>
            </a:solidFill>
            <a:prstDash val="solid"/>
          </a:ln>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AA7EB9FA-A248-61E9-A773-9C4583A00A42}"/>
              </a:ext>
            </a:extLst>
          </p:cNvPr>
          <p:cNvCxnSpPr>
            <a:cxnSpLocks/>
          </p:cNvCxnSpPr>
          <p:nvPr/>
        </p:nvCxnSpPr>
        <p:spPr>
          <a:xfrm flipH="1">
            <a:off x="3504953" y="2009637"/>
            <a:ext cx="1130710" cy="0"/>
          </a:xfrm>
          <a:prstGeom prst="line">
            <a:avLst/>
          </a:prstGeom>
          <a:ln w="57150">
            <a:solidFill>
              <a:srgbClr val="FF0000"/>
            </a:solidFill>
            <a:prstDash val="solid"/>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41068B82-8451-D90F-DE25-6B4E740A2CC0}"/>
              </a:ext>
            </a:extLst>
          </p:cNvPr>
          <p:cNvSpPr txBox="1"/>
          <p:nvPr/>
        </p:nvSpPr>
        <p:spPr>
          <a:xfrm>
            <a:off x="250038" y="2339837"/>
            <a:ext cx="2873442" cy="830997"/>
          </a:xfrm>
          <a:prstGeom prst="rect">
            <a:avLst/>
          </a:prstGeom>
          <a:noFill/>
        </p:spPr>
        <p:txBody>
          <a:bodyPr wrap="square" rtlCol="0">
            <a:spAutoFit/>
          </a:bodyPr>
          <a:lstStyle/>
          <a:p>
            <a:r>
              <a:rPr sz="1600" b="1" dirty="0">
                <a:latin typeface="游ゴシック"/>
                <a:ea typeface="游ゴシック"/>
                <a:cs typeface="游ゴシック"/>
              </a:rPr>
              <a:t>For sharp cornering</a:t>
            </a:r>
            <a:endParaRPr kumimoji="1" lang="en-US" altLang="ja-JP" sz="1600" dirty="0"/>
          </a:p>
          <a:p>
            <a:r>
              <a:rPr sz="1600" b="0" dirty="0">
                <a:latin typeface="游ゴシック"/>
                <a:ea typeface="游ゴシック"/>
                <a:cs typeface="游ゴシック"/>
              </a:rPr>
              <a:t>- From “protection only” to “load generation”</a:t>
            </a:r>
          </a:p>
          <a:p>
            <a:r>
              <a:rPr sz="1600" b="0" dirty="0">
                <a:latin typeface="游ゴシック"/>
                <a:ea typeface="游ゴシック"/>
                <a:cs typeface="游ゴシック"/>
              </a:rPr>
              <a:t>- Provide stable downforce</a:t>
            </a:r>
          </a:p>
        </p:txBody>
      </p:sp>
      <p:sp>
        <p:nvSpPr>
          <p:cNvPr id="12" name="テキスト ボックス 11">
            <a:extLst>
              <a:ext uri="{FF2B5EF4-FFF2-40B4-BE49-F238E27FC236}">
                <a16:creationId xmlns:a16="http://schemas.microsoft.com/office/drawing/2014/main" id="{8F6169CB-4E66-5F0D-B49C-E69F26C438C5}"/>
              </a:ext>
            </a:extLst>
          </p:cNvPr>
          <p:cNvSpPr txBox="1"/>
          <p:nvPr/>
        </p:nvSpPr>
        <p:spPr>
          <a:xfrm>
            <a:off x="3123480" y="2338257"/>
            <a:ext cx="2617626" cy="1323439"/>
          </a:xfrm>
          <a:prstGeom prst="rect">
            <a:avLst/>
          </a:prstGeom>
          <a:noFill/>
        </p:spPr>
        <p:txBody>
          <a:bodyPr wrap="square" rtlCol="0">
            <a:spAutoFit/>
          </a:bodyPr>
          <a:lstStyle/>
          <a:p>
            <a:r>
              <a:rPr sz="1600" b="1" dirty="0">
                <a:latin typeface="游ゴシック"/>
                <a:ea typeface="游ゴシック"/>
                <a:cs typeface="游ゴシック"/>
              </a:rPr>
              <a:t>For reliable operation</a:t>
            </a:r>
            <a:endParaRPr kumimoji="1" lang="en-US" altLang="ja-JP" sz="1600" dirty="0"/>
          </a:p>
          <a:p>
            <a:r>
              <a:rPr sz="1600" b="0" dirty="0">
                <a:latin typeface="游ゴシック"/>
                <a:ea typeface="游ゴシック"/>
                <a:cs typeface="游ゴシック"/>
              </a:rPr>
              <a:t>- Protect the radiator</a:t>
            </a:r>
          </a:p>
          <a:p>
            <a:r>
              <a:rPr sz="1600" b="0" dirty="0">
                <a:latin typeface="游ゴシック"/>
                <a:ea typeface="游ゴシック"/>
                <a:cs typeface="游ゴシック"/>
              </a:rPr>
              <a:t>- Select suitable mold method</a:t>
            </a:r>
          </a:p>
          <a:p>
            <a:r>
              <a:rPr sz="1600" b="0" dirty="0">
                <a:latin typeface="游ゴシック"/>
                <a:ea typeface="游ゴシック"/>
                <a:cs typeface="游ゴシック"/>
              </a:rPr>
              <a:t>- Select suitable material</a:t>
            </a:r>
          </a:p>
        </p:txBody>
      </p:sp>
      <p:sp>
        <p:nvSpPr>
          <p:cNvPr id="13" name="正方形/長方形 12">
            <a:extLst>
              <a:ext uri="{FF2B5EF4-FFF2-40B4-BE49-F238E27FC236}">
                <a16:creationId xmlns:a16="http://schemas.microsoft.com/office/drawing/2014/main" id="{7B52F631-1707-320E-EF04-A8CD82A1381F}"/>
              </a:ext>
            </a:extLst>
          </p:cNvPr>
          <p:cNvSpPr/>
          <p:nvPr/>
        </p:nvSpPr>
        <p:spPr>
          <a:xfrm>
            <a:off x="98321" y="1649220"/>
            <a:ext cx="5644454" cy="2203726"/>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B7A9F90-6EE3-AAF7-910C-0B8CB2415FA9}"/>
              </a:ext>
            </a:extLst>
          </p:cNvPr>
          <p:cNvSpPr/>
          <p:nvPr/>
        </p:nvSpPr>
        <p:spPr>
          <a:xfrm>
            <a:off x="269887" y="2303305"/>
            <a:ext cx="2713207" cy="141250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9B9618E-E133-ED5D-C4CA-3BCE87C88B65}"/>
              </a:ext>
            </a:extLst>
          </p:cNvPr>
          <p:cNvSpPr/>
          <p:nvPr/>
        </p:nvSpPr>
        <p:spPr>
          <a:xfrm>
            <a:off x="3069987" y="2303306"/>
            <a:ext cx="2541643" cy="141250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4B656BDF-8C97-C247-37EB-E9B4FA3C65FC}"/>
              </a:ext>
            </a:extLst>
          </p:cNvPr>
          <p:cNvCxnSpPr>
            <a:cxnSpLocks/>
            <a:stCxn id="15" idx="0"/>
          </p:cNvCxnSpPr>
          <p:nvPr/>
        </p:nvCxnSpPr>
        <p:spPr>
          <a:xfrm flipH="1" flipV="1">
            <a:off x="3908324" y="2009637"/>
            <a:ext cx="432485" cy="293669"/>
          </a:xfrm>
          <a:prstGeom prst="line">
            <a:avLst/>
          </a:prstGeom>
          <a:ln w="19050">
            <a:solidFill>
              <a:srgbClr val="FF0000"/>
            </a:solidFill>
            <a:prstDash val="solid"/>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4CB03813-EAF9-0C9A-C1CB-0184B58B43DD}"/>
              </a:ext>
            </a:extLst>
          </p:cNvPr>
          <p:cNvCxnSpPr>
            <a:cxnSpLocks/>
          </p:cNvCxnSpPr>
          <p:nvPr/>
        </p:nvCxnSpPr>
        <p:spPr>
          <a:xfrm flipV="1">
            <a:off x="1805940" y="2009637"/>
            <a:ext cx="1062990" cy="276363"/>
          </a:xfrm>
          <a:prstGeom prst="line">
            <a:avLst/>
          </a:prstGeom>
          <a:ln w="19050">
            <a:solidFill>
              <a:srgbClr val="FF0000"/>
            </a:solidFill>
            <a:prstDash val="solid"/>
          </a:ln>
        </p:spPr>
        <p:style>
          <a:lnRef idx="2">
            <a:schemeClr val="accent1"/>
          </a:lnRef>
          <a:fillRef idx="0">
            <a:schemeClr val="accent1"/>
          </a:fillRef>
          <a:effectRef idx="1">
            <a:schemeClr val="accent1"/>
          </a:effectRef>
          <a:fontRef idx="minor">
            <a:schemeClr val="tx1"/>
          </a:fontRef>
        </p:style>
      </p:cxnSp>
      <p:pic>
        <p:nvPicPr>
          <p:cNvPr id="29" name="図 28" descr="白黒の写真に文字の書かれた紙&#10;&#10;低い精度で自動的に生成された説明">
            <a:extLst>
              <a:ext uri="{FF2B5EF4-FFF2-40B4-BE49-F238E27FC236}">
                <a16:creationId xmlns:a16="http://schemas.microsoft.com/office/drawing/2014/main" id="{638E5D47-9268-1142-4DB7-2A79D39CA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2572" y="3812798"/>
            <a:ext cx="2995310" cy="1193477"/>
          </a:xfrm>
          <a:prstGeom prst="rect">
            <a:avLst/>
          </a:prstGeom>
        </p:spPr>
      </p:pic>
      <p:sp>
        <p:nvSpPr>
          <p:cNvPr id="30" name="テキスト ボックス 29">
            <a:extLst>
              <a:ext uri="{FF2B5EF4-FFF2-40B4-BE49-F238E27FC236}">
                <a16:creationId xmlns:a16="http://schemas.microsoft.com/office/drawing/2014/main" id="{9BCE0872-1F0D-70F7-3AB4-24AD2290A4FE}"/>
              </a:ext>
            </a:extLst>
          </p:cNvPr>
          <p:cNvSpPr txBox="1"/>
          <p:nvPr/>
        </p:nvSpPr>
        <p:spPr>
          <a:xfrm>
            <a:off x="5937052" y="971128"/>
            <a:ext cx="6350193" cy="1815882"/>
          </a:xfrm>
          <a:prstGeom prst="rect">
            <a:avLst/>
          </a:prstGeom>
          <a:noFill/>
        </p:spPr>
        <p:txBody>
          <a:bodyPr wrap="square" rtlCol="0">
            <a:spAutoFit/>
          </a:bodyPr>
          <a:lstStyle/>
          <a:p>
            <a:r>
              <a:rPr sz="1600" b="1" dirty="0">
                <a:latin typeface="游ゴシック"/>
                <a:ea typeface="游ゴシック"/>
                <a:cs typeface="游ゴシック"/>
              </a:rPr>
              <a:t>Diffuser angle selection</a:t>
            </a:r>
            <a:endParaRPr kumimoji="1" lang="en-US" altLang="ja-JP" sz="1600" b="1" dirty="0"/>
          </a:p>
          <a:p>
            <a:r>
              <a:rPr sz="1600" b="0" dirty="0">
                <a:latin typeface="游ゴシック"/>
                <a:ea typeface="游ゴシック"/>
                <a:cs typeface="游ゴシック"/>
              </a:rPr>
              <a:t>Packaging around the powertrain limited the diffuser angle, so 5°, 10°, and 15° models were analyzed in 3D.</a:t>
            </a:r>
          </a:p>
          <a:p>
            <a:r>
              <a:rPr sz="1600" b="0" dirty="0">
                <a:latin typeface="游ゴシック"/>
                <a:ea typeface="游ゴシック"/>
                <a:cs typeface="游ゴシック"/>
              </a:rPr>
              <a:t>Ride height was varied from 10 to 50 mm in 10 mm steps to evaluate downforce stability during vertical vehicle motion.</a:t>
            </a:r>
          </a:p>
          <a:p>
            <a:r>
              <a:rPr sz="1600" b="0" dirty="0">
                <a:latin typeface="游ゴシック"/>
                <a:ea typeface="游ゴシック"/>
                <a:cs typeface="游ゴシック"/>
              </a:rPr>
              <a:t>The final angle was selected by prioritizing the largest minimum-to-maximum downforce ratio.</a:t>
            </a:r>
          </a:p>
        </p:txBody>
      </p:sp>
      <p:sp>
        <p:nvSpPr>
          <p:cNvPr id="40" name="四角形: 角を丸くする 39">
            <a:extLst>
              <a:ext uri="{FF2B5EF4-FFF2-40B4-BE49-F238E27FC236}">
                <a16:creationId xmlns:a16="http://schemas.microsoft.com/office/drawing/2014/main" id="{B4D86936-B29B-DE50-A6B4-6625289A2868}"/>
              </a:ext>
            </a:extLst>
          </p:cNvPr>
          <p:cNvSpPr/>
          <p:nvPr/>
        </p:nvSpPr>
        <p:spPr>
          <a:xfrm>
            <a:off x="6135907" y="6416064"/>
            <a:ext cx="5840743" cy="338554"/>
          </a:xfrm>
          <a:prstGeom prst="round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テキスト ボックス 40">
            <a:extLst>
              <a:ext uri="{FF2B5EF4-FFF2-40B4-BE49-F238E27FC236}">
                <a16:creationId xmlns:a16="http://schemas.microsoft.com/office/drawing/2014/main" id="{635AC155-37F1-904B-A948-AE0707BD2F0C}"/>
              </a:ext>
            </a:extLst>
          </p:cNvPr>
          <p:cNvSpPr txBox="1"/>
          <p:nvPr/>
        </p:nvSpPr>
        <p:spPr>
          <a:xfrm>
            <a:off x="6173364" y="6449271"/>
            <a:ext cx="6148170" cy="338554"/>
          </a:xfrm>
          <a:prstGeom prst="rect">
            <a:avLst/>
          </a:prstGeom>
          <a:noFill/>
        </p:spPr>
        <p:txBody>
          <a:bodyPr wrap="square" rtlCol="0">
            <a:spAutoFit/>
          </a:bodyPr>
          <a:lstStyle/>
          <a:p>
            <a:r>
              <a:rPr sz="1600" b="0" dirty="0">
                <a:latin typeface="游ゴシック"/>
                <a:ea typeface="游ゴシック"/>
                <a:cs typeface="游ゴシック"/>
              </a:rPr>
              <a:t>Analysis tool: </a:t>
            </a:r>
            <a:r>
              <a:rPr sz="1600" b="0" dirty="0" err="1">
                <a:latin typeface="游ゴシック"/>
                <a:ea typeface="游ゴシック"/>
                <a:cs typeface="游ゴシック"/>
              </a:rPr>
              <a:t>OpenFOAM</a:t>
            </a:r>
            <a:r>
              <a:rPr sz="1600" b="0" dirty="0">
                <a:latin typeface="游ゴシック"/>
                <a:ea typeface="游ゴシック"/>
                <a:cs typeface="游ゴシック"/>
              </a:rPr>
              <a:t>   Flow speed: 11 m/s (= 40 km/h)</a:t>
            </a:r>
            <a:endParaRPr kumimoji="1" lang="ja-JP" altLang="en-US" sz="1600" dirty="0"/>
          </a:p>
        </p:txBody>
      </p:sp>
      <p:pic>
        <p:nvPicPr>
          <p:cNvPr id="55" name="図 54" descr="テーブル&#10;&#10;自動的に生成された説明">
            <a:extLst>
              <a:ext uri="{FF2B5EF4-FFF2-40B4-BE49-F238E27FC236}">
                <a16:creationId xmlns:a16="http://schemas.microsoft.com/office/drawing/2014/main" id="{A50677CC-ED05-F8EE-C8D5-C5AC686FED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7097" y="5072155"/>
            <a:ext cx="3063846" cy="1266698"/>
          </a:xfrm>
          <a:prstGeom prst="rect">
            <a:avLst/>
          </a:prstGeom>
        </p:spPr>
      </p:pic>
      <p:pic>
        <p:nvPicPr>
          <p:cNvPr id="57" name="図 56" descr="グラフ, 折れ線グラフ&#10;&#10;自動的に生成された説明">
            <a:extLst>
              <a:ext uri="{FF2B5EF4-FFF2-40B4-BE49-F238E27FC236}">
                <a16:creationId xmlns:a16="http://schemas.microsoft.com/office/drawing/2014/main" id="{641853EF-F611-0612-8386-3CA46131A8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419" y="5068479"/>
            <a:ext cx="2768871" cy="1273418"/>
          </a:xfrm>
          <a:prstGeom prst="rect">
            <a:avLst/>
          </a:prstGeom>
        </p:spPr>
      </p:pic>
      <p:pic>
        <p:nvPicPr>
          <p:cNvPr id="58" name="図 57">
            <a:extLst>
              <a:ext uri="{FF2B5EF4-FFF2-40B4-BE49-F238E27FC236}">
                <a16:creationId xmlns:a16="http://schemas.microsoft.com/office/drawing/2014/main" id="{E4E3A5C2-C0CC-A937-FE61-84EAA93EA6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2163" y="5348455"/>
            <a:ext cx="3124614" cy="1367880"/>
          </a:xfrm>
          <a:prstGeom prst="rect">
            <a:avLst/>
          </a:prstGeom>
        </p:spPr>
      </p:pic>
      <p:sp>
        <p:nvSpPr>
          <p:cNvPr id="59" name="矢印: 下 58">
            <a:extLst>
              <a:ext uri="{FF2B5EF4-FFF2-40B4-BE49-F238E27FC236}">
                <a16:creationId xmlns:a16="http://schemas.microsoft.com/office/drawing/2014/main" id="{B06125DF-8A24-44A3-7E76-44CFD57DC374}"/>
              </a:ext>
            </a:extLst>
          </p:cNvPr>
          <p:cNvSpPr/>
          <p:nvPr/>
        </p:nvSpPr>
        <p:spPr>
          <a:xfrm>
            <a:off x="910873" y="4801754"/>
            <a:ext cx="715617" cy="573854"/>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1" name="図 60" descr="テーブル が含まれている画像&#10;&#10;自動的に生成された説明">
            <a:extLst>
              <a:ext uri="{FF2B5EF4-FFF2-40B4-BE49-F238E27FC236}">
                <a16:creationId xmlns:a16="http://schemas.microsoft.com/office/drawing/2014/main" id="{A3C1A354-98FC-7DE1-E030-761BF74B3E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19006" y="3999316"/>
            <a:ext cx="3124613" cy="1275410"/>
          </a:xfrm>
          <a:prstGeom prst="rect">
            <a:avLst/>
          </a:prstGeom>
        </p:spPr>
      </p:pic>
      <p:pic>
        <p:nvPicPr>
          <p:cNvPr id="63" name="図 62" descr="テーブル, 飛行機 が含まれている画像&#10;&#10;自動的に生成された説明">
            <a:extLst>
              <a:ext uri="{FF2B5EF4-FFF2-40B4-BE49-F238E27FC236}">
                <a16:creationId xmlns:a16="http://schemas.microsoft.com/office/drawing/2014/main" id="{668BB500-B162-B37C-D410-830AD2C38F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43482" y="2459635"/>
            <a:ext cx="2758952" cy="1310501"/>
          </a:xfrm>
          <a:prstGeom prst="rect">
            <a:avLst/>
          </a:prstGeom>
        </p:spPr>
      </p:pic>
      <p:pic>
        <p:nvPicPr>
          <p:cNvPr id="64" name="図 63">
            <a:extLst>
              <a:ext uri="{FF2B5EF4-FFF2-40B4-BE49-F238E27FC236}">
                <a16:creationId xmlns:a16="http://schemas.microsoft.com/office/drawing/2014/main" id="{21F480F5-E9C9-6417-FCD6-864990A7D8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43482" y="3807219"/>
            <a:ext cx="2751721" cy="1204637"/>
          </a:xfrm>
          <a:prstGeom prst="rect">
            <a:avLst/>
          </a:prstGeom>
        </p:spPr>
      </p:pic>
      <p:sp>
        <p:nvSpPr>
          <p:cNvPr id="65" name="テキスト ボックス 64">
            <a:extLst>
              <a:ext uri="{FF2B5EF4-FFF2-40B4-BE49-F238E27FC236}">
                <a16:creationId xmlns:a16="http://schemas.microsoft.com/office/drawing/2014/main" id="{D6BC0A07-1C8D-5596-A90E-FB6EA3AC1775}"/>
              </a:ext>
            </a:extLst>
          </p:cNvPr>
          <p:cNvSpPr txBox="1"/>
          <p:nvPr/>
        </p:nvSpPr>
        <p:spPr>
          <a:xfrm>
            <a:off x="6173365" y="3827701"/>
            <a:ext cx="545488" cy="369332"/>
          </a:xfrm>
          <a:prstGeom prst="rect">
            <a:avLst/>
          </a:prstGeom>
          <a:noFill/>
        </p:spPr>
        <p:txBody>
          <a:bodyPr wrap="square" rtlCol="0">
            <a:spAutoFit/>
          </a:bodyPr>
          <a:lstStyle/>
          <a:p>
            <a:r>
              <a:rPr lang="en-US" altLang="ja-JP" sz="1600" b="1" dirty="0">
                <a:latin typeface="游ゴシック"/>
                <a:ea typeface="游ゴシック"/>
                <a:cs typeface="游ゴシック"/>
              </a:rPr>
              <a:t>5°</a:t>
            </a:r>
            <a:endParaRPr kumimoji="1" lang="ja-JP" altLang="en-US" b="1" dirty="0"/>
          </a:p>
        </p:txBody>
      </p:sp>
      <p:sp>
        <p:nvSpPr>
          <p:cNvPr id="68" name="テキスト ボックス 67">
            <a:extLst>
              <a:ext uri="{FF2B5EF4-FFF2-40B4-BE49-F238E27FC236}">
                <a16:creationId xmlns:a16="http://schemas.microsoft.com/office/drawing/2014/main" id="{2FBE754B-A472-A7C0-7C1C-966BE34D2046}"/>
              </a:ext>
            </a:extLst>
          </p:cNvPr>
          <p:cNvSpPr txBox="1"/>
          <p:nvPr/>
        </p:nvSpPr>
        <p:spPr>
          <a:xfrm>
            <a:off x="9327004" y="3812377"/>
            <a:ext cx="762376" cy="369332"/>
          </a:xfrm>
          <a:prstGeom prst="rect">
            <a:avLst/>
          </a:prstGeom>
          <a:noFill/>
        </p:spPr>
        <p:txBody>
          <a:bodyPr wrap="square" rtlCol="0">
            <a:spAutoFit/>
          </a:bodyPr>
          <a:lstStyle/>
          <a:p>
            <a:r>
              <a:rPr lang="en-US" altLang="ja-JP" sz="1600" b="1" dirty="0">
                <a:latin typeface="游ゴシック"/>
                <a:ea typeface="游ゴシック"/>
                <a:cs typeface="游ゴシック"/>
              </a:rPr>
              <a:t>15°</a:t>
            </a:r>
            <a:endParaRPr kumimoji="1" lang="ja-JP" altLang="en-US" b="1" dirty="0"/>
          </a:p>
        </p:txBody>
      </p:sp>
      <p:sp>
        <p:nvSpPr>
          <p:cNvPr id="69" name="テキスト ボックス 68">
            <a:extLst>
              <a:ext uri="{FF2B5EF4-FFF2-40B4-BE49-F238E27FC236}">
                <a16:creationId xmlns:a16="http://schemas.microsoft.com/office/drawing/2014/main" id="{F005AA3A-D987-8AD1-4619-EBCA7436CD6C}"/>
              </a:ext>
            </a:extLst>
          </p:cNvPr>
          <p:cNvSpPr txBox="1"/>
          <p:nvPr/>
        </p:nvSpPr>
        <p:spPr>
          <a:xfrm>
            <a:off x="9327004" y="2481818"/>
            <a:ext cx="731562" cy="369332"/>
          </a:xfrm>
          <a:prstGeom prst="rect">
            <a:avLst/>
          </a:prstGeom>
          <a:noFill/>
        </p:spPr>
        <p:txBody>
          <a:bodyPr wrap="square" rtlCol="0">
            <a:spAutoFit/>
          </a:bodyPr>
          <a:lstStyle/>
          <a:p>
            <a:r>
              <a:rPr lang="en-US" altLang="ja-JP" sz="1600" b="1" dirty="0">
                <a:latin typeface="游ゴシック"/>
                <a:ea typeface="游ゴシック"/>
                <a:cs typeface="游ゴシック"/>
              </a:rPr>
              <a:t>10°</a:t>
            </a:r>
            <a:endParaRPr kumimoji="1" lang="ja-JP" altLang="en-US" b="1" dirty="0"/>
          </a:p>
        </p:txBody>
      </p:sp>
      <p:sp>
        <p:nvSpPr>
          <p:cNvPr id="24" name="タイトル 1">
            <a:extLst>
              <a:ext uri="{FF2B5EF4-FFF2-40B4-BE49-F238E27FC236}">
                <a16:creationId xmlns:a16="http://schemas.microsoft.com/office/drawing/2014/main" id="{E3F04D1C-8780-4E26-BC5E-5CAE623E1F90}"/>
              </a:ext>
            </a:extLst>
          </p:cNvPr>
          <p:cNvSpPr>
            <a:spLocks noGrp="1"/>
          </p:cNvSpPr>
          <p:nvPr>
            <p:ph type="title"/>
          </p:nvPr>
        </p:nvSpPr>
        <p:spPr>
          <a:xfrm>
            <a:off x="1082691" y="31713"/>
            <a:ext cx="10515600" cy="885115"/>
          </a:xfrm>
        </p:spPr>
        <p:txBody>
          <a:bodyPr wrap="square"/>
          <a:lstStyle/>
          <a:p>
            <a:r>
              <a:rPr sz="4000" b="1" dirty="0">
                <a:latin typeface="游ゴシック"/>
                <a:ea typeface="游ゴシック"/>
                <a:cs typeface="游ゴシック"/>
              </a:rPr>
              <a:t>Aerodynamics</a:t>
            </a:r>
            <a:endParaRPr kumimoji="1" lang="ja-JP" altLang="en-US" dirty="0"/>
          </a:p>
        </p:txBody>
      </p:sp>
    </p:spTree>
    <p:extLst>
      <p:ext uri="{BB962C8B-B14F-4D97-AF65-F5344CB8AC3E}">
        <p14:creationId xmlns:p14="http://schemas.microsoft.com/office/powerpoint/2010/main" val="7690650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14515</TotalTime>
  <Words>1486</Words>
  <Application>Microsoft Macintosh PowerPoint</Application>
  <PresentationFormat>ワイド画面</PresentationFormat>
  <Paragraphs>144</Paragraphs>
  <Slides>6</Slides>
  <Notes>5</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Arial</vt:lpstr>
      <vt:lpstr>Cambria Math</vt:lpstr>
      <vt:lpstr>Office テーマ</vt:lpstr>
      <vt:lpstr>Aerodynamics</vt:lpstr>
      <vt:lpstr>Aerodynamics</vt:lpstr>
      <vt:lpstr>Aerodynamics</vt:lpstr>
      <vt:lpstr>Aerodynamics</vt:lpstr>
      <vt:lpstr>Aerodynamics</vt:lpstr>
      <vt:lpstr>Aerodynamics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2026年度方針</dc:title>
  <dc:creator>ayato niwa</dc:creator>
  <cp:lastModifiedBy>皆川　草太</cp:lastModifiedBy>
  <cp:revision>161</cp:revision>
  <dcterms:created xsi:type="dcterms:W3CDTF">2025-09-17T16:33:16Z</dcterms:created>
  <dcterms:modified xsi:type="dcterms:W3CDTF">2026-05-10T05:22:55Z</dcterms:modified>
</cp:coreProperties>
</file>