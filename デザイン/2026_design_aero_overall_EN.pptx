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3"/>
  </p:notesMasterIdLst>
  <p:sldIdLst>
    <p:sldId id="288" r:id="rId2"/>
    <p:sldId id="286" r:id="rId3"/>
    <p:sldId id="270" r:id="rId4"/>
    <p:sldId id="278" r:id="rId5"/>
    <p:sldId id="291" r:id="rId6"/>
    <p:sldId id="285" r:id="rId7"/>
    <p:sldId id="287" r:id="rId8"/>
    <p:sldId id="279" r:id="rId9"/>
    <p:sldId id="280" r:id="rId10"/>
    <p:sldId id="289" r:id="rId11"/>
    <p:sldId id="290"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日本語" id="{7E8CFB1E-C4F0-1148-908E-F4801D9547F3}">
          <p14:sldIdLst>
            <p14:sldId id="288"/>
            <p14:sldId id="286"/>
            <p14:sldId id="270"/>
            <p14:sldId id="278"/>
            <p14:sldId id="291"/>
          </p14:sldIdLst>
        </p14:section>
        <p14:section name="EN" id="{EB0C38CE-F824-5E4A-B23C-87ECA49620C7}">
          <p14:sldIdLst>
            <p14:sldId id="285"/>
            <p14:sldId id="287"/>
            <p14:sldId id="279"/>
            <p14:sldId id="280"/>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95D9"/>
    <a:srgbClr val="FFFFFF"/>
    <a:srgbClr val="C1C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4C9B91-B561-4166-AD25-6483392F9263}" v="17" dt="2026-04-30T06:16:14.0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93415" autoAdjust="0"/>
  </p:normalViewPr>
  <p:slideViewPr>
    <p:cSldViewPr snapToGrid="0">
      <p:cViewPr varScale="1">
        <p:scale>
          <a:sx n="112" d="100"/>
          <a:sy n="112" d="100"/>
        </p:scale>
        <p:origin x="576"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40AB8-B2D8-4875-BFBD-64ED3DE7DD4A}" type="datetimeFigureOut">
              <a:rPr kumimoji="1" lang="ja-JP" altLang="en-US" smtClean="0"/>
              <a:t>2026/5/10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F00B1F-E3FE-4F0F-B1E1-4E5B8CEC7A73}" type="slidenum">
              <a:rPr kumimoji="1" lang="ja-JP" altLang="en-US" smtClean="0"/>
              <a:t>‹#›</a:t>
            </a:fld>
            <a:endParaRPr kumimoji="1" lang="ja-JP" altLang="en-US"/>
          </a:p>
        </p:txBody>
      </p:sp>
    </p:spTree>
    <p:extLst>
      <p:ext uri="{BB962C8B-B14F-4D97-AF65-F5344CB8AC3E}">
        <p14:creationId xmlns:p14="http://schemas.microsoft.com/office/powerpoint/2010/main" val="149420477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5F00B1F-E3FE-4F0F-B1E1-4E5B8CEC7A73}" type="slidenum">
              <a:rPr kumimoji="1" lang="ja-JP" altLang="en-US" smtClean="0"/>
              <a:t>2</a:t>
            </a:fld>
            <a:endParaRPr kumimoji="1" lang="ja-JP" altLang="en-US"/>
          </a:p>
        </p:txBody>
      </p:sp>
    </p:spTree>
    <p:extLst>
      <p:ext uri="{BB962C8B-B14F-4D97-AF65-F5344CB8AC3E}">
        <p14:creationId xmlns:p14="http://schemas.microsoft.com/office/powerpoint/2010/main" val="1915161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5F00B1F-E3FE-4F0F-B1E1-4E5B8CEC7A73}" type="slidenum">
              <a:rPr kumimoji="1" lang="ja-JP" altLang="en-US" smtClean="0"/>
              <a:t>5</a:t>
            </a:fld>
            <a:endParaRPr kumimoji="1" lang="ja-JP" altLang="en-US"/>
          </a:p>
        </p:txBody>
      </p:sp>
    </p:spTree>
    <p:extLst>
      <p:ext uri="{BB962C8B-B14F-4D97-AF65-F5344CB8AC3E}">
        <p14:creationId xmlns:p14="http://schemas.microsoft.com/office/powerpoint/2010/main" val="2830717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F00B1F-E3FE-4F0F-B1E1-4E5B8CEC7A73}" type="slidenum">
              <a:rPr kumimoji="1" lang="ja-JP" altLang="en-US" smtClean="0"/>
              <a:t>6</a:t>
            </a:fld>
            <a:endParaRPr kumimoji="1" lang="ja-JP" altLang="en-US"/>
          </a:p>
        </p:txBody>
      </p:sp>
    </p:spTree>
    <p:extLst>
      <p:ext uri="{BB962C8B-B14F-4D97-AF65-F5344CB8AC3E}">
        <p14:creationId xmlns:p14="http://schemas.microsoft.com/office/powerpoint/2010/main" val="567503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F00B1F-E3FE-4F0F-B1E1-4E5B8CEC7A73}" type="slidenum">
              <a:rPr kumimoji="1" lang="ja-JP" altLang="en-US" smtClean="0"/>
              <a:t>7</a:t>
            </a:fld>
            <a:endParaRPr kumimoji="1" lang="ja-JP" altLang="en-US"/>
          </a:p>
        </p:txBody>
      </p:sp>
    </p:spTree>
    <p:extLst>
      <p:ext uri="{BB962C8B-B14F-4D97-AF65-F5344CB8AC3E}">
        <p14:creationId xmlns:p14="http://schemas.microsoft.com/office/powerpoint/2010/main" val="3361386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40852-B087-B829-4D2C-68BB0C4BFC6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2B28595-85ED-46FF-DC2B-F16E2763532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0B80FE-4AC8-45BC-1944-A72D26F330D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ECF9C-9076-C62C-CA04-ED16BEB1B338}"/>
              </a:ext>
            </a:extLst>
          </p:cNvPr>
          <p:cNvSpPr>
            <a:spLocks noGrp="1"/>
          </p:cNvSpPr>
          <p:nvPr>
            <p:ph type="sldNum" sz="quarter" idx="5"/>
          </p:nvPr>
        </p:nvSpPr>
        <p:spPr/>
        <p:txBody>
          <a:bodyPr/>
          <a:lstStyle/>
          <a:p>
            <a:fld id="{05F00B1F-E3FE-4F0F-B1E1-4E5B8CEC7A73}" type="slidenum">
              <a:rPr kumimoji="1" lang="ja-JP" altLang="en-US" smtClean="0"/>
              <a:t>11</a:t>
            </a:fld>
            <a:endParaRPr kumimoji="1" lang="ja-JP" altLang="en-US"/>
          </a:p>
        </p:txBody>
      </p:sp>
    </p:spTree>
    <p:extLst>
      <p:ext uri="{BB962C8B-B14F-4D97-AF65-F5344CB8AC3E}">
        <p14:creationId xmlns:p14="http://schemas.microsoft.com/office/powerpoint/2010/main" val="396187578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12" name="平行四辺形 11">
            <a:extLst>
              <a:ext uri="{FF2B5EF4-FFF2-40B4-BE49-F238E27FC236}">
                <a16:creationId xmlns:a16="http://schemas.microsoft.com/office/drawing/2014/main" id="{880DCD45-62DE-1242-2145-FEFE4D68530C}"/>
              </a:ext>
            </a:extLst>
          </p:cNvPr>
          <p:cNvSpPr/>
          <p:nvPr userDrawn="1"/>
        </p:nvSpPr>
        <p:spPr>
          <a:xfrm>
            <a:off x="-4410" y="-5758"/>
            <a:ext cx="6551514" cy="6863758"/>
          </a:xfrm>
          <a:custGeom>
            <a:avLst/>
            <a:gdLst>
              <a:gd name="csX0" fmla="*/ 0 w 8674100"/>
              <a:gd name="csY0" fmla="*/ 6831912 h 6831912"/>
              <a:gd name="csX1" fmla="*/ 2084826 w 8674100"/>
              <a:gd name="csY1" fmla="*/ 0 h 6831912"/>
              <a:gd name="csX2" fmla="*/ 8674100 w 8674100"/>
              <a:gd name="csY2" fmla="*/ 0 h 6831912"/>
              <a:gd name="csX3" fmla="*/ 6589274 w 8674100"/>
              <a:gd name="csY3" fmla="*/ 6831912 h 6831912"/>
              <a:gd name="csX4" fmla="*/ 0 w 8674100"/>
              <a:gd name="csY4" fmla="*/ 6831912 h 6831912"/>
              <a:gd name="csX0" fmla="*/ 0 w 8674100"/>
              <a:gd name="csY0" fmla="*/ 6831912 h 6831912"/>
              <a:gd name="csX1" fmla="*/ 54858 w 8674100"/>
              <a:gd name="csY1" fmla="*/ 36576 h 6831912"/>
              <a:gd name="csX2" fmla="*/ 8674100 w 8674100"/>
              <a:gd name="csY2" fmla="*/ 0 h 6831912"/>
              <a:gd name="csX3" fmla="*/ 6589274 w 8674100"/>
              <a:gd name="csY3" fmla="*/ 6831912 h 6831912"/>
              <a:gd name="csX4" fmla="*/ 0 w 8674100"/>
              <a:gd name="csY4" fmla="*/ 6831912 h 6831912"/>
              <a:gd name="csX0" fmla="*/ 4409 w 8678509"/>
              <a:gd name="csY0" fmla="*/ 6837669 h 6837669"/>
              <a:gd name="csX1" fmla="*/ 0 w 8678509"/>
              <a:gd name="csY1" fmla="*/ 0 h 6837669"/>
              <a:gd name="csX2" fmla="*/ 8678509 w 8678509"/>
              <a:gd name="csY2" fmla="*/ 5757 h 6837669"/>
              <a:gd name="csX3" fmla="*/ 6593683 w 8678509"/>
              <a:gd name="csY3" fmla="*/ 6837669 h 6837669"/>
              <a:gd name="csX4" fmla="*/ 4409 w 8678509"/>
              <a:gd name="csY4" fmla="*/ 6837669 h 6837669"/>
              <a:gd name="csX0" fmla="*/ 4409 w 6593683"/>
              <a:gd name="csY0" fmla="*/ 6844612 h 6844612"/>
              <a:gd name="csX1" fmla="*/ 0 w 6593683"/>
              <a:gd name="csY1" fmla="*/ 6943 h 6844612"/>
              <a:gd name="csX2" fmla="*/ 2239609 w 6593683"/>
              <a:gd name="csY2" fmla="*/ 0 h 6844612"/>
              <a:gd name="csX3" fmla="*/ 6593683 w 6593683"/>
              <a:gd name="csY3" fmla="*/ 6844612 h 6844612"/>
              <a:gd name="csX4" fmla="*/ 4409 w 6593683"/>
              <a:gd name="csY4" fmla="*/ 6844612 h 6844612"/>
              <a:gd name="csX0" fmla="*/ 4409 w 6593683"/>
              <a:gd name="csY0" fmla="*/ 6837669 h 6837669"/>
              <a:gd name="csX1" fmla="*/ 0 w 6593683"/>
              <a:gd name="csY1" fmla="*/ 0 h 6837669"/>
              <a:gd name="csX2" fmla="*/ 2531709 w 6593683"/>
              <a:gd name="csY2" fmla="*/ 5757 h 6837669"/>
              <a:gd name="csX3" fmla="*/ 6593683 w 6593683"/>
              <a:gd name="csY3" fmla="*/ 6837669 h 6837669"/>
              <a:gd name="csX4" fmla="*/ 4409 w 6593683"/>
              <a:gd name="csY4" fmla="*/ 6837669 h 6837669"/>
            </a:gdLst>
            <a:ahLst/>
            <a:cxnLst>
              <a:cxn ang="0">
                <a:pos x="csX0" y="csY0"/>
              </a:cxn>
              <a:cxn ang="0">
                <a:pos x="csX1" y="csY1"/>
              </a:cxn>
              <a:cxn ang="0">
                <a:pos x="csX2" y="csY2"/>
              </a:cxn>
              <a:cxn ang="0">
                <a:pos x="csX3" y="csY3"/>
              </a:cxn>
              <a:cxn ang="0">
                <a:pos x="csX4" y="csY4"/>
              </a:cxn>
            </a:cxnLst>
            <a:rect l="l" t="t" r="r" b="b"/>
            <a:pathLst>
              <a:path w="6593683" h="6837669">
                <a:moveTo>
                  <a:pt x="4409" y="6837669"/>
                </a:moveTo>
                <a:cubicBezTo>
                  <a:pt x="2939" y="4558446"/>
                  <a:pt x="1470" y="2279223"/>
                  <a:pt x="0" y="0"/>
                </a:cubicBezTo>
                <a:lnTo>
                  <a:pt x="2531709" y="5757"/>
                </a:lnTo>
                <a:lnTo>
                  <a:pt x="6593683" y="6837669"/>
                </a:lnTo>
                <a:lnTo>
                  <a:pt x="4409" y="6837669"/>
                </a:lnTo>
                <a:close/>
              </a:path>
            </a:pathLst>
          </a:custGeom>
          <a:gradFill flip="none" rotWithShape="1">
            <a:gsLst>
              <a:gs pos="0">
                <a:schemeClr val="bg2">
                  <a:lumMod val="75000"/>
                  <a:shade val="30000"/>
                  <a:satMod val="115000"/>
                </a:schemeClr>
              </a:gs>
              <a:gs pos="50000">
                <a:schemeClr val="bg2">
                  <a:lumMod val="75000"/>
                  <a:shade val="67500"/>
                  <a:satMod val="115000"/>
                </a:schemeClr>
              </a:gs>
              <a:gs pos="100000">
                <a:schemeClr val="bg2">
                  <a:lumMod val="75000"/>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日付プレースホルダー 3">
            <a:extLst>
              <a:ext uri="{FF2B5EF4-FFF2-40B4-BE49-F238E27FC236}">
                <a16:creationId xmlns:a16="http://schemas.microsoft.com/office/drawing/2014/main" id="{BDF7A82D-79BF-364F-2C82-FDD9A2D93B90}"/>
              </a:ext>
            </a:extLst>
          </p:cNvPr>
          <p:cNvSpPr>
            <a:spLocks noGrp="1"/>
          </p:cNvSpPr>
          <p:nvPr>
            <p:ph type="dt" sz="half" idx="10"/>
          </p:nvPr>
        </p:nvSpPr>
        <p:spPr>
          <a:xfrm>
            <a:off x="1758342" y="6196874"/>
            <a:ext cx="2743200" cy="365125"/>
          </a:xfrm>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4264D060-8133-4A46-91C4-B3F3520A110D}" type="datetimeFigureOut">
              <a:rPr lang="ja-JP" altLang="en-US" smtClean="0"/>
              <a:pPr/>
              <a:t>2026/5/10</a:t>
            </a:fld>
            <a:endParaRPr lang="ja-JP" altLang="en-US" dirty="0">
              <a:ln w="0"/>
              <a:solidFill>
                <a:schemeClr val="tx1"/>
              </a:solidFill>
              <a:effectLst>
                <a:outerShdw blurRad="38100" dist="19050" dir="2700000" algn="tl" rotWithShape="0">
                  <a:schemeClr val="dk1">
                    <a:alpha val="40000"/>
                  </a:schemeClr>
                </a:outerShdw>
              </a:effectLst>
            </a:endParaRPr>
          </a:p>
        </p:txBody>
      </p:sp>
      <p:sp>
        <p:nvSpPr>
          <p:cNvPr id="8" name="正方形/長方形 7">
            <a:extLst>
              <a:ext uri="{FF2B5EF4-FFF2-40B4-BE49-F238E27FC236}">
                <a16:creationId xmlns:a16="http://schemas.microsoft.com/office/drawing/2014/main" id="{DE48FD72-980E-F036-FFA4-BCAB48E1ACAD}"/>
              </a:ext>
            </a:extLst>
          </p:cNvPr>
          <p:cNvSpPr/>
          <p:nvPr userDrawn="1"/>
        </p:nvSpPr>
        <p:spPr>
          <a:xfrm>
            <a:off x="0" y="2048256"/>
            <a:ext cx="12191998" cy="2743169"/>
          </a:xfrm>
          <a:prstGeom prst="rect">
            <a:avLst/>
          </a:prstGeom>
          <a:solidFill>
            <a:schemeClr val="bg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6">
            <a:extLst>
              <a:ext uri="{FF2B5EF4-FFF2-40B4-BE49-F238E27FC236}">
                <a16:creationId xmlns:a16="http://schemas.microsoft.com/office/drawing/2014/main" id="{6E0E0E2E-7307-34D8-F3CF-16A2F2ACC371}"/>
              </a:ext>
            </a:extLst>
          </p:cNvPr>
          <p:cNvSpPr>
            <a:spLocks noGrp="1"/>
          </p:cNvSpPr>
          <p:nvPr>
            <p:ph type="title"/>
          </p:nvPr>
        </p:nvSpPr>
        <p:spPr>
          <a:xfrm>
            <a:off x="2210054" y="2634058"/>
            <a:ext cx="8674100" cy="1589882"/>
          </a:xfrm>
        </p:spPr>
        <p:txBody>
          <a:bodyPr>
            <a:normAutofit/>
          </a:bodyPr>
          <a:lstStyle>
            <a:lvl1pPr algn="l">
              <a:defRPr sz="7200" u="none">
                <a:latin typeface="+mn-lt"/>
                <a:ea typeface="ＭＳ Ｐゴシック" panose="020B0600070205080204" pitchFamily="50" charset="-128"/>
              </a:defRPr>
            </a:lvl1pPr>
          </a:lstStyle>
          <a:p>
            <a:endParaRPr kumimoji="1" lang="ja-JP" altLang="en-US" dirty="0"/>
          </a:p>
        </p:txBody>
      </p:sp>
      <p:cxnSp>
        <p:nvCxnSpPr>
          <p:cNvPr id="2" name="直線コネクタ 1">
            <a:extLst>
              <a:ext uri="{FF2B5EF4-FFF2-40B4-BE49-F238E27FC236}">
                <a16:creationId xmlns:a16="http://schemas.microsoft.com/office/drawing/2014/main" id="{6E85D4F5-6112-EA53-504F-67F2AD0E7195}"/>
              </a:ext>
            </a:extLst>
          </p:cNvPr>
          <p:cNvCxnSpPr>
            <a:cxnSpLocks/>
          </p:cNvCxnSpPr>
          <p:nvPr userDrawn="1"/>
        </p:nvCxnSpPr>
        <p:spPr>
          <a:xfrm>
            <a:off x="0" y="6587753"/>
            <a:ext cx="9134856" cy="0"/>
          </a:xfrm>
          <a:prstGeom prst="line">
            <a:avLst/>
          </a:prstGeom>
          <a:ln w="88900">
            <a:solidFill>
              <a:schemeClr val="tx2">
                <a:lumMod val="90000"/>
                <a:lumOff val="10000"/>
              </a:schemeClr>
            </a:solidFill>
          </a:ln>
          <a:effectLst/>
        </p:spPr>
        <p:style>
          <a:lnRef idx="2">
            <a:schemeClr val="dk1"/>
          </a:lnRef>
          <a:fillRef idx="0">
            <a:schemeClr val="dk1"/>
          </a:fillRef>
          <a:effectRef idx="1">
            <a:schemeClr val="dk1"/>
          </a:effectRef>
          <a:fontRef idx="minor">
            <a:schemeClr val="tx1"/>
          </a:fontRef>
        </p:style>
      </p:cxnSp>
      <p:sp>
        <p:nvSpPr>
          <p:cNvPr id="14" name="正方形/長方形 13">
            <a:extLst>
              <a:ext uri="{FF2B5EF4-FFF2-40B4-BE49-F238E27FC236}">
                <a16:creationId xmlns:a16="http://schemas.microsoft.com/office/drawing/2014/main" id="{0B468095-D4AE-0978-A021-6BDDEC250032}"/>
              </a:ext>
            </a:extLst>
          </p:cNvPr>
          <p:cNvSpPr/>
          <p:nvPr userDrawn="1"/>
        </p:nvSpPr>
        <p:spPr>
          <a:xfrm>
            <a:off x="434648" y="0"/>
            <a:ext cx="1190947" cy="6858000"/>
          </a:xfrm>
          <a:prstGeom prst="rect">
            <a:avLst/>
          </a:prstGeom>
          <a:gradFill flip="none" rotWithShape="1">
            <a:gsLst>
              <a:gs pos="0">
                <a:srgbClr val="4E95D9">
                  <a:shade val="30000"/>
                  <a:satMod val="115000"/>
                </a:srgbClr>
              </a:gs>
              <a:gs pos="50000">
                <a:srgbClr val="4E95D9">
                  <a:shade val="67500"/>
                  <a:satMod val="115000"/>
                </a:srgbClr>
              </a:gs>
              <a:gs pos="100000">
                <a:srgbClr val="4E95D9">
                  <a:shade val="100000"/>
                  <a:satMod val="11500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38F5888E-CB54-C2D9-87BE-F37A84A7D6A4}"/>
              </a:ext>
            </a:extLst>
          </p:cNvPr>
          <p:cNvCxnSpPr>
            <a:cxnSpLocks/>
          </p:cNvCxnSpPr>
          <p:nvPr userDrawn="1"/>
        </p:nvCxnSpPr>
        <p:spPr>
          <a:xfrm flipV="1">
            <a:off x="567395" y="68262"/>
            <a:ext cx="0" cy="6721475"/>
          </a:xfrm>
          <a:prstGeom prst="line">
            <a:avLst/>
          </a:prstGeom>
          <a:ln w="38100">
            <a:solidFill>
              <a:schemeClr val="tx1">
                <a:lumMod val="65000"/>
                <a:lumOff val="35000"/>
              </a:schemeClr>
            </a:solidFill>
            <a:prstDash val="sysDash"/>
          </a:ln>
          <a:effectLst>
            <a:outerShdw blurRad="50800" dist="38100" dir="2700000" algn="tl" rotWithShape="0">
              <a:prstClr val="black">
                <a:alpha val="40000"/>
              </a:prstClr>
            </a:outerShdw>
          </a:effectLst>
        </p:spPr>
        <p:style>
          <a:lnRef idx="2">
            <a:schemeClr val="dk1"/>
          </a:lnRef>
          <a:fillRef idx="0">
            <a:schemeClr val="dk1"/>
          </a:fillRef>
          <a:effectRef idx="1">
            <a:schemeClr val="dk1"/>
          </a:effectRef>
          <a:fontRef idx="minor">
            <a:schemeClr val="tx1"/>
          </a:fontRef>
        </p:style>
      </p:cxnSp>
      <p:pic>
        <p:nvPicPr>
          <p:cNvPr id="11" name="図 10" descr="テキスト&#10;&#10;AI 生成コンテンツは誤りを含む可能性があります。">
            <a:extLst>
              <a:ext uri="{FF2B5EF4-FFF2-40B4-BE49-F238E27FC236}">
                <a16:creationId xmlns:a16="http://schemas.microsoft.com/office/drawing/2014/main" id="{1526D9B5-B2EC-4A75-10D9-150236BDF234}"/>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39347" b="39881"/>
          <a:stretch>
            <a:fillRect/>
          </a:stretch>
        </p:blipFill>
        <p:spPr>
          <a:xfrm>
            <a:off x="9134856" y="6196874"/>
            <a:ext cx="3057144" cy="635040"/>
          </a:xfrm>
          <a:prstGeom prst="rect">
            <a:avLst/>
          </a:prstGeom>
          <a:ln>
            <a:noFill/>
          </a:ln>
          <a:effectLst/>
        </p:spPr>
      </p:pic>
    </p:spTree>
    <p:extLst>
      <p:ext uri="{BB962C8B-B14F-4D97-AF65-F5344CB8AC3E}">
        <p14:creationId xmlns:p14="http://schemas.microsoft.com/office/powerpoint/2010/main" val="398924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pic>
        <p:nvPicPr>
          <p:cNvPr id="9" name="図 8" descr="テキスト&#10;&#10;AI 生成コンテンツは誤りを含む可能性があります。">
            <a:extLst>
              <a:ext uri="{FF2B5EF4-FFF2-40B4-BE49-F238E27FC236}">
                <a16:creationId xmlns:a16="http://schemas.microsoft.com/office/drawing/2014/main" id="{5A8ABCE5-FD79-A293-0E0B-36DF3B2E8E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47" y="1977002"/>
            <a:ext cx="7054915" cy="4014216"/>
          </a:xfrm>
          <a:prstGeom prst="rect">
            <a:avLst/>
          </a:prstGeom>
          <a:ln>
            <a:noFill/>
          </a:ln>
          <a:effectLst>
            <a:softEdge rad="112500"/>
          </a:effectLst>
        </p:spPr>
      </p:pic>
      <p:sp>
        <p:nvSpPr>
          <p:cNvPr id="2" name="タイトル 1">
            <a:extLst>
              <a:ext uri="{FF2B5EF4-FFF2-40B4-BE49-F238E27FC236}">
                <a16:creationId xmlns:a16="http://schemas.microsoft.com/office/drawing/2014/main" id="{288328C3-0F1E-D011-2ABE-1A4D0404BB48}"/>
              </a:ext>
            </a:extLst>
          </p:cNvPr>
          <p:cNvSpPr>
            <a:spLocks noGrp="1"/>
          </p:cNvSpPr>
          <p:nvPr>
            <p:ph type="title"/>
          </p:nvPr>
        </p:nvSpPr>
        <p:spPr>
          <a:xfrm>
            <a:off x="976654" y="174233"/>
            <a:ext cx="10831033" cy="2058987"/>
          </a:xfrm>
          <a:noFill/>
          <a:effectLst>
            <a:glow rad="228600">
              <a:schemeClr val="accent1">
                <a:satMod val="175000"/>
                <a:alpha val="40000"/>
              </a:schemeClr>
            </a:glow>
            <a:outerShdw blurRad="50800" dist="38100" dir="2700000" algn="tl" rotWithShape="0">
              <a:prstClr val="black">
                <a:alpha val="40000"/>
              </a:prstClr>
            </a:outerShdw>
          </a:effectLst>
        </p:spPr>
        <p:txBody>
          <a:bodyPr anchor="ctr">
            <a:normAutofit/>
          </a:bodyPr>
          <a:lstStyle>
            <a:lvl1pPr algn="ctr">
              <a:defRPr sz="8800" b="0"/>
            </a:lvl1pPr>
          </a:lstStyle>
          <a:p>
            <a:endParaRPr kumimoji="1" lang="ja-JP" altLang="en-US" dirty="0"/>
          </a:p>
        </p:txBody>
      </p:sp>
      <p:sp>
        <p:nvSpPr>
          <p:cNvPr id="3" name="テキスト プレースホルダー 2">
            <a:extLst>
              <a:ext uri="{FF2B5EF4-FFF2-40B4-BE49-F238E27FC236}">
                <a16:creationId xmlns:a16="http://schemas.microsoft.com/office/drawing/2014/main" id="{C26F101F-53F6-AE5D-E149-E8132C10D1DF}"/>
              </a:ext>
            </a:extLst>
          </p:cNvPr>
          <p:cNvSpPr>
            <a:spLocks noGrp="1"/>
          </p:cNvSpPr>
          <p:nvPr>
            <p:ph type="body" idx="1"/>
          </p:nvPr>
        </p:nvSpPr>
        <p:spPr>
          <a:xfrm>
            <a:off x="7133163" y="2270467"/>
            <a:ext cx="4745662" cy="3623449"/>
          </a:xfrm>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a:lstStyle>
            <a:lvl1pPr marL="0" indent="0">
              <a:buNone/>
              <a:defRPr sz="2400" b="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dirty="0"/>
              <a:t>マスター テキストの書式設定</a:t>
            </a:r>
          </a:p>
        </p:txBody>
      </p:sp>
      <p:sp>
        <p:nvSpPr>
          <p:cNvPr id="4" name="日付プレースホルダー 3">
            <a:extLst>
              <a:ext uri="{FF2B5EF4-FFF2-40B4-BE49-F238E27FC236}">
                <a16:creationId xmlns:a16="http://schemas.microsoft.com/office/drawing/2014/main" id="{95DC95E1-7BEF-84C5-44E0-1974511F501F}"/>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A068D1FB-AAA9-9FCE-A1D1-41E5ED5F2F21}"/>
              </a:ext>
            </a:extLst>
          </p:cNvPr>
          <p:cNvSpPr>
            <a:spLocks noGrp="1"/>
          </p:cNvSpPr>
          <p:nvPr>
            <p:ph type="ftr" sz="quarter" idx="11"/>
          </p:nvPr>
        </p:nvSpPr>
        <p:spPr/>
        <p:txBody>
          <a:bodyPr/>
          <a:lstStyle/>
          <a:p>
            <a:endParaRPr kumimoji="1" lang="ja-JP" altLang="en-US"/>
          </a:p>
        </p:txBody>
      </p:sp>
      <p:grpSp>
        <p:nvGrpSpPr>
          <p:cNvPr id="13" name="グループ化 12">
            <a:extLst>
              <a:ext uri="{FF2B5EF4-FFF2-40B4-BE49-F238E27FC236}">
                <a16:creationId xmlns:a16="http://schemas.microsoft.com/office/drawing/2014/main" id="{8E98E9F8-1F95-3B6F-DDF8-4681FA184A66}"/>
              </a:ext>
            </a:extLst>
          </p:cNvPr>
          <p:cNvGrpSpPr/>
          <p:nvPr userDrawn="1"/>
        </p:nvGrpSpPr>
        <p:grpSpPr>
          <a:xfrm>
            <a:off x="310150" y="170701"/>
            <a:ext cx="11910823" cy="1638855"/>
            <a:chOff x="310150" y="170701"/>
            <a:chExt cx="11910823" cy="1638855"/>
          </a:xfrm>
        </p:grpSpPr>
        <p:sp>
          <p:nvSpPr>
            <p:cNvPr id="6" name="矢印: 山形 5">
              <a:extLst>
                <a:ext uri="{FF2B5EF4-FFF2-40B4-BE49-F238E27FC236}">
                  <a16:creationId xmlns:a16="http://schemas.microsoft.com/office/drawing/2014/main" id="{E9AD0AB5-63B3-3922-411C-D512337B0D18}"/>
                </a:ext>
              </a:extLst>
            </p:cNvPr>
            <p:cNvSpPr/>
            <p:nvPr userDrawn="1"/>
          </p:nvSpPr>
          <p:spPr>
            <a:xfrm>
              <a:off x="335550" y="174233"/>
              <a:ext cx="625094" cy="1570593"/>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矢印: 山形 9">
              <a:extLst>
                <a:ext uri="{FF2B5EF4-FFF2-40B4-BE49-F238E27FC236}">
                  <a16:creationId xmlns:a16="http://schemas.microsoft.com/office/drawing/2014/main" id="{0BCBCE41-45B2-4C67-68CA-0F1933F4FC9B}"/>
                </a:ext>
              </a:extLst>
            </p:cNvPr>
            <p:cNvSpPr/>
            <p:nvPr userDrawn="1"/>
          </p:nvSpPr>
          <p:spPr>
            <a:xfrm>
              <a:off x="838200" y="170701"/>
              <a:ext cx="625095" cy="1570593"/>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正方形/長方形 9">
              <a:extLst>
                <a:ext uri="{FF2B5EF4-FFF2-40B4-BE49-F238E27FC236}">
                  <a16:creationId xmlns:a16="http://schemas.microsoft.com/office/drawing/2014/main" id="{960975AB-87DD-F2E8-0182-585369DBCB30}"/>
                </a:ext>
              </a:extLst>
            </p:cNvPr>
            <p:cNvSpPr/>
            <p:nvPr userDrawn="1"/>
          </p:nvSpPr>
          <p:spPr>
            <a:xfrm>
              <a:off x="310150" y="1723771"/>
              <a:ext cx="11910823" cy="85785"/>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19380 w 10653522"/>
                <a:gd name="csY0" fmla="*/ 0 h 86149"/>
                <a:gd name="csX1" fmla="*/ 10653522 w 10653522"/>
                <a:gd name="csY1" fmla="*/ 1 h 86149"/>
                <a:gd name="csX2" fmla="*/ 10653522 w 10653522"/>
                <a:gd name="csY2" fmla="*/ 86149 h 86149"/>
                <a:gd name="csX3" fmla="*/ 0 w 10653522"/>
                <a:gd name="csY3" fmla="*/ 86149 h 86149"/>
                <a:gd name="csX4" fmla="*/ 19380 w 10653522"/>
                <a:gd name="csY4" fmla="*/ 0 h 86149"/>
                <a:gd name="csX0" fmla="*/ 38312 w 10653522"/>
                <a:gd name="csY0" fmla="*/ 0 h 86149"/>
                <a:gd name="csX1" fmla="*/ 10653522 w 10653522"/>
                <a:gd name="csY1" fmla="*/ 1 h 86149"/>
                <a:gd name="csX2" fmla="*/ 10653522 w 10653522"/>
                <a:gd name="csY2" fmla="*/ 86149 h 86149"/>
                <a:gd name="csX3" fmla="*/ 0 w 10653522"/>
                <a:gd name="csY3" fmla="*/ 86149 h 86149"/>
                <a:gd name="csX4" fmla="*/ 38312 w 10653522"/>
                <a:gd name="csY4" fmla="*/ 0 h 86149"/>
                <a:gd name="csX0" fmla="*/ 29792 w 10653522"/>
                <a:gd name="csY0" fmla="*/ 0 h 86149"/>
                <a:gd name="csX1" fmla="*/ 10653522 w 10653522"/>
                <a:gd name="csY1" fmla="*/ 1 h 86149"/>
                <a:gd name="csX2" fmla="*/ 10653522 w 10653522"/>
                <a:gd name="csY2" fmla="*/ 86149 h 86149"/>
                <a:gd name="csX3" fmla="*/ 0 w 10653522"/>
                <a:gd name="csY3" fmla="*/ 86149 h 86149"/>
                <a:gd name="csX4" fmla="*/ 29792 w 10653522"/>
                <a:gd name="csY4" fmla="*/ 0 h 86149"/>
                <a:gd name="csX0" fmla="*/ 34051 w 10653522"/>
                <a:gd name="csY0" fmla="*/ 0 h 86149"/>
                <a:gd name="csX1" fmla="*/ 10653522 w 10653522"/>
                <a:gd name="csY1" fmla="*/ 1 h 86149"/>
                <a:gd name="csX2" fmla="*/ 10653522 w 10653522"/>
                <a:gd name="csY2" fmla="*/ 86149 h 86149"/>
                <a:gd name="csX3" fmla="*/ 0 w 10653522"/>
                <a:gd name="csY3" fmla="*/ 86149 h 86149"/>
                <a:gd name="csX4" fmla="*/ 34051 w 10653522"/>
                <a:gd name="csY4" fmla="*/ 0 h 86149"/>
                <a:gd name="csX0" fmla="*/ 29791 w 10653522"/>
                <a:gd name="csY0" fmla="*/ 0 h 86149"/>
                <a:gd name="csX1" fmla="*/ 10653522 w 10653522"/>
                <a:gd name="csY1" fmla="*/ 1 h 86149"/>
                <a:gd name="csX2" fmla="*/ 10653522 w 10653522"/>
                <a:gd name="csY2" fmla="*/ 86149 h 86149"/>
                <a:gd name="csX3" fmla="*/ 0 w 10653522"/>
                <a:gd name="csY3" fmla="*/ 86149 h 86149"/>
                <a:gd name="csX4" fmla="*/ 29791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29791" y="0"/>
                  </a:moveTo>
                  <a:lnTo>
                    <a:pt x="10653522" y="1"/>
                  </a:lnTo>
                  <a:lnTo>
                    <a:pt x="10653522" y="86149"/>
                  </a:lnTo>
                  <a:lnTo>
                    <a:pt x="0" y="86149"/>
                  </a:lnTo>
                  <a:lnTo>
                    <a:pt x="29791"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cxnSp>
        <p:nvCxnSpPr>
          <p:cNvPr id="8" name="直線コネクタ 7">
            <a:extLst>
              <a:ext uri="{FF2B5EF4-FFF2-40B4-BE49-F238E27FC236}">
                <a16:creationId xmlns:a16="http://schemas.microsoft.com/office/drawing/2014/main" id="{5499DDB8-C9E6-90C0-847E-FD877AF3BBAF}"/>
              </a:ext>
            </a:extLst>
          </p:cNvPr>
          <p:cNvCxnSpPr>
            <a:cxnSpLocks/>
          </p:cNvCxnSpPr>
          <p:nvPr userDrawn="1"/>
        </p:nvCxnSpPr>
        <p:spPr>
          <a:xfrm>
            <a:off x="0" y="6587753"/>
            <a:ext cx="9134856" cy="0"/>
          </a:xfrm>
          <a:prstGeom prst="line">
            <a:avLst/>
          </a:prstGeom>
          <a:ln w="88900">
            <a:solidFill>
              <a:schemeClr val="tx2">
                <a:lumMod val="90000"/>
                <a:lumOff val="10000"/>
              </a:schemeClr>
            </a:solidFill>
          </a:ln>
          <a:effectLst/>
        </p:spPr>
        <p:style>
          <a:lnRef idx="2">
            <a:schemeClr val="dk1"/>
          </a:lnRef>
          <a:fillRef idx="0">
            <a:schemeClr val="dk1"/>
          </a:fillRef>
          <a:effectRef idx="1">
            <a:schemeClr val="dk1"/>
          </a:effectRef>
          <a:fontRef idx="minor">
            <a:schemeClr val="tx1"/>
          </a:fontRef>
        </p:style>
      </p:cxnSp>
      <p:pic>
        <p:nvPicPr>
          <p:cNvPr id="11" name="図 10" descr="テキスト&#10;&#10;AI 生成コンテンツは誤りを含む可能性があります。">
            <a:extLst>
              <a:ext uri="{FF2B5EF4-FFF2-40B4-BE49-F238E27FC236}">
                <a16:creationId xmlns:a16="http://schemas.microsoft.com/office/drawing/2014/main" id="{33293A54-73D3-537E-2F55-77DFD159CA11}"/>
              </a:ext>
            </a:extLst>
          </p:cNvPr>
          <p:cNvPicPr>
            <a:picLocks noChangeAspect="1"/>
          </p:cNvPicPr>
          <p:nvPr userDrawn="1"/>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39347" b="39881"/>
          <a:stretch>
            <a:fillRect/>
          </a:stretch>
        </p:blipFill>
        <p:spPr>
          <a:xfrm>
            <a:off x="9134856" y="6196874"/>
            <a:ext cx="3057144" cy="635040"/>
          </a:xfrm>
          <a:prstGeom prst="rect">
            <a:avLst/>
          </a:prstGeom>
          <a:ln>
            <a:noFill/>
          </a:ln>
          <a:effectLst/>
        </p:spPr>
      </p:pic>
    </p:spTree>
    <p:extLst>
      <p:ext uri="{BB962C8B-B14F-4D97-AF65-F5344CB8AC3E}">
        <p14:creationId xmlns:p14="http://schemas.microsoft.com/office/powerpoint/2010/main" val="3882927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313C4F-A02D-8487-45FE-957A23F0DB8E}"/>
              </a:ext>
            </a:extLst>
          </p:cNvPr>
          <p:cNvSpPr>
            <a:spLocks noGrp="1"/>
          </p:cNvSpPr>
          <p:nvPr>
            <p:ph type="title"/>
          </p:nvPr>
        </p:nvSpPr>
        <p:spPr>
          <a:xfrm>
            <a:off x="1114297" y="192516"/>
            <a:ext cx="10515600" cy="885115"/>
          </a:xfrm>
        </p:spPr>
        <p:txBody>
          <a:body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BCD7E764-4DF6-F388-08C6-76CE3E6DE2D1}"/>
              </a:ext>
            </a:extLst>
          </p:cNvPr>
          <p:cNvSpPr>
            <a:spLocks noGrp="1"/>
          </p:cNvSpPr>
          <p:nvPr>
            <p:ph idx="1"/>
          </p:nvPr>
        </p:nvSpPr>
        <p:spPr>
          <a:xfrm>
            <a:off x="838200" y="1316538"/>
            <a:ext cx="10515600" cy="4860425"/>
          </a:xfrm>
        </p:spPr>
        <p:txBody>
          <a:bodyPr/>
          <a:lstStyle>
            <a:lvl1pPr>
              <a:buNone/>
              <a:defRPr/>
            </a:lvl1pPr>
          </a:lstStyle>
          <a:p>
            <a:pPr lvl="0"/>
            <a:endParaRPr kumimoji="1" lang="ja-JP" altLang="en-US" dirty="0"/>
          </a:p>
        </p:txBody>
      </p:sp>
      <p:sp>
        <p:nvSpPr>
          <p:cNvPr id="4" name="日付プレースホルダー 3">
            <a:extLst>
              <a:ext uri="{FF2B5EF4-FFF2-40B4-BE49-F238E27FC236}">
                <a16:creationId xmlns:a16="http://schemas.microsoft.com/office/drawing/2014/main" id="{2B43D254-3D26-B0B7-05A9-0CD07BDCA5D3}"/>
              </a:ext>
            </a:extLst>
          </p:cNvPr>
          <p:cNvSpPr>
            <a:spLocks noGrp="1"/>
          </p:cNvSpPr>
          <p:nvPr>
            <p:ph type="dt" sz="half" idx="10"/>
          </p:nvPr>
        </p:nvSpPr>
        <p:spPr>
          <a:xfrm>
            <a:off x="-1" y="6259216"/>
            <a:ext cx="2743200" cy="365125"/>
          </a:xfrm>
        </p:spPr>
        <p:txBody>
          <a:body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D41E50FB-9FC6-432E-88D6-31B00177C487}"/>
              </a:ext>
            </a:extLst>
          </p:cNvPr>
          <p:cNvSpPr>
            <a:spLocks noGrp="1"/>
          </p:cNvSpPr>
          <p:nvPr>
            <p:ph type="ftr" sz="quarter" idx="11"/>
          </p:nvPr>
        </p:nvSpPr>
        <p:spPr>
          <a:xfrm>
            <a:off x="4038600" y="6265566"/>
            <a:ext cx="4114800" cy="365125"/>
          </a:xfrm>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628EE75C-07CE-3D57-97C3-61D15FEF0250}"/>
              </a:ext>
            </a:extLst>
          </p:cNvPr>
          <p:cNvSpPr>
            <a:spLocks noGrp="1"/>
          </p:cNvSpPr>
          <p:nvPr>
            <p:ph type="sldNum" sz="quarter" idx="12"/>
          </p:nvPr>
        </p:nvSpPr>
        <p:spPr>
          <a:xfrm>
            <a:off x="9448800" y="6263449"/>
            <a:ext cx="2743200" cy="365125"/>
          </a:xfrm>
        </p:spPr>
        <p:txBody>
          <a:bodyPr/>
          <a:lstStyle/>
          <a:p>
            <a:fld id="{56C735D2-2AD9-4AB2-91C9-DAA375501A92}" type="slidenum">
              <a:rPr kumimoji="1" lang="ja-JP" altLang="en-US" smtClean="0"/>
              <a:t>‹#›</a:t>
            </a:fld>
            <a:endParaRPr kumimoji="1" lang="ja-JP" altLang="en-US"/>
          </a:p>
        </p:txBody>
      </p:sp>
      <p:pic>
        <p:nvPicPr>
          <p:cNvPr id="7" name="図 6" descr="テキスト&#10;&#10;AI 生成コンテンツは誤りを含む可能性があります。">
            <a:extLst>
              <a:ext uri="{FF2B5EF4-FFF2-40B4-BE49-F238E27FC236}">
                <a16:creationId xmlns:a16="http://schemas.microsoft.com/office/drawing/2014/main" id="{761305D1-7424-F6CB-1CD2-6D480F6FB914}"/>
              </a:ext>
            </a:extLst>
          </p:cNvPr>
          <p:cNvPicPr>
            <a:picLocks noChangeAspect="1"/>
          </p:cNvPicPr>
          <p:nvPr userDrawn="1"/>
        </p:nvPicPr>
        <p:blipFill>
          <a:blip r:embed="rId2">
            <a:extLst>
              <a:ext uri="{28A0092B-C50C-407E-A947-70E740481C1C}">
                <a14:useLocalDpi xmlns:a14="http://schemas.microsoft.com/office/drawing/2010/main" val="0"/>
              </a:ext>
            </a:extLst>
          </a:blip>
          <a:srcRect t="39347" b="39881"/>
          <a:stretch>
            <a:fillRect/>
          </a:stretch>
        </p:blipFill>
        <p:spPr>
          <a:xfrm>
            <a:off x="9615424" y="6370215"/>
            <a:ext cx="2195576" cy="456072"/>
          </a:xfrm>
          <a:prstGeom prst="rect">
            <a:avLst/>
          </a:prstGeom>
        </p:spPr>
      </p:pic>
      <p:grpSp>
        <p:nvGrpSpPr>
          <p:cNvPr id="13" name="グループ化 12">
            <a:extLst>
              <a:ext uri="{FF2B5EF4-FFF2-40B4-BE49-F238E27FC236}">
                <a16:creationId xmlns:a16="http://schemas.microsoft.com/office/drawing/2014/main" id="{E03DE539-91EE-7D0C-0350-947895DF8FD2}"/>
              </a:ext>
            </a:extLst>
          </p:cNvPr>
          <p:cNvGrpSpPr/>
          <p:nvPr userDrawn="1"/>
        </p:nvGrpSpPr>
        <p:grpSpPr>
          <a:xfrm>
            <a:off x="287545" y="171398"/>
            <a:ext cx="11904455" cy="862995"/>
            <a:chOff x="287545" y="37322"/>
            <a:chExt cx="11904455" cy="862995"/>
          </a:xfrm>
        </p:grpSpPr>
        <p:sp>
          <p:nvSpPr>
            <p:cNvPr id="11" name="矢印: 山形 10">
              <a:extLst>
                <a:ext uri="{FF2B5EF4-FFF2-40B4-BE49-F238E27FC236}">
                  <a16:creationId xmlns:a16="http://schemas.microsoft.com/office/drawing/2014/main" id="{94E647D0-4C16-DB34-B099-38EE5B03BBE9}"/>
                </a:ext>
              </a:extLst>
            </p:cNvPr>
            <p:cNvSpPr/>
            <p:nvPr userDrawn="1"/>
          </p:nvSpPr>
          <p:spPr>
            <a:xfrm>
              <a:off x="335550" y="37322"/>
              <a:ext cx="437389"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矢印: 山形 11">
              <a:extLst>
                <a:ext uri="{FF2B5EF4-FFF2-40B4-BE49-F238E27FC236}">
                  <a16:creationId xmlns:a16="http://schemas.microsoft.com/office/drawing/2014/main" id="{419BCB27-4240-F057-249E-D9A650B2CED6}"/>
                </a:ext>
              </a:extLst>
            </p:cNvPr>
            <p:cNvSpPr/>
            <p:nvPr userDrawn="1"/>
          </p:nvSpPr>
          <p:spPr>
            <a:xfrm>
              <a:off x="619505" y="37322"/>
              <a:ext cx="437390"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正方形/長方形 9">
              <a:extLst>
                <a:ext uri="{FF2B5EF4-FFF2-40B4-BE49-F238E27FC236}">
                  <a16:creationId xmlns:a16="http://schemas.microsoft.com/office/drawing/2014/main" id="{16888E1B-68AC-75C5-9A27-1195EF40D7FD}"/>
                </a:ext>
              </a:extLst>
            </p:cNvPr>
            <p:cNvSpPr/>
            <p:nvPr userDrawn="1"/>
          </p:nvSpPr>
          <p:spPr>
            <a:xfrm>
              <a:off x="287545" y="815897"/>
              <a:ext cx="11904455" cy="84420"/>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43992 w 10653522"/>
                <a:gd name="csY0" fmla="*/ 0 h 86149"/>
                <a:gd name="csX1" fmla="*/ 10653522 w 10653522"/>
                <a:gd name="csY1" fmla="*/ 1 h 86149"/>
                <a:gd name="csX2" fmla="*/ 10653522 w 10653522"/>
                <a:gd name="csY2" fmla="*/ 86149 h 86149"/>
                <a:gd name="csX3" fmla="*/ 0 w 10653522"/>
                <a:gd name="csY3" fmla="*/ 86149 h 86149"/>
                <a:gd name="csX4" fmla="*/ 43992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43992" y="0"/>
                  </a:moveTo>
                  <a:lnTo>
                    <a:pt x="10653522" y="1"/>
                  </a:lnTo>
                  <a:lnTo>
                    <a:pt x="10653522" y="86149"/>
                  </a:lnTo>
                  <a:lnTo>
                    <a:pt x="0" y="86149"/>
                  </a:lnTo>
                  <a:lnTo>
                    <a:pt x="43992"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cxnSp>
        <p:nvCxnSpPr>
          <p:cNvPr id="10" name="直線コネクタ 9">
            <a:extLst>
              <a:ext uri="{FF2B5EF4-FFF2-40B4-BE49-F238E27FC236}">
                <a16:creationId xmlns:a16="http://schemas.microsoft.com/office/drawing/2014/main" id="{8E0F4DAE-867C-376F-F95A-52F61012B2EC}"/>
              </a:ext>
            </a:extLst>
          </p:cNvPr>
          <p:cNvCxnSpPr>
            <a:cxnSpLocks/>
          </p:cNvCxnSpPr>
          <p:nvPr userDrawn="1"/>
        </p:nvCxnSpPr>
        <p:spPr>
          <a:xfrm>
            <a:off x="-1" y="6629964"/>
            <a:ext cx="9615425" cy="0"/>
          </a:xfrm>
          <a:prstGeom prst="line">
            <a:avLst/>
          </a:prstGeom>
          <a:ln w="76200">
            <a:solidFill>
              <a:schemeClr val="tx2">
                <a:lumMod val="90000"/>
                <a:lumOff val="10000"/>
              </a:schemeClr>
            </a:solidFill>
          </a:ln>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8F89EE3A-EA68-FA56-2199-DF6A3A5577AF}"/>
              </a:ext>
            </a:extLst>
          </p:cNvPr>
          <p:cNvCxnSpPr>
            <a:cxnSpLocks/>
          </p:cNvCxnSpPr>
          <p:nvPr userDrawn="1"/>
        </p:nvCxnSpPr>
        <p:spPr>
          <a:xfrm>
            <a:off x="11811000" y="6629964"/>
            <a:ext cx="381000" cy="0"/>
          </a:xfrm>
          <a:prstGeom prst="line">
            <a:avLst/>
          </a:prstGeom>
          <a:ln w="76200">
            <a:solidFill>
              <a:schemeClr val="tx2">
                <a:lumMod val="90000"/>
                <a:lumOff val="10000"/>
              </a:schemeClr>
            </a:solidFill>
          </a:ln>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1873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1" name="スライド番号プレースホルダー 5">
            <a:extLst>
              <a:ext uri="{FF2B5EF4-FFF2-40B4-BE49-F238E27FC236}">
                <a16:creationId xmlns:a16="http://schemas.microsoft.com/office/drawing/2014/main" id="{FCD78E63-1B68-FDBC-0936-D9AF46D5C438}"/>
              </a:ext>
            </a:extLst>
          </p:cNvPr>
          <p:cNvSpPr>
            <a:spLocks noGrp="1"/>
          </p:cNvSpPr>
          <p:nvPr>
            <p:ph type="sldNum" sz="quarter" idx="12"/>
          </p:nvPr>
        </p:nvSpPr>
        <p:spPr>
          <a:xfrm>
            <a:off x="9448800" y="6263449"/>
            <a:ext cx="2743200" cy="365125"/>
          </a:xfrm>
        </p:spPr>
        <p:txBody>
          <a:bodyPr/>
          <a:lstStyle/>
          <a:p>
            <a:fld id="{56C735D2-2AD9-4AB2-91C9-DAA375501A92}" type="slidenum">
              <a:rPr kumimoji="1" lang="ja-JP" altLang="en-US" smtClean="0"/>
              <a:t>‹#›</a:t>
            </a:fld>
            <a:endParaRPr kumimoji="1" lang="ja-JP" altLang="en-US"/>
          </a:p>
        </p:txBody>
      </p:sp>
      <p:pic>
        <p:nvPicPr>
          <p:cNvPr id="26" name="図 25" descr="テキスト&#10;&#10;AI 生成コンテンツは誤りを含む可能性があります。">
            <a:extLst>
              <a:ext uri="{FF2B5EF4-FFF2-40B4-BE49-F238E27FC236}">
                <a16:creationId xmlns:a16="http://schemas.microsoft.com/office/drawing/2014/main" id="{AC9C868F-5E8B-DE67-A7DA-295158B34476}"/>
              </a:ext>
            </a:extLst>
          </p:cNvPr>
          <p:cNvPicPr>
            <a:picLocks noChangeAspect="1"/>
          </p:cNvPicPr>
          <p:nvPr userDrawn="1"/>
        </p:nvPicPr>
        <p:blipFill>
          <a:blip r:embed="rId2">
            <a:extLst>
              <a:ext uri="{28A0092B-C50C-407E-A947-70E740481C1C}">
                <a14:useLocalDpi xmlns:a14="http://schemas.microsoft.com/office/drawing/2010/main" val="0"/>
              </a:ext>
            </a:extLst>
          </a:blip>
          <a:srcRect t="39347" b="39881"/>
          <a:stretch>
            <a:fillRect/>
          </a:stretch>
        </p:blipFill>
        <p:spPr>
          <a:xfrm>
            <a:off x="10135016" y="46987"/>
            <a:ext cx="2056984" cy="427283"/>
          </a:xfrm>
          <a:prstGeom prst="rect">
            <a:avLst/>
          </a:prstGeom>
        </p:spPr>
      </p:pic>
      <p:sp>
        <p:nvSpPr>
          <p:cNvPr id="6" name="タイトル 1">
            <a:extLst>
              <a:ext uri="{FF2B5EF4-FFF2-40B4-BE49-F238E27FC236}">
                <a16:creationId xmlns:a16="http://schemas.microsoft.com/office/drawing/2014/main" id="{F36A0D20-69B9-59C0-0B35-BC7E32F96CE1}"/>
              </a:ext>
            </a:extLst>
          </p:cNvPr>
          <p:cNvSpPr>
            <a:spLocks noGrp="1"/>
          </p:cNvSpPr>
          <p:nvPr>
            <p:ph type="title"/>
          </p:nvPr>
        </p:nvSpPr>
        <p:spPr>
          <a:xfrm>
            <a:off x="1082691" y="31713"/>
            <a:ext cx="10515600" cy="885115"/>
          </a:xfrm>
        </p:spPr>
        <p:txBody>
          <a:bodyPr>
            <a:normAutofit/>
          </a:bodyPr>
          <a:lstStyle>
            <a:lvl1pPr>
              <a:defRPr sz="3200"/>
            </a:lvl1pPr>
          </a:lstStyle>
          <a:p>
            <a:r>
              <a:rPr kumimoji="1" lang="ja-JP" altLang="en-US" dirty="0"/>
              <a:t>マスター タイトルの書式設定</a:t>
            </a:r>
          </a:p>
        </p:txBody>
      </p:sp>
      <p:grpSp>
        <p:nvGrpSpPr>
          <p:cNvPr id="7" name="グループ化 6">
            <a:extLst>
              <a:ext uri="{FF2B5EF4-FFF2-40B4-BE49-F238E27FC236}">
                <a16:creationId xmlns:a16="http://schemas.microsoft.com/office/drawing/2014/main" id="{323CD47C-DAFD-572A-C4DB-6C512BE348E3}"/>
              </a:ext>
            </a:extLst>
          </p:cNvPr>
          <p:cNvGrpSpPr/>
          <p:nvPr userDrawn="1"/>
        </p:nvGrpSpPr>
        <p:grpSpPr>
          <a:xfrm>
            <a:off x="287545" y="31713"/>
            <a:ext cx="11904455" cy="862995"/>
            <a:chOff x="287545" y="37322"/>
            <a:chExt cx="11904455" cy="862995"/>
          </a:xfrm>
        </p:grpSpPr>
        <p:sp>
          <p:nvSpPr>
            <p:cNvPr id="8" name="矢印: 山形 7">
              <a:extLst>
                <a:ext uri="{FF2B5EF4-FFF2-40B4-BE49-F238E27FC236}">
                  <a16:creationId xmlns:a16="http://schemas.microsoft.com/office/drawing/2014/main" id="{4119DA1D-A174-FD08-3708-47BDB8137E5C}"/>
                </a:ext>
              </a:extLst>
            </p:cNvPr>
            <p:cNvSpPr/>
            <p:nvPr userDrawn="1"/>
          </p:nvSpPr>
          <p:spPr>
            <a:xfrm>
              <a:off x="335550" y="37322"/>
              <a:ext cx="437389"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矢印: 山形 8">
              <a:extLst>
                <a:ext uri="{FF2B5EF4-FFF2-40B4-BE49-F238E27FC236}">
                  <a16:creationId xmlns:a16="http://schemas.microsoft.com/office/drawing/2014/main" id="{3356F3D5-46C4-0ECD-1E33-F32AAF908549}"/>
                </a:ext>
              </a:extLst>
            </p:cNvPr>
            <p:cNvSpPr/>
            <p:nvPr userDrawn="1"/>
          </p:nvSpPr>
          <p:spPr>
            <a:xfrm>
              <a:off x="619505" y="37322"/>
              <a:ext cx="437390"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正方形/長方形 9">
              <a:extLst>
                <a:ext uri="{FF2B5EF4-FFF2-40B4-BE49-F238E27FC236}">
                  <a16:creationId xmlns:a16="http://schemas.microsoft.com/office/drawing/2014/main" id="{3F63B315-B5B0-D69D-C08B-B3F8CA6BB09A}"/>
                </a:ext>
              </a:extLst>
            </p:cNvPr>
            <p:cNvSpPr/>
            <p:nvPr userDrawn="1"/>
          </p:nvSpPr>
          <p:spPr>
            <a:xfrm>
              <a:off x="287545" y="815897"/>
              <a:ext cx="11904455" cy="84420"/>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43992 w 10653522"/>
                <a:gd name="csY0" fmla="*/ 0 h 86149"/>
                <a:gd name="csX1" fmla="*/ 10653522 w 10653522"/>
                <a:gd name="csY1" fmla="*/ 1 h 86149"/>
                <a:gd name="csX2" fmla="*/ 10653522 w 10653522"/>
                <a:gd name="csY2" fmla="*/ 86149 h 86149"/>
                <a:gd name="csX3" fmla="*/ 0 w 10653522"/>
                <a:gd name="csY3" fmla="*/ 86149 h 86149"/>
                <a:gd name="csX4" fmla="*/ 43992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43992" y="0"/>
                  </a:moveTo>
                  <a:lnTo>
                    <a:pt x="10653522" y="1"/>
                  </a:lnTo>
                  <a:lnTo>
                    <a:pt x="10653522" y="86149"/>
                  </a:lnTo>
                  <a:lnTo>
                    <a:pt x="0" y="86149"/>
                  </a:lnTo>
                  <a:lnTo>
                    <a:pt x="43992"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 name="テキスト ボックス 1">
            <a:extLst>
              <a:ext uri="{FF2B5EF4-FFF2-40B4-BE49-F238E27FC236}">
                <a16:creationId xmlns:a16="http://schemas.microsoft.com/office/drawing/2014/main" id="{4AA6DA0E-9F71-822B-02A2-F4099BB438B2}"/>
              </a:ext>
            </a:extLst>
          </p:cNvPr>
          <p:cNvSpPr txBox="1"/>
          <p:nvPr userDrawn="1"/>
        </p:nvSpPr>
        <p:spPr>
          <a:xfrm>
            <a:off x="8439036" y="471734"/>
            <a:ext cx="3778760" cy="338554"/>
          </a:xfrm>
          <a:prstGeom prst="rect">
            <a:avLst/>
          </a:prstGeom>
          <a:noFill/>
        </p:spPr>
        <p:txBody>
          <a:bodyPr wrap="square" rtlCol="0">
            <a:spAutoFit/>
          </a:bodyPr>
          <a:lstStyle/>
          <a:p>
            <a:r>
              <a:rPr kumimoji="1" lang="en-US" altLang="ja-JP" sz="1600" b="1" dirty="0"/>
              <a:t>Tokyo Metropolitan University #C24</a:t>
            </a:r>
            <a:endParaRPr kumimoji="1" lang="ja-JP" altLang="en-US" sz="1600" b="1" dirty="0"/>
          </a:p>
        </p:txBody>
      </p:sp>
      <p:sp>
        <p:nvSpPr>
          <p:cNvPr id="11" name="コンテンツ プレースホルダー 2">
            <a:extLst>
              <a:ext uri="{FF2B5EF4-FFF2-40B4-BE49-F238E27FC236}">
                <a16:creationId xmlns:a16="http://schemas.microsoft.com/office/drawing/2014/main" id="{A75CBFF0-3630-BB59-A95C-B16FE2503BF9}"/>
              </a:ext>
            </a:extLst>
          </p:cNvPr>
          <p:cNvSpPr>
            <a:spLocks noGrp="1"/>
          </p:cNvSpPr>
          <p:nvPr>
            <p:ph idx="1"/>
          </p:nvPr>
        </p:nvSpPr>
        <p:spPr>
          <a:xfrm>
            <a:off x="335550" y="1100942"/>
            <a:ext cx="11460210" cy="5443213"/>
          </a:xfrm>
        </p:spPr>
        <p:txBody>
          <a:bodyPr>
            <a:normAutofit/>
          </a:bodyPr>
          <a:lstStyle>
            <a:lvl1pPr>
              <a:buNone/>
              <a:defRPr sz="1600"/>
            </a:lvl1pPr>
          </a:lstStyle>
          <a:p>
            <a:pPr lvl="0"/>
            <a:endParaRPr kumimoji="1" lang="ja-JP" altLang="en-US" dirty="0"/>
          </a:p>
        </p:txBody>
      </p:sp>
    </p:spTree>
    <p:extLst>
      <p:ext uri="{BB962C8B-B14F-4D97-AF65-F5344CB8AC3E}">
        <p14:creationId xmlns:p14="http://schemas.microsoft.com/office/powerpoint/2010/main" val="119628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BAA1F2-66DB-1FF2-F861-BF2D8752A11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0E0AC22-DBF8-3EE2-AE24-5507437353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D5766D7-614B-94DA-0C28-863D5B2652F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F7CC300-9DA2-F998-3548-F1C01403DE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3E10214-DE77-F170-AA5F-B8A2B19BD7A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C0C0F2D-8F3C-73A3-E660-FA3756B72B0C}"/>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8" name="フッター プレースホルダー 7">
            <a:extLst>
              <a:ext uri="{FF2B5EF4-FFF2-40B4-BE49-F238E27FC236}">
                <a16:creationId xmlns:a16="http://schemas.microsoft.com/office/drawing/2014/main" id="{624E0F2D-546A-EC3D-FB2C-F8C9F0A39D1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E55E62E-4625-59E2-8BB9-366B6AFDEE54}"/>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2414867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BE30A7-828F-CC2D-60BF-173188D6CB3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09298BC-17C9-10D6-6AB4-37A89C8936FF}"/>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4" name="フッター プレースホルダー 3">
            <a:extLst>
              <a:ext uri="{FF2B5EF4-FFF2-40B4-BE49-F238E27FC236}">
                <a16:creationId xmlns:a16="http://schemas.microsoft.com/office/drawing/2014/main" id="{8BFBCF83-0338-2574-6486-5678E52B8AF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B912BE4-C232-4B3D-E9C8-0FCE6182D0A5}"/>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577440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4A48B63-2001-691D-9DED-C0F118BBDA7D}"/>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3" name="フッター プレースホルダー 2">
            <a:extLst>
              <a:ext uri="{FF2B5EF4-FFF2-40B4-BE49-F238E27FC236}">
                <a16:creationId xmlns:a16="http://schemas.microsoft.com/office/drawing/2014/main" id="{F959EAA5-F957-AED1-B63F-6FA3B4D6C38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B0C72B-E445-1A07-DB98-9C5A6DF121FD}"/>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932086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4A563B-3EA7-DC33-850D-C5A82F3BC15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DE138D-7CA6-E350-621A-62A2B0141F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C6C41CD-A85A-5C7A-A64C-7637D482B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0175004-67F4-C977-B2C2-2C395E623CC3}"/>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6" name="フッター プレースホルダー 5">
            <a:extLst>
              <a:ext uri="{FF2B5EF4-FFF2-40B4-BE49-F238E27FC236}">
                <a16:creationId xmlns:a16="http://schemas.microsoft.com/office/drawing/2014/main" id="{2E52B3CA-9A2E-8A04-E901-583156C36C2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25AFDA-329C-7F85-4AAF-F2262E15FE9A}"/>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199099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4FD402-1447-B49A-2361-F5804EC431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1B6CDF-100D-52E5-9552-4B068564EF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E65BF2C-E8F5-DD01-AF7A-75CC192CF6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1E9A260-9E4E-8830-3AEF-96386D2DF278}"/>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6" name="フッター プレースホルダー 5">
            <a:extLst>
              <a:ext uri="{FF2B5EF4-FFF2-40B4-BE49-F238E27FC236}">
                <a16:creationId xmlns:a16="http://schemas.microsoft.com/office/drawing/2014/main" id="{554E7B1A-24CA-43A1-1548-0EB9B17C658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BCD3C03-0814-E87A-5CA5-A0498E80E4C0}"/>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381021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936D40-7B23-7204-11DD-C7C45186319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9FA96F4-90A0-3BE9-8FC4-C26510FA55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277CE6-5DD1-EDF8-2142-892657955149}"/>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767A1F84-2310-F6EA-726F-37FE0FFA3E4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C2C90B5-5077-CFD0-2F81-D94ACD9FFA38}"/>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018384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2E02BF8-743A-84DF-DB82-78EAEDB0022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E3FA70F-353A-F505-9BF2-58667DA2B9B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EE828E2-29D0-BE64-3610-9367B87EFB13}"/>
              </a:ext>
            </a:extLst>
          </p:cNvPr>
          <p:cNvSpPr>
            <a:spLocks noGrp="1"/>
          </p:cNvSpPr>
          <p:nvPr>
            <p:ph type="dt" sz="half" idx="10"/>
          </p:nvPr>
        </p:nvSpPr>
        <p:spPr/>
        <p:txBody>
          <a:body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5DDF7D51-359B-2456-30C2-AE60E074AC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9D7B2A-301E-BE3E-82EE-3DC38D07C983}"/>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143799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D1959FD-EAC9-0BB4-FDB6-CB9ECEE91648}"/>
              </a:ext>
            </a:extLst>
          </p:cNvPr>
          <p:cNvSpPr>
            <a:spLocks noGrp="1"/>
          </p:cNvSpPr>
          <p:nvPr>
            <p:ph type="title"/>
          </p:nvPr>
        </p:nvSpPr>
        <p:spPr>
          <a:xfrm>
            <a:off x="1676400" y="282702"/>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2D3CF71-2D9C-0894-1AAB-9605E9A067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C61BC02-3CCB-40CE-5381-C193707CA6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64D060-8133-4A46-91C4-B3F3520A110D}" type="datetimeFigureOut">
              <a:rPr kumimoji="1" lang="ja-JP" altLang="en-US" smtClean="0"/>
              <a:t>2026/5/10</a:t>
            </a:fld>
            <a:endParaRPr kumimoji="1" lang="ja-JP" altLang="en-US"/>
          </a:p>
        </p:txBody>
      </p:sp>
      <p:sp>
        <p:nvSpPr>
          <p:cNvPr id="5" name="フッター プレースホルダー 4">
            <a:extLst>
              <a:ext uri="{FF2B5EF4-FFF2-40B4-BE49-F238E27FC236}">
                <a16:creationId xmlns:a16="http://schemas.microsoft.com/office/drawing/2014/main" id="{E79A3DA8-3428-49E0-FC82-6A827A50A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dirty="0"/>
          </a:p>
        </p:txBody>
      </p:sp>
      <p:sp>
        <p:nvSpPr>
          <p:cNvPr id="6" name="スライド番号プレースホルダー 5">
            <a:extLst>
              <a:ext uri="{FF2B5EF4-FFF2-40B4-BE49-F238E27FC236}">
                <a16:creationId xmlns:a16="http://schemas.microsoft.com/office/drawing/2014/main" id="{EAC962D1-C988-251E-289C-11C47036A7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244328563"/>
      </p:ext>
    </p:extLst>
  </p:cSld>
  <p:clrMap bg1="lt1" tx1="dk1" bg2="lt2" tx2="dk2" accent1="accent1" accent2="accent2" accent3="accent3" accent4="accent4" accent5="accent5" accent6="accent6" hlink="hlink" folHlink="folHlink"/>
  <p:sldLayoutIdLst>
    <p:sldLayoutId id="2147483721" r:id="rId1"/>
    <p:sldLayoutId id="2147483723" r:id="rId2"/>
    <p:sldLayoutId id="2147483722"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kumimoji="1" sz="4400" b="0" u="none"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4771-DA2B-C7F4-61B8-85A39EEB70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6AB4F6-9DEB-A061-DC0C-6E5A1CBCF9E1}"/>
              </a:ext>
            </a:extLst>
          </p:cNvPr>
          <p:cNvSpPr>
            <a:spLocks noGrp="1"/>
          </p:cNvSpPr>
          <p:nvPr>
            <p:ph type="title"/>
          </p:nvPr>
        </p:nvSpPr>
        <p:spPr/>
        <p:txBody>
          <a:bodyPr/>
          <a:lstStyle/>
          <a:p>
            <a:r>
              <a:rPr lang="en-US" altLang="en-US" dirty="0"/>
              <a:t>Aerodynamics</a:t>
            </a:r>
            <a:endParaRPr kumimoji="1" lang="ja-JP" altLang="en-US" dirty="0"/>
          </a:p>
        </p:txBody>
      </p:sp>
      <p:sp>
        <p:nvSpPr>
          <p:cNvPr id="7" name="テキスト ボックス 6">
            <a:extLst>
              <a:ext uri="{FF2B5EF4-FFF2-40B4-BE49-F238E27FC236}">
                <a16:creationId xmlns:a16="http://schemas.microsoft.com/office/drawing/2014/main" id="{16D445E6-D8B2-CEFE-6CAB-A83CCF47C13E}"/>
              </a:ext>
            </a:extLst>
          </p:cNvPr>
          <p:cNvSpPr txBox="1"/>
          <p:nvPr/>
        </p:nvSpPr>
        <p:spPr>
          <a:xfrm>
            <a:off x="138228" y="976742"/>
            <a:ext cx="2807855" cy="461665"/>
          </a:xfrm>
          <a:prstGeom prst="rect">
            <a:avLst/>
          </a:prstGeom>
          <a:noFill/>
        </p:spPr>
        <p:txBody>
          <a:bodyPr wrap="square" rtlCol="0">
            <a:spAutoFit/>
          </a:bodyPr>
          <a:lstStyle/>
          <a:p>
            <a:r>
              <a:rPr kumimoji="1" lang="ja-JP" altLang="en-US" sz="2400" b="1" dirty="0">
                <a:latin typeface="游ゴシック" panose="020B0400000000000000" pitchFamily="50" charset="-128"/>
                <a:ea typeface="游ゴシック" panose="020B0400000000000000" pitchFamily="50" charset="-128"/>
              </a:rPr>
              <a:t>リアウイング</a:t>
            </a:r>
          </a:p>
        </p:txBody>
      </p:sp>
      <p:sp>
        <p:nvSpPr>
          <p:cNvPr id="8" name="テキスト ボックス 7">
            <a:extLst>
              <a:ext uri="{FF2B5EF4-FFF2-40B4-BE49-F238E27FC236}">
                <a16:creationId xmlns:a16="http://schemas.microsoft.com/office/drawing/2014/main" id="{8E4781DB-871B-2500-3F06-C05CDA08A372}"/>
              </a:ext>
            </a:extLst>
          </p:cNvPr>
          <p:cNvSpPr txBox="1"/>
          <p:nvPr/>
        </p:nvSpPr>
        <p:spPr>
          <a:xfrm>
            <a:off x="2174369" y="1023855"/>
            <a:ext cx="3463636" cy="369332"/>
          </a:xfrm>
          <a:prstGeom prst="rect">
            <a:avLst/>
          </a:prstGeom>
          <a:noFill/>
        </p:spPr>
        <p:txBody>
          <a:bodyPr wrap="square" rtlCol="0">
            <a:spAutoFit/>
          </a:bodyPr>
          <a:lstStyle/>
          <a:p>
            <a:r>
              <a:rPr kumimoji="1" lang="ja-JP" altLang="en-US" dirty="0">
                <a:latin typeface="游ゴシック" panose="020B0400000000000000" pitchFamily="50" charset="-128"/>
                <a:ea typeface="游ゴシック" panose="020B0400000000000000" pitchFamily="50" charset="-128"/>
              </a:rPr>
              <a:t>まずは設計の流れを以下に示す</a:t>
            </a:r>
            <a:r>
              <a:rPr lang="ja-JP" altLang="en-US" dirty="0">
                <a:latin typeface="游ゴシック" panose="020B0400000000000000" pitchFamily="50" charset="-128"/>
                <a:ea typeface="游ゴシック" panose="020B0400000000000000" pitchFamily="50" charset="-128"/>
              </a:rPr>
              <a:t>。</a:t>
            </a:r>
            <a:endParaRPr kumimoji="1" lang="ja-JP" altLang="en-US" dirty="0">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155773DE-7AE0-3FAE-1DD1-5B8C5E064532}"/>
              </a:ext>
            </a:extLst>
          </p:cNvPr>
          <p:cNvSpPr txBox="1"/>
          <p:nvPr/>
        </p:nvSpPr>
        <p:spPr>
          <a:xfrm>
            <a:off x="97958" y="1438407"/>
            <a:ext cx="5098790" cy="923330"/>
          </a:xfrm>
          <a:prstGeom prst="rect">
            <a:avLst/>
          </a:prstGeom>
          <a:noFill/>
          <a:ln>
            <a:solidFill>
              <a:srgbClr val="4E95D9"/>
            </a:solidFill>
          </a:ln>
        </p:spPr>
        <p:txBody>
          <a:bodyPr wrap="square" rtlCol="0">
            <a:spAutoFit/>
          </a:bodyPr>
          <a:lstStyle/>
          <a:p>
            <a:r>
              <a:rPr kumimoji="1" lang="ja-JP" altLang="en-US" dirty="0">
                <a:latin typeface="游ゴシック" panose="020B0400000000000000" pitchFamily="50" charset="-128"/>
                <a:ea typeface="游ゴシック" panose="020B0400000000000000" pitchFamily="50" charset="-128"/>
              </a:rPr>
              <a:t>１．翼型の選定および</a:t>
            </a:r>
            <a:r>
              <a:rPr lang="ja-JP" altLang="en-US" dirty="0">
                <a:latin typeface="游ゴシック" panose="020B0400000000000000" pitchFamily="50" charset="-128"/>
                <a:ea typeface="游ゴシック" panose="020B0400000000000000" pitchFamily="50" charset="-128"/>
              </a:rPr>
              <a:t>迎え角</a:t>
            </a:r>
            <a:r>
              <a:rPr kumimoji="1" lang="ja-JP" altLang="en-US" dirty="0">
                <a:latin typeface="游ゴシック" panose="020B0400000000000000" pitchFamily="50" charset="-128"/>
                <a:ea typeface="游ゴシック" panose="020B0400000000000000" pitchFamily="50" charset="-128"/>
              </a:rPr>
              <a:t>の決定</a:t>
            </a:r>
            <a:endParaRPr kumimoji="1" lang="en-US" altLang="ja-JP"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２．スロットギャップ・オーバーラップの決定</a:t>
            </a:r>
            <a:endParaRPr lang="en-US" altLang="ja-JP"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３．</a:t>
            </a:r>
            <a:r>
              <a:rPr lang="en-US" altLang="ja-JP" dirty="0">
                <a:latin typeface="游ゴシック" panose="020B0400000000000000" pitchFamily="50" charset="-128"/>
                <a:ea typeface="游ゴシック" panose="020B0400000000000000" pitchFamily="50" charset="-128"/>
              </a:rPr>
              <a:t>3D</a:t>
            </a:r>
            <a:r>
              <a:rPr lang="ja-JP" altLang="en-US" dirty="0">
                <a:latin typeface="游ゴシック" panose="020B0400000000000000" pitchFamily="50" charset="-128"/>
                <a:ea typeface="游ゴシック" panose="020B0400000000000000" pitchFamily="50" charset="-128"/>
              </a:rPr>
              <a:t>モデル化</a:t>
            </a:r>
            <a:endParaRPr lang="en-US" altLang="ja-JP" dirty="0">
              <a:latin typeface="游ゴシック" panose="020B0400000000000000" pitchFamily="50" charset="-128"/>
              <a:ea typeface="游ゴシック" panose="020B0400000000000000" pitchFamily="50" charset="-128"/>
            </a:endParaRPr>
          </a:p>
        </p:txBody>
      </p:sp>
      <p:sp>
        <p:nvSpPr>
          <p:cNvPr id="5" name="四角形: 角を丸くする 4">
            <a:extLst>
              <a:ext uri="{FF2B5EF4-FFF2-40B4-BE49-F238E27FC236}">
                <a16:creationId xmlns:a16="http://schemas.microsoft.com/office/drawing/2014/main" id="{428FD632-EA39-7B8C-48E3-497E3AEFF664}"/>
              </a:ext>
            </a:extLst>
          </p:cNvPr>
          <p:cNvSpPr/>
          <p:nvPr/>
        </p:nvSpPr>
        <p:spPr>
          <a:xfrm>
            <a:off x="63526" y="2856280"/>
            <a:ext cx="6643394" cy="3300635"/>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09722B6-89CC-FA00-C4FC-226C4F8C296A}"/>
              </a:ext>
            </a:extLst>
          </p:cNvPr>
          <p:cNvSpPr txBox="1"/>
          <p:nvPr/>
        </p:nvSpPr>
        <p:spPr>
          <a:xfrm>
            <a:off x="138228" y="2936938"/>
            <a:ext cx="6500170" cy="3139321"/>
          </a:xfrm>
          <a:prstGeom prst="rect">
            <a:avLst/>
          </a:prstGeom>
          <a:noFill/>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１．翼型の選定および迎え角の決定について</a:t>
            </a:r>
            <a:endParaRPr kumimoji="1" lang="en-US" altLang="ja-JP" b="1"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まず初めに、高い揚力係数を持ち、低レイノルズ数域で優れた性能を出す</a:t>
            </a:r>
            <a:r>
              <a:rPr lang="en-US" altLang="ja-JP" dirty="0">
                <a:latin typeface="游ゴシック" panose="020B0400000000000000" pitchFamily="50" charset="-128"/>
                <a:ea typeface="游ゴシック" panose="020B0400000000000000" pitchFamily="50" charset="-128"/>
              </a:rPr>
              <a:t>S1223</a:t>
            </a:r>
            <a:r>
              <a:rPr lang="ja-JP" altLang="en-US" dirty="0">
                <a:latin typeface="游ゴシック" panose="020B0400000000000000" pitchFamily="50" charset="-128"/>
                <a:ea typeface="游ゴシック" panose="020B0400000000000000" pitchFamily="50" charset="-128"/>
              </a:rPr>
              <a:t>のみを採用して設計を行った。</a:t>
            </a:r>
            <a:endParaRPr lang="en-US" altLang="ja-JP" dirty="0">
              <a:latin typeface="游ゴシック" panose="020B0400000000000000" pitchFamily="50" charset="-128"/>
              <a:ea typeface="游ゴシック" panose="020B0400000000000000" pitchFamily="50" charset="-128"/>
            </a:endParaRPr>
          </a:p>
          <a:p>
            <a:r>
              <a:rPr lang="en-US" altLang="ja-JP" dirty="0">
                <a:latin typeface="游ゴシック" panose="020B0400000000000000" pitchFamily="50" charset="-128"/>
                <a:ea typeface="游ゴシック" panose="020B0400000000000000" pitchFamily="50" charset="-128"/>
              </a:rPr>
              <a:t>3</a:t>
            </a:r>
            <a:r>
              <a:rPr lang="ja-JP" altLang="en-US" dirty="0">
                <a:latin typeface="游ゴシック" panose="020B0400000000000000" pitchFamily="50" charset="-128"/>
                <a:ea typeface="游ゴシック" panose="020B0400000000000000" pitchFamily="50" charset="-128"/>
              </a:rPr>
              <a:t>枚翼のマルチエレメントで設計し、スパン長を</a:t>
            </a:r>
            <a:r>
              <a:rPr lang="en-US" altLang="ja-JP" dirty="0">
                <a:latin typeface="游ゴシック" panose="020B0400000000000000" pitchFamily="50" charset="-128"/>
                <a:ea typeface="游ゴシック" panose="020B0400000000000000" pitchFamily="50" charset="-128"/>
              </a:rPr>
              <a:t>1000mm</a:t>
            </a:r>
            <a:r>
              <a:rPr lang="ja-JP" altLang="en-US" dirty="0">
                <a:latin typeface="游ゴシック" panose="020B0400000000000000" pitchFamily="50" charset="-128"/>
                <a:ea typeface="游ゴシック" panose="020B0400000000000000" pitchFamily="50" charset="-128"/>
              </a:rPr>
              <a:t>と仮定して、迎え角を変更して</a:t>
            </a:r>
            <a:r>
              <a:rPr lang="en-US" altLang="ja-JP" dirty="0">
                <a:latin typeface="游ゴシック" panose="020B0400000000000000" pitchFamily="50" charset="-128"/>
                <a:ea typeface="游ゴシック" panose="020B0400000000000000" pitchFamily="50" charset="-128"/>
              </a:rPr>
              <a:t>Ansys</a:t>
            </a:r>
            <a:r>
              <a:rPr lang="ja-JP" altLang="en-US" dirty="0">
                <a:latin typeface="游ゴシック" panose="020B0400000000000000" pitchFamily="50" charset="-128"/>
                <a:ea typeface="游ゴシック" panose="020B0400000000000000" pitchFamily="50" charset="-128"/>
              </a:rPr>
              <a:t>の</a:t>
            </a:r>
            <a:r>
              <a:rPr lang="en-US" altLang="ja-JP" dirty="0">
                <a:latin typeface="游ゴシック" panose="020B0400000000000000" pitchFamily="50" charset="-128"/>
                <a:ea typeface="游ゴシック" panose="020B0400000000000000" pitchFamily="50" charset="-128"/>
              </a:rPr>
              <a:t>2D</a:t>
            </a:r>
            <a:r>
              <a:rPr lang="ja-JP" altLang="en-US" dirty="0">
                <a:latin typeface="游ゴシック" panose="020B0400000000000000" pitchFamily="50" charset="-128"/>
                <a:ea typeface="游ゴシック" panose="020B0400000000000000" pitchFamily="50" charset="-128"/>
              </a:rPr>
              <a:t>解析を繰り返し行うと、</a:t>
            </a:r>
            <a:r>
              <a:rPr lang="en-US" altLang="ja-JP" dirty="0">
                <a:latin typeface="游ゴシック" panose="020B0400000000000000" pitchFamily="50" charset="-128"/>
                <a:ea typeface="游ゴシック" panose="020B0400000000000000" pitchFamily="50" charset="-128"/>
              </a:rPr>
              <a:t>0°30°50°</a:t>
            </a:r>
            <a:r>
              <a:rPr lang="ja-JP" altLang="en-US" dirty="0">
                <a:latin typeface="游ゴシック" panose="020B0400000000000000" pitchFamily="50" charset="-128"/>
                <a:ea typeface="游ゴシック" panose="020B0400000000000000" pitchFamily="50" charset="-128"/>
              </a:rPr>
              <a:t>と設定した場合が最も抵抗を抑えてダウンフォースを稼げたため、迎え角はこの角度に決定した。</a:t>
            </a:r>
            <a:endParaRPr lang="en-US" altLang="ja-JP" dirty="0">
              <a:latin typeface="游ゴシック" panose="020B0400000000000000" pitchFamily="50" charset="-128"/>
              <a:ea typeface="游ゴシック" panose="020B0400000000000000" pitchFamily="50" charset="-128"/>
            </a:endParaRPr>
          </a:p>
          <a:p>
            <a:r>
              <a:rPr kumimoji="1" lang="ja-JP" altLang="en-US" dirty="0">
                <a:latin typeface="游ゴシック" panose="020B0400000000000000" pitchFamily="50" charset="-128"/>
                <a:ea typeface="游ゴシック" panose="020B0400000000000000" pitchFamily="50" charset="-128"/>
              </a:rPr>
              <a:t>また、設計を進めていく中で、大きな負のピッチングモーメントによる構造的な負荷やダウンフォースの不安定性</a:t>
            </a:r>
            <a:r>
              <a:rPr lang="ja-JP" altLang="en-US" dirty="0">
                <a:latin typeface="游ゴシック" panose="020B0400000000000000" pitchFamily="50" charset="-128"/>
                <a:ea typeface="游ゴシック" panose="020B0400000000000000" pitchFamily="50" charset="-128"/>
              </a:rPr>
              <a:t>を考慮して、メインプレーンを</a:t>
            </a:r>
            <a:r>
              <a:rPr lang="en-US" altLang="ja-JP" dirty="0">
                <a:latin typeface="游ゴシック" panose="020B0400000000000000" pitchFamily="50" charset="-128"/>
                <a:ea typeface="游ゴシック" panose="020B0400000000000000" pitchFamily="50" charset="-128"/>
              </a:rPr>
              <a:t>S1223</a:t>
            </a:r>
            <a:r>
              <a:rPr lang="ja-JP" altLang="en-US" dirty="0">
                <a:latin typeface="游ゴシック" panose="020B0400000000000000" pitchFamily="50" charset="-128"/>
                <a:ea typeface="游ゴシック" panose="020B0400000000000000" pitchFamily="50" charset="-128"/>
              </a:rPr>
              <a:t>から、後端</a:t>
            </a:r>
            <a:r>
              <a:rPr kumimoji="1" lang="ja-JP" altLang="en-US" dirty="0">
                <a:latin typeface="游ゴシック" panose="020B0400000000000000" pitchFamily="50" charset="-128"/>
                <a:ea typeface="游ゴシック" panose="020B0400000000000000" pitchFamily="50" charset="-128"/>
              </a:rPr>
              <a:t>を上向きに反り返らせた</a:t>
            </a:r>
            <a:r>
              <a:rPr kumimoji="1" lang="en-US" altLang="ja-JP" dirty="0">
                <a:latin typeface="游ゴシック" panose="020B0400000000000000" pitchFamily="50" charset="-128"/>
                <a:ea typeface="游ゴシック" panose="020B0400000000000000" pitchFamily="50" charset="-128"/>
              </a:rPr>
              <a:t>S1223 RTL</a:t>
            </a:r>
            <a:r>
              <a:rPr kumimoji="1" lang="ja-JP" altLang="en-US" dirty="0">
                <a:latin typeface="游ゴシック" panose="020B0400000000000000" pitchFamily="50" charset="-128"/>
                <a:ea typeface="游ゴシック" panose="020B0400000000000000" pitchFamily="50" charset="-128"/>
              </a:rPr>
              <a:t>を用いることに決めた。</a:t>
            </a:r>
            <a:endParaRPr kumimoji="1" lang="en-US" altLang="ja-JP" dirty="0">
              <a:latin typeface="游ゴシック" panose="020B0400000000000000" pitchFamily="50" charset="-128"/>
              <a:ea typeface="游ゴシック" panose="020B0400000000000000" pitchFamily="50" charset="-128"/>
            </a:endParaRPr>
          </a:p>
        </p:txBody>
      </p:sp>
      <p:sp>
        <p:nvSpPr>
          <p:cNvPr id="6" name="四角形: 角を丸くする 5">
            <a:extLst>
              <a:ext uri="{FF2B5EF4-FFF2-40B4-BE49-F238E27FC236}">
                <a16:creationId xmlns:a16="http://schemas.microsoft.com/office/drawing/2014/main" id="{AD3F0089-5B9B-1DB1-7FA8-ED24E1B52EAF}"/>
              </a:ext>
            </a:extLst>
          </p:cNvPr>
          <p:cNvSpPr/>
          <p:nvPr/>
        </p:nvSpPr>
        <p:spPr>
          <a:xfrm>
            <a:off x="6825833" y="4132806"/>
            <a:ext cx="5227939" cy="2693480"/>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66F6852E-9989-A210-A07B-42962E6E5413}"/>
              </a:ext>
            </a:extLst>
          </p:cNvPr>
          <p:cNvSpPr txBox="1"/>
          <p:nvPr/>
        </p:nvSpPr>
        <p:spPr>
          <a:xfrm>
            <a:off x="6910312" y="4240962"/>
            <a:ext cx="5058979" cy="2585323"/>
          </a:xfrm>
          <a:prstGeom prst="rect">
            <a:avLst/>
          </a:prstGeom>
          <a:noFill/>
        </p:spPr>
        <p:txBody>
          <a:bodyPr wrap="square" rtlCol="0">
            <a:spAutoFit/>
          </a:bodyPr>
          <a:lstStyle/>
          <a:p>
            <a:r>
              <a:rPr kumimoji="1" lang="ja-JP" altLang="en-US" dirty="0">
                <a:latin typeface="游ゴシック" panose="020B0400000000000000" pitchFamily="50" charset="-128"/>
                <a:ea typeface="游ゴシック" panose="020B0400000000000000" pitchFamily="50" charset="-128"/>
              </a:rPr>
              <a:t>また、ダウンフォースを稼ぐためにアッパーウイングを導入することに決めた</a:t>
            </a:r>
            <a:r>
              <a:rPr lang="ja-JP" altLang="en-US" dirty="0">
                <a:latin typeface="游ゴシック" panose="020B0400000000000000" pitchFamily="50" charset="-128"/>
                <a:ea typeface="游ゴシック" panose="020B0400000000000000" pitchFamily="50" charset="-128"/>
              </a:rPr>
              <a:t>。</a:t>
            </a:r>
            <a:endParaRPr lang="en-US" altLang="ja-JP" dirty="0">
              <a:latin typeface="游ゴシック" panose="020B0400000000000000" pitchFamily="50" charset="-128"/>
              <a:ea typeface="游ゴシック" panose="020B0400000000000000" pitchFamily="50" charset="-128"/>
            </a:endParaRPr>
          </a:p>
          <a:p>
            <a:r>
              <a:rPr kumimoji="1" lang="ja-JP" altLang="en-US" dirty="0">
                <a:latin typeface="游ゴシック" panose="020B0400000000000000" pitchFamily="50" charset="-128"/>
                <a:ea typeface="游ゴシック" panose="020B0400000000000000" pitchFamily="50" charset="-128"/>
              </a:rPr>
              <a:t>ただアッパーウイングの</a:t>
            </a:r>
            <a:r>
              <a:rPr lang="en-US" altLang="ja-JP" dirty="0">
                <a:latin typeface="游ゴシック" panose="020B0400000000000000" pitchFamily="50" charset="-128"/>
                <a:ea typeface="游ゴシック" panose="020B0400000000000000" pitchFamily="50" charset="-128"/>
              </a:rPr>
              <a:t>1st</a:t>
            </a:r>
            <a:r>
              <a:rPr lang="ja-JP" altLang="en-US" dirty="0">
                <a:latin typeface="游ゴシック" panose="020B0400000000000000" pitchFamily="50" charset="-128"/>
                <a:ea typeface="游ゴシック" panose="020B0400000000000000" pitchFamily="50" charset="-128"/>
              </a:rPr>
              <a:t>ウイングは失速しやすい傾向にあったため、</a:t>
            </a:r>
            <a:r>
              <a:rPr lang="en-US" altLang="ja-JP" dirty="0">
                <a:latin typeface="游ゴシック" panose="020B0400000000000000" pitchFamily="50" charset="-128"/>
                <a:ea typeface="游ゴシック" panose="020B0400000000000000" pitchFamily="50" charset="-128"/>
              </a:rPr>
              <a:t>E423</a:t>
            </a:r>
            <a:r>
              <a:rPr lang="ja-JP" altLang="en-US" dirty="0">
                <a:latin typeface="游ゴシック" panose="020B0400000000000000" pitchFamily="50" charset="-128"/>
                <a:ea typeface="游ゴシック" panose="020B0400000000000000" pitchFamily="50" charset="-128"/>
              </a:rPr>
              <a:t>を採用することにした。</a:t>
            </a:r>
            <a:endParaRPr lang="en-US" altLang="ja-JP" dirty="0">
              <a:latin typeface="游ゴシック" panose="020B0400000000000000" pitchFamily="50" charset="-128"/>
              <a:ea typeface="游ゴシック" panose="020B0400000000000000" pitchFamily="50" charset="-128"/>
            </a:endParaRPr>
          </a:p>
          <a:p>
            <a:r>
              <a:rPr kumimoji="1" lang="en-US" altLang="ja-JP" dirty="0">
                <a:latin typeface="游ゴシック" panose="020B0400000000000000" pitchFamily="50" charset="-128"/>
                <a:ea typeface="游ゴシック" panose="020B0400000000000000" pitchFamily="50" charset="-128"/>
              </a:rPr>
              <a:t>NACA M3</a:t>
            </a:r>
            <a:r>
              <a:rPr kumimoji="1" lang="ja-JP" altLang="en-US" dirty="0">
                <a:latin typeface="游ゴシック" panose="020B0400000000000000" pitchFamily="50" charset="-128"/>
                <a:ea typeface="游ゴシック" panose="020B0400000000000000" pitchFamily="50" charset="-128"/>
              </a:rPr>
              <a:t>も検討したが、</a:t>
            </a:r>
            <a:r>
              <a:rPr lang="en-US" altLang="ja-JP" dirty="0">
                <a:latin typeface="游ゴシック" panose="020B0400000000000000" pitchFamily="50" charset="-128"/>
                <a:ea typeface="游ゴシック" panose="020B0400000000000000" pitchFamily="50" charset="-128"/>
              </a:rPr>
              <a:t>2nd</a:t>
            </a:r>
            <a:r>
              <a:rPr kumimoji="1" lang="ja-JP" altLang="en-US" dirty="0">
                <a:latin typeface="游ゴシック" panose="020B0400000000000000" pitchFamily="50" charset="-128"/>
                <a:ea typeface="游ゴシック" panose="020B0400000000000000" pitchFamily="50" charset="-128"/>
              </a:rPr>
              <a:t>ウイングの迎え角が小さかったことで剥離や抵抗にあまり大きな差は見られなかったため、ダウンフォースを稼ぎやすい</a:t>
            </a:r>
            <a:r>
              <a:rPr kumimoji="1" lang="en-US" altLang="ja-JP" dirty="0">
                <a:latin typeface="游ゴシック" panose="020B0400000000000000" pitchFamily="50" charset="-128"/>
                <a:ea typeface="游ゴシック" panose="020B0400000000000000" pitchFamily="50" charset="-128"/>
              </a:rPr>
              <a:t>E423</a:t>
            </a:r>
            <a:r>
              <a:rPr kumimoji="1" lang="ja-JP" altLang="en-US" dirty="0">
                <a:latin typeface="游ゴシック" panose="020B0400000000000000" pitchFamily="50" charset="-128"/>
                <a:ea typeface="游ゴシック" panose="020B0400000000000000" pitchFamily="50" charset="-128"/>
              </a:rPr>
              <a:t>を採用した。</a:t>
            </a:r>
            <a:endParaRPr kumimoji="1" lang="en-US" altLang="ja-JP" dirty="0">
              <a:latin typeface="游ゴシック" panose="020B0400000000000000" pitchFamily="50" charset="-128"/>
              <a:ea typeface="游ゴシック" panose="020B0400000000000000" pitchFamily="50" charset="-128"/>
            </a:endParaRP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365EBEAF-728C-927B-EBD3-E5013FBF9DD8}"/>
                  </a:ext>
                </a:extLst>
              </p:cNvPr>
              <p:cNvSpPr txBox="1"/>
              <p:nvPr/>
            </p:nvSpPr>
            <p:spPr>
              <a:xfrm>
                <a:off x="6995255" y="2224307"/>
                <a:ext cx="4679510" cy="712631"/>
              </a:xfrm>
              <a:prstGeom prst="rect">
                <a:avLst/>
              </a:prstGeom>
              <a:noFill/>
              <a:ln>
                <a:solidFill>
                  <a:srgbClr val="4E95D9"/>
                </a:solidFill>
              </a:ln>
            </p:spPr>
            <p:txBody>
              <a:bodyPr wrap="square" rtlCol="0">
                <a:spAutoFit/>
              </a:bodyPr>
              <a:lstStyle/>
              <a:p>
                <a:r>
                  <a:rPr lang="en-US" altLang="ja-JP" sz="2800" b="1" dirty="0">
                    <a:latin typeface="游ゴシック" panose="020B0400000000000000" pitchFamily="50" charset="-128"/>
                    <a:ea typeface="游ゴシック" panose="020B0400000000000000" pitchFamily="50" charset="-128"/>
                  </a:rPr>
                  <a:t>M = </a:t>
                </a:r>
                <a14:m>
                  <m:oMath xmlns:m="http://schemas.openxmlformats.org/officeDocument/2006/math">
                    <m:f>
                      <m:fPr>
                        <m:ctrlPr>
                          <a:rPr lang="en-US" altLang="ja-JP" sz="2800" b="1" i="1" smtClean="0">
                            <a:latin typeface="Cambria Math" panose="02040503050406030204" pitchFamily="18" charset="0"/>
                          </a:rPr>
                        </m:ctrlPr>
                      </m:fPr>
                      <m:num>
                        <m:r>
                          <a:rPr lang="en-US" altLang="ja-JP" sz="2800" b="1" i="1" smtClean="0">
                            <a:latin typeface="Cambria Math" panose="02040503050406030204" pitchFamily="18" charset="0"/>
                          </a:rPr>
                          <m:t>𝟏</m:t>
                        </m:r>
                      </m:num>
                      <m:den>
                        <m:r>
                          <a:rPr lang="en-US" altLang="ja-JP" sz="2800" b="1" i="1" smtClean="0">
                            <a:latin typeface="Cambria Math" panose="02040503050406030204" pitchFamily="18" charset="0"/>
                          </a:rPr>
                          <m:t>𝟐</m:t>
                        </m:r>
                      </m:den>
                    </m:f>
                    <m:r>
                      <a:rPr lang="ja-JP" altLang="en-US" sz="2800" b="1" i="1" smtClean="0">
                        <a:latin typeface="Cambria Math" panose="02040503050406030204" pitchFamily="18" charset="0"/>
                      </a:rPr>
                      <m:t>𝝆</m:t>
                    </m:r>
                    <m:sSup>
                      <m:sSupPr>
                        <m:ctrlPr>
                          <a:rPr lang="en-US" altLang="ja-JP" sz="2800" b="1" i="1" smtClean="0">
                            <a:latin typeface="Cambria Math" panose="02040503050406030204" pitchFamily="18" charset="0"/>
                          </a:rPr>
                        </m:ctrlPr>
                      </m:sSupPr>
                      <m:e>
                        <m:r>
                          <a:rPr lang="ja-JP" altLang="en-US" sz="2800" b="1" i="1" smtClean="0">
                            <a:latin typeface="Cambria Math" panose="02040503050406030204" pitchFamily="18" charset="0"/>
                          </a:rPr>
                          <m:t>𝝊</m:t>
                        </m:r>
                      </m:e>
                      <m:sup>
                        <m:r>
                          <a:rPr lang="en-US" altLang="ja-JP" sz="2800" b="1" i="1" smtClean="0">
                            <a:latin typeface="Cambria Math" panose="02040503050406030204" pitchFamily="18" charset="0"/>
                          </a:rPr>
                          <m:t>𝟐</m:t>
                        </m:r>
                      </m:sup>
                    </m:sSup>
                  </m:oMath>
                </a14:m>
                <a:r>
                  <a:rPr kumimoji="1" lang="ja-JP" altLang="en-US" sz="2800" b="1" dirty="0">
                    <a:latin typeface="游ゴシック" panose="020B0400000000000000" pitchFamily="50" charset="-128"/>
                    <a:ea typeface="游ゴシック" panose="020B0400000000000000" pitchFamily="50" charset="-128"/>
                  </a:rPr>
                  <a:t>・</a:t>
                </a:r>
                <a:r>
                  <a:rPr kumimoji="1" lang="en-US" altLang="ja-JP" sz="2800" b="1" dirty="0">
                    <a:latin typeface="游ゴシック" panose="020B0400000000000000" pitchFamily="50" charset="-128"/>
                    <a:ea typeface="游ゴシック" panose="020B0400000000000000" pitchFamily="50" charset="-128"/>
                  </a:rPr>
                  <a:t>S</a:t>
                </a:r>
                <a:r>
                  <a:rPr kumimoji="1" lang="ja-JP" altLang="en-US" sz="2800" b="1" dirty="0">
                    <a:latin typeface="游ゴシック" panose="020B0400000000000000" pitchFamily="50" charset="-128"/>
                    <a:ea typeface="游ゴシック" panose="020B0400000000000000" pitchFamily="50" charset="-128"/>
                  </a:rPr>
                  <a:t>・</a:t>
                </a:r>
                <a:r>
                  <a:rPr kumimoji="1" lang="en-US" altLang="ja-JP" sz="2800" b="1" dirty="0">
                    <a:latin typeface="游ゴシック" panose="020B0400000000000000" pitchFamily="50" charset="-128"/>
                    <a:ea typeface="游ゴシック" panose="020B0400000000000000" pitchFamily="50" charset="-128"/>
                  </a:rPr>
                  <a:t>c</a:t>
                </a:r>
                <a:r>
                  <a:rPr kumimoji="1" lang="ja-JP" altLang="en-US" sz="2800" b="1" dirty="0">
                    <a:latin typeface="游ゴシック" panose="020B0400000000000000" pitchFamily="50" charset="-128"/>
                    <a:ea typeface="游ゴシック" panose="020B0400000000000000" pitchFamily="50" charset="-128"/>
                  </a:rPr>
                  <a:t>・</a:t>
                </a:r>
                <a:r>
                  <a:rPr kumimoji="1" lang="en-US" altLang="ja-JP" sz="2800" b="1" dirty="0">
                    <a:latin typeface="游ゴシック" panose="020B0400000000000000" pitchFamily="50" charset="-128"/>
                    <a:ea typeface="游ゴシック" panose="020B0400000000000000" pitchFamily="50" charset="-128"/>
                  </a:rPr>
                  <a:t>Cm</a:t>
                </a:r>
                <a:r>
                  <a:rPr lang="ja-JP" altLang="en-US" sz="2800" b="1" dirty="0">
                    <a:latin typeface="游ゴシック" panose="020B0400000000000000" pitchFamily="50" charset="-128"/>
                    <a:ea typeface="游ゴシック" panose="020B0400000000000000" pitchFamily="50" charset="-128"/>
                  </a:rPr>
                  <a:t>   </a:t>
                </a:r>
                <a:r>
                  <a:rPr lang="en-US" altLang="ja-JP" sz="2800" b="1" dirty="0">
                    <a:latin typeface="游ゴシック" panose="020B0400000000000000" pitchFamily="50" charset="-128"/>
                    <a:ea typeface="游ゴシック" panose="020B0400000000000000" pitchFamily="50" charset="-128"/>
                  </a:rPr>
                  <a:t>(1)</a:t>
                </a:r>
                <a:endParaRPr kumimoji="1" lang="ja-JP" altLang="en-US" sz="2800" b="1" dirty="0">
                  <a:latin typeface="游ゴシック" panose="020B0400000000000000" pitchFamily="50" charset="-128"/>
                  <a:ea typeface="游ゴシック" panose="020B0400000000000000" pitchFamily="50" charset="-128"/>
                </a:endParaRPr>
              </a:p>
            </p:txBody>
          </p:sp>
        </mc:Choice>
        <mc:Fallback xmlns="">
          <p:sp>
            <p:nvSpPr>
              <p:cNvPr id="3" name="テキスト ボックス 2">
                <a:extLst>
                  <a:ext uri="{FF2B5EF4-FFF2-40B4-BE49-F238E27FC236}">
                    <a16:creationId xmlns:a16="http://schemas.microsoft.com/office/drawing/2014/main" id="{365EBEAF-728C-927B-EBD3-E5013FBF9DD8}"/>
                  </a:ext>
                </a:extLst>
              </p:cNvPr>
              <p:cNvSpPr txBox="1">
                <a:spLocks noRot="1" noChangeAspect="1" noMove="1" noResize="1" noEditPoints="1" noAdjustHandles="1" noChangeArrowheads="1" noChangeShapeType="1" noTextEdit="1"/>
              </p:cNvSpPr>
              <p:nvPr/>
            </p:nvSpPr>
            <p:spPr>
              <a:xfrm>
                <a:off x="6995255" y="2224307"/>
                <a:ext cx="4679510" cy="712631"/>
              </a:xfrm>
              <a:prstGeom prst="rect">
                <a:avLst/>
              </a:prstGeom>
              <a:blipFill>
                <a:blip r:embed="rId2"/>
                <a:stretch>
                  <a:fillRect l="-2601" r="-2211" b="-10084"/>
                </a:stretch>
              </a:blipFill>
              <a:ln>
                <a:solidFill>
                  <a:srgbClr val="4E95D9"/>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9AA796A1-6688-6CEE-AB9D-0192EDB0F42C}"/>
                  </a:ext>
                </a:extLst>
              </p:cNvPr>
              <p:cNvSpPr txBox="1"/>
              <p:nvPr/>
            </p:nvSpPr>
            <p:spPr>
              <a:xfrm>
                <a:off x="7587509" y="2893275"/>
                <a:ext cx="3704584" cy="1185453"/>
              </a:xfrm>
              <a:prstGeom prst="rect">
                <a:avLst/>
              </a:prstGeom>
              <a:noFill/>
            </p:spPr>
            <p:txBody>
              <a:bodyPr wrap="square" rtlCol="0">
                <a:spAutoFit/>
              </a:bodyPr>
              <a:lstStyle/>
              <a:p>
                <a14:m>
                  <m:oMath xmlns:m="http://schemas.openxmlformats.org/officeDocument/2006/math">
                    <m:f>
                      <m:fPr>
                        <m:ctrlPr>
                          <a:rPr lang="en-US" altLang="ja-JP" sz="1600" b="1" i="1">
                            <a:latin typeface="Cambria Math" panose="02040503050406030204" pitchFamily="18" charset="0"/>
                          </a:rPr>
                        </m:ctrlPr>
                      </m:fPr>
                      <m:num>
                        <m:r>
                          <a:rPr lang="en-US" altLang="ja-JP" sz="1600" b="1" i="1">
                            <a:latin typeface="Cambria Math" panose="02040503050406030204" pitchFamily="18" charset="0"/>
                          </a:rPr>
                          <m:t>𝟏</m:t>
                        </m:r>
                      </m:num>
                      <m:den>
                        <m:r>
                          <a:rPr lang="en-US" altLang="ja-JP" sz="1600" b="1" i="1">
                            <a:latin typeface="Cambria Math" panose="02040503050406030204" pitchFamily="18" charset="0"/>
                          </a:rPr>
                          <m:t>𝟐</m:t>
                        </m:r>
                      </m:den>
                    </m:f>
                    <m:r>
                      <a:rPr lang="ja-JP" altLang="en-US" sz="1600" b="1" i="1">
                        <a:latin typeface="Cambria Math" panose="02040503050406030204" pitchFamily="18" charset="0"/>
                      </a:rPr>
                      <m:t>𝝆</m:t>
                    </m:r>
                    <m:sSup>
                      <m:sSupPr>
                        <m:ctrlPr>
                          <a:rPr lang="en-US" altLang="ja-JP" sz="1600" b="1" i="1">
                            <a:latin typeface="Cambria Math" panose="02040503050406030204" pitchFamily="18" charset="0"/>
                          </a:rPr>
                        </m:ctrlPr>
                      </m:sSupPr>
                      <m:e>
                        <m:r>
                          <a:rPr lang="ja-JP" altLang="en-US" sz="1600" b="1" i="1">
                            <a:latin typeface="Cambria Math" panose="02040503050406030204" pitchFamily="18" charset="0"/>
                          </a:rPr>
                          <m:t>𝝊</m:t>
                        </m:r>
                      </m:e>
                      <m:sup>
                        <m:r>
                          <a:rPr lang="en-US" altLang="ja-JP" sz="1600" b="1" i="1">
                            <a:latin typeface="Cambria Math" panose="02040503050406030204" pitchFamily="18" charset="0"/>
                          </a:rPr>
                          <m:t>𝟐</m:t>
                        </m:r>
                      </m:sup>
                    </m:sSup>
                  </m:oMath>
                </a14:m>
                <a:r>
                  <a:rPr kumimoji="1" lang="ja-JP" altLang="en-US" sz="1600" b="1" dirty="0">
                    <a:latin typeface="游ゴシック" panose="020B0400000000000000" pitchFamily="50" charset="-128"/>
                    <a:ea typeface="游ゴシック" panose="020B0400000000000000" pitchFamily="50" charset="-128"/>
                  </a:rPr>
                  <a:t>：動圧</a:t>
                </a:r>
                <a:r>
                  <a:rPr kumimoji="1" lang="en-US" altLang="ja-JP" sz="1600" b="1" dirty="0">
                    <a:latin typeface="游ゴシック" panose="020B0400000000000000" pitchFamily="50" charset="-128"/>
                    <a:ea typeface="游ゴシック" panose="020B0400000000000000" pitchFamily="50" charset="-128"/>
                  </a:rPr>
                  <a:t>(N/m)</a:t>
                </a:r>
              </a:p>
              <a:p>
                <a:r>
                  <a:rPr lang="en-US" altLang="ja-JP" sz="1600" b="1" dirty="0">
                    <a:latin typeface="游ゴシック" panose="020B0400000000000000" pitchFamily="50" charset="-128"/>
                    <a:ea typeface="游ゴシック" panose="020B0400000000000000" pitchFamily="50" charset="-128"/>
                  </a:rPr>
                  <a:t>S</a:t>
                </a:r>
                <a:r>
                  <a:rPr lang="ja-JP" altLang="en-US" sz="1600" b="1" dirty="0">
                    <a:latin typeface="游ゴシック" panose="020B0400000000000000" pitchFamily="50" charset="-128"/>
                    <a:ea typeface="游ゴシック" panose="020B0400000000000000" pitchFamily="50" charset="-128"/>
                  </a:rPr>
                  <a:t>：代表面積</a:t>
                </a:r>
                <a:r>
                  <a:rPr lang="en-US" altLang="ja-JP" sz="1600" b="1" dirty="0">
                    <a:latin typeface="游ゴシック" panose="020B0400000000000000" pitchFamily="50" charset="-128"/>
                    <a:ea typeface="游ゴシック" panose="020B0400000000000000" pitchFamily="50" charset="-128"/>
                  </a:rPr>
                  <a:t>(m²)</a:t>
                </a:r>
              </a:p>
              <a:p>
                <a:r>
                  <a:rPr kumimoji="1" lang="en-US" altLang="ja-JP" sz="1600" b="1" dirty="0">
                    <a:latin typeface="游ゴシック" panose="020B0400000000000000" pitchFamily="50" charset="-128"/>
                    <a:ea typeface="游ゴシック" panose="020B0400000000000000" pitchFamily="50" charset="-128"/>
                  </a:rPr>
                  <a:t>C</a:t>
                </a:r>
                <a:r>
                  <a:rPr kumimoji="1" lang="ja-JP" altLang="en-US" sz="1600" b="1" dirty="0">
                    <a:latin typeface="游ゴシック" panose="020B0400000000000000" pitchFamily="50" charset="-128"/>
                    <a:ea typeface="游ゴシック" panose="020B0400000000000000" pitchFamily="50" charset="-128"/>
                  </a:rPr>
                  <a:t>：翼弦長</a:t>
                </a:r>
                <a:r>
                  <a:rPr kumimoji="1" lang="en-US" altLang="ja-JP" sz="1600" b="1" dirty="0">
                    <a:latin typeface="游ゴシック" panose="020B0400000000000000" pitchFamily="50" charset="-128"/>
                    <a:ea typeface="游ゴシック" panose="020B0400000000000000" pitchFamily="50" charset="-128"/>
                  </a:rPr>
                  <a:t>(m)</a:t>
                </a:r>
              </a:p>
              <a:p>
                <a:r>
                  <a:rPr lang="en-US" altLang="ja-JP" sz="1600" b="1" dirty="0">
                    <a:latin typeface="游ゴシック" panose="020B0400000000000000" pitchFamily="50" charset="-128"/>
                    <a:ea typeface="游ゴシック" panose="020B0400000000000000" pitchFamily="50" charset="-128"/>
                  </a:rPr>
                  <a:t>Cm</a:t>
                </a:r>
                <a:r>
                  <a:rPr lang="ja-JP" altLang="en-US" sz="1600" b="1" dirty="0">
                    <a:latin typeface="游ゴシック" panose="020B0400000000000000" pitchFamily="50" charset="-128"/>
                    <a:ea typeface="游ゴシック" panose="020B0400000000000000" pitchFamily="50" charset="-128"/>
                  </a:rPr>
                  <a:t>：ピッチングモーメント係数</a:t>
                </a:r>
                <a:endParaRPr kumimoji="1" lang="ja-JP" altLang="en-US" sz="1600" b="1" dirty="0">
                  <a:latin typeface="游ゴシック" panose="020B0400000000000000" pitchFamily="50" charset="-128"/>
                  <a:ea typeface="游ゴシック" panose="020B0400000000000000" pitchFamily="50" charset="-128"/>
                </a:endParaRPr>
              </a:p>
            </p:txBody>
          </p:sp>
        </mc:Choice>
        <mc:Fallback xmlns="">
          <p:sp>
            <p:nvSpPr>
              <p:cNvPr id="17" name="テキスト ボックス 16">
                <a:extLst>
                  <a:ext uri="{FF2B5EF4-FFF2-40B4-BE49-F238E27FC236}">
                    <a16:creationId xmlns:a16="http://schemas.microsoft.com/office/drawing/2014/main" id="{9AA796A1-6688-6CEE-AB9D-0192EDB0F42C}"/>
                  </a:ext>
                </a:extLst>
              </p:cNvPr>
              <p:cNvSpPr txBox="1">
                <a:spLocks noRot="1" noChangeAspect="1" noMove="1" noResize="1" noEditPoints="1" noAdjustHandles="1" noChangeArrowheads="1" noChangeShapeType="1" noTextEdit="1"/>
              </p:cNvSpPr>
              <p:nvPr/>
            </p:nvSpPr>
            <p:spPr>
              <a:xfrm>
                <a:off x="7587509" y="2893275"/>
                <a:ext cx="3704584" cy="1185453"/>
              </a:xfrm>
              <a:prstGeom prst="rect">
                <a:avLst/>
              </a:prstGeom>
              <a:blipFill>
                <a:blip r:embed="rId3"/>
                <a:stretch>
                  <a:fillRect l="-988" b="-5670"/>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EABB511D-DCE7-DE14-CB97-C3838EC59442}"/>
              </a:ext>
            </a:extLst>
          </p:cNvPr>
          <p:cNvSpPr txBox="1"/>
          <p:nvPr/>
        </p:nvSpPr>
        <p:spPr>
          <a:xfrm>
            <a:off x="5969690" y="954428"/>
            <a:ext cx="6124352" cy="1200329"/>
          </a:xfrm>
          <a:prstGeom prst="rect">
            <a:avLst/>
          </a:prstGeom>
          <a:noFill/>
          <a:ln>
            <a:solidFill>
              <a:srgbClr val="4E95D9"/>
            </a:solidFill>
          </a:ln>
        </p:spPr>
        <p:txBody>
          <a:bodyPr wrap="square">
            <a:spAutoFit/>
          </a:bodyPr>
          <a:lstStyle/>
          <a:p>
            <a:r>
              <a:rPr kumimoji="1" lang="ja-JP" altLang="en-US" dirty="0">
                <a:latin typeface="游ゴシック" panose="020B0400000000000000" pitchFamily="50" charset="-128"/>
                <a:ea typeface="游ゴシック" panose="020B0400000000000000" pitchFamily="50" charset="-128"/>
              </a:rPr>
              <a:t>これにより</a:t>
            </a:r>
            <a:r>
              <a:rPr lang="ja-JP" altLang="en-US" dirty="0">
                <a:latin typeface="游ゴシック" panose="020B0400000000000000" pitchFamily="50" charset="-128"/>
                <a:ea typeface="游ゴシック" panose="020B0400000000000000" pitchFamily="50" charset="-128"/>
              </a:rPr>
              <a:t>ピッチングモーメント係数</a:t>
            </a:r>
            <a:r>
              <a:rPr kumimoji="1" lang="ja-JP" altLang="en-US" dirty="0">
                <a:latin typeface="游ゴシック" panose="020B0400000000000000" pitchFamily="50" charset="-128"/>
                <a:ea typeface="游ゴシック" panose="020B0400000000000000" pitchFamily="50" charset="-128"/>
              </a:rPr>
              <a:t>を</a:t>
            </a:r>
            <a:r>
              <a:rPr kumimoji="1" lang="en-US" altLang="ja-JP" dirty="0">
                <a:latin typeface="游ゴシック" panose="020B0400000000000000" pitchFamily="50" charset="-128"/>
                <a:ea typeface="游ゴシック" panose="020B0400000000000000" pitchFamily="50" charset="-128"/>
              </a:rPr>
              <a:t>-0.24</a:t>
            </a:r>
            <a:r>
              <a:rPr kumimoji="1" lang="ja-JP" altLang="en-US" dirty="0">
                <a:latin typeface="游ゴシック" panose="020B0400000000000000" pitchFamily="50" charset="-128"/>
                <a:ea typeface="游ゴシック" panose="020B0400000000000000" pitchFamily="50" charset="-128"/>
              </a:rPr>
              <a:t>ほどから</a:t>
            </a:r>
            <a:endParaRPr lang="en-US" altLang="ja-JP" dirty="0">
              <a:latin typeface="游ゴシック" panose="020B0400000000000000" pitchFamily="50" charset="-128"/>
              <a:ea typeface="游ゴシック" panose="020B0400000000000000" pitchFamily="50" charset="-128"/>
            </a:endParaRPr>
          </a:p>
          <a:p>
            <a:r>
              <a:rPr kumimoji="1" lang="en-US" altLang="ja-JP" dirty="0">
                <a:latin typeface="游ゴシック" panose="020B0400000000000000" pitchFamily="50" charset="-128"/>
                <a:ea typeface="游ゴシック" panose="020B0400000000000000" pitchFamily="50" charset="-128"/>
              </a:rPr>
              <a:t>-0.10</a:t>
            </a:r>
            <a:r>
              <a:rPr kumimoji="1" lang="ja-JP" altLang="en-US" dirty="0">
                <a:latin typeface="游ゴシック" panose="020B0400000000000000" pitchFamily="50" charset="-128"/>
                <a:ea typeface="游ゴシック" panose="020B0400000000000000" pitchFamily="50" charset="-128"/>
              </a:rPr>
              <a:t>ほどまで減少でき、式</a:t>
            </a:r>
            <a:r>
              <a:rPr lang="en-US" altLang="ja-JP" dirty="0">
                <a:latin typeface="游ゴシック" panose="020B0400000000000000" pitchFamily="50" charset="-128"/>
                <a:ea typeface="游ゴシック" panose="020B0400000000000000" pitchFamily="50" charset="-128"/>
              </a:rPr>
              <a:t>(1)</a:t>
            </a:r>
            <a:r>
              <a:rPr lang="ja-JP" altLang="en-US" dirty="0">
                <a:latin typeface="游ゴシック" panose="020B0400000000000000" pitchFamily="50" charset="-128"/>
                <a:ea typeface="游ゴシック" panose="020B0400000000000000" pitchFamily="50" charset="-128"/>
              </a:rPr>
              <a:t>より</a:t>
            </a:r>
            <a:r>
              <a:rPr kumimoji="1" lang="ja-JP" altLang="en-US" dirty="0">
                <a:latin typeface="游ゴシック" panose="020B0400000000000000" pitchFamily="50" charset="-128"/>
                <a:ea typeface="游ゴシック" panose="020B0400000000000000" pitchFamily="50" charset="-128"/>
              </a:rPr>
              <a:t>ピッチングモーメントを約</a:t>
            </a:r>
            <a:r>
              <a:rPr lang="en-US" altLang="ja-JP" dirty="0">
                <a:latin typeface="游ゴシック" panose="020B0400000000000000" pitchFamily="50" charset="-128"/>
                <a:ea typeface="游ゴシック" panose="020B0400000000000000" pitchFamily="50" charset="-128"/>
              </a:rPr>
              <a:t>58</a:t>
            </a:r>
            <a:r>
              <a:rPr kumimoji="1" lang="ja-JP" altLang="en-US"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軽減することができ、構造や挙動の安定性を得ることが出来た。</a:t>
            </a:r>
            <a:endParaRPr lang="ja-JP" altLang="en-US" dirty="0"/>
          </a:p>
        </p:txBody>
      </p:sp>
    </p:spTree>
    <p:extLst>
      <p:ext uri="{BB962C8B-B14F-4D97-AF65-F5344CB8AC3E}">
        <p14:creationId xmlns:p14="http://schemas.microsoft.com/office/powerpoint/2010/main" val="676378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C9A65-E9BC-39AE-AC98-3595A918F6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D1B739-7A17-6291-7964-24755CF4F420}"/>
              </a:ext>
            </a:extLst>
          </p:cNvPr>
          <p:cNvSpPr>
            <a:spLocks noGrp="1"/>
          </p:cNvSpPr>
          <p:nvPr>
            <p:ph type="title"/>
          </p:nvPr>
        </p:nvSpPr>
        <p:spPr/>
        <p:txBody>
          <a:bodyPr/>
          <a:lstStyle/>
          <a:p>
            <a:r>
              <a:rPr lang="en-US" altLang="en-US" dirty="0"/>
              <a:t>Aerodynamics</a:t>
            </a:r>
            <a:endParaRPr kumimoji="1" lang="ja-JP" altLang="en-US" dirty="0"/>
          </a:p>
        </p:txBody>
      </p:sp>
      <p:sp>
        <p:nvSpPr>
          <p:cNvPr id="4" name="テキスト ボックス 3">
            <a:extLst>
              <a:ext uri="{FF2B5EF4-FFF2-40B4-BE49-F238E27FC236}">
                <a16:creationId xmlns:a16="http://schemas.microsoft.com/office/drawing/2014/main" id="{24A5B57E-AEF4-C5E0-67C0-DEA5E975407F}"/>
              </a:ext>
            </a:extLst>
          </p:cNvPr>
          <p:cNvSpPr txBox="1"/>
          <p:nvPr/>
        </p:nvSpPr>
        <p:spPr>
          <a:xfrm>
            <a:off x="85297" y="974353"/>
            <a:ext cx="8255139" cy="1754326"/>
          </a:xfrm>
          <a:prstGeom prst="rect">
            <a:avLst/>
          </a:prstGeom>
          <a:noFill/>
          <a:ln>
            <a:solidFill>
              <a:srgbClr val="4E95D9"/>
            </a:solidFill>
          </a:ln>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２．スロットギャップ・オーバーラップの決定について</a:t>
            </a:r>
            <a:endParaRPr kumimoji="1" lang="en-US" altLang="ja-JP" b="1"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翼型や迎え角の決定後、スロットギャップやオーバーラップのみに変更を加えて</a:t>
            </a:r>
            <a:r>
              <a:rPr lang="en-US" altLang="ja-JP" dirty="0">
                <a:latin typeface="游ゴシック" panose="020B0400000000000000" pitchFamily="50" charset="-128"/>
                <a:ea typeface="游ゴシック" panose="020B0400000000000000" pitchFamily="50" charset="-128"/>
              </a:rPr>
              <a:t>Ansys</a:t>
            </a:r>
            <a:r>
              <a:rPr lang="ja-JP" altLang="en-US" dirty="0">
                <a:latin typeface="游ゴシック" panose="020B0400000000000000" pitchFamily="50" charset="-128"/>
                <a:ea typeface="游ゴシック" panose="020B0400000000000000" pitchFamily="50" charset="-128"/>
              </a:rPr>
              <a:t>の</a:t>
            </a:r>
            <a:r>
              <a:rPr lang="en-US" altLang="ja-JP" dirty="0">
                <a:latin typeface="游ゴシック" panose="020B0400000000000000" pitchFamily="50" charset="-128"/>
                <a:ea typeface="游ゴシック" panose="020B0400000000000000" pitchFamily="50" charset="-128"/>
              </a:rPr>
              <a:t>2D</a:t>
            </a:r>
            <a:r>
              <a:rPr lang="ja-JP" altLang="en-US" dirty="0">
                <a:latin typeface="游ゴシック" panose="020B0400000000000000" pitchFamily="50" charset="-128"/>
                <a:ea typeface="游ゴシック" panose="020B0400000000000000" pitchFamily="50" charset="-128"/>
              </a:rPr>
              <a:t>解析を繰り返し行った。ドラッグの軽減に焦点を当てて、最終的に採用した翼やスロットギャップ、オーバーラップの大きさは図</a:t>
            </a:r>
            <a:r>
              <a:rPr lang="en-US" altLang="ja-JP" dirty="0">
                <a:latin typeface="游ゴシック" panose="020B0400000000000000" pitchFamily="50" charset="-128"/>
                <a:ea typeface="游ゴシック" panose="020B0400000000000000" pitchFamily="50" charset="-128"/>
              </a:rPr>
              <a:t>1</a:t>
            </a:r>
            <a:r>
              <a:rPr lang="ja-JP" altLang="en-US" dirty="0">
                <a:latin typeface="游ゴシック" panose="020B0400000000000000" pitchFamily="50" charset="-128"/>
                <a:ea typeface="游ゴシック" panose="020B0400000000000000" pitchFamily="50" charset="-128"/>
              </a:rPr>
              <a:t>の通りである。</a:t>
            </a:r>
            <a:endParaRPr lang="en-US" altLang="ja-JP"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最終的な</a:t>
            </a:r>
            <a:r>
              <a:rPr lang="en-US" altLang="ja-JP" dirty="0">
                <a:latin typeface="游ゴシック" panose="020B0400000000000000" pitchFamily="50" charset="-128"/>
                <a:ea typeface="游ゴシック" panose="020B0400000000000000" pitchFamily="50" charset="-128"/>
              </a:rPr>
              <a:t>2D</a:t>
            </a:r>
            <a:r>
              <a:rPr lang="ja-JP" altLang="en-US" dirty="0">
                <a:latin typeface="游ゴシック" panose="020B0400000000000000" pitchFamily="50" charset="-128"/>
                <a:ea typeface="游ゴシック" panose="020B0400000000000000" pitchFamily="50" charset="-128"/>
              </a:rPr>
              <a:t>の解析結果を図</a:t>
            </a:r>
            <a:r>
              <a:rPr kumimoji="1" lang="en-US" altLang="ja-JP" dirty="0">
                <a:latin typeface="游ゴシック" panose="020B0400000000000000" pitchFamily="50" charset="-128"/>
                <a:ea typeface="游ゴシック" panose="020B0400000000000000" pitchFamily="50" charset="-128"/>
              </a:rPr>
              <a:t>2</a:t>
            </a:r>
            <a:r>
              <a:rPr lang="ja-JP" altLang="en-US" dirty="0">
                <a:latin typeface="游ゴシック" panose="020B0400000000000000" pitchFamily="50" charset="-128"/>
                <a:ea typeface="游ゴシック" panose="020B0400000000000000" pitchFamily="50" charset="-128"/>
              </a:rPr>
              <a:t>に示す</a:t>
            </a:r>
            <a:r>
              <a:rPr kumimoji="1" lang="ja-JP" altLang="en-US" dirty="0">
                <a:latin typeface="游ゴシック" panose="020B0400000000000000" pitchFamily="50" charset="-128"/>
                <a:ea typeface="游ゴシック" panose="020B0400000000000000" pitchFamily="50" charset="-128"/>
              </a:rPr>
              <a:t>。</a:t>
            </a:r>
          </a:p>
        </p:txBody>
      </p:sp>
      <p:sp>
        <p:nvSpPr>
          <p:cNvPr id="6" name="テキスト ボックス 5">
            <a:extLst>
              <a:ext uri="{FF2B5EF4-FFF2-40B4-BE49-F238E27FC236}">
                <a16:creationId xmlns:a16="http://schemas.microsoft.com/office/drawing/2014/main" id="{EA35C2CE-2D03-8D51-450C-7A279FCB0544}"/>
              </a:ext>
            </a:extLst>
          </p:cNvPr>
          <p:cNvSpPr txBox="1"/>
          <p:nvPr/>
        </p:nvSpPr>
        <p:spPr>
          <a:xfrm>
            <a:off x="8454988" y="981354"/>
            <a:ext cx="3724713" cy="4247317"/>
          </a:xfrm>
          <a:prstGeom prst="rect">
            <a:avLst/>
          </a:prstGeom>
          <a:noFill/>
          <a:ln>
            <a:solidFill>
              <a:srgbClr val="4E95D9"/>
            </a:solidFill>
          </a:ln>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３．</a:t>
            </a:r>
            <a:r>
              <a:rPr kumimoji="1" lang="en-US" altLang="ja-JP" b="1" dirty="0">
                <a:latin typeface="游ゴシック" panose="020B0400000000000000" pitchFamily="50" charset="-128"/>
                <a:ea typeface="游ゴシック" panose="020B0400000000000000" pitchFamily="50" charset="-128"/>
              </a:rPr>
              <a:t>3D</a:t>
            </a:r>
            <a:r>
              <a:rPr kumimoji="1" lang="ja-JP" altLang="en-US" b="1" dirty="0">
                <a:latin typeface="游ゴシック" panose="020B0400000000000000" pitchFamily="50" charset="-128"/>
                <a:ea typeface="游ゴシック" panose="020B0400000000000000" pitchFamily="50" charset="-128"/>
              </a:rPr>
              <a:t>モデル化について</a:t>
            </a:r>
            <a:endParaRPr kumimoji="1" lang="en-US" altLang="ja-JP" b="1" dirty="0">
              <a:latin typeface="游ゴシック" panose="020B0400000000000000" pitchFamily="50" charset="-128"/>
              <a:ea typeface="游ゴシック" panose="020B0400000000000000" pitchFamily="50" charset="-128"/>
            </a:endParaRPr>
          </a:p>
          <a:p>
            <a:r>
              <a:rPr kumimoji="1" lang="en-US" altLang="ja-JP" dirty="0">
                <a:latin typeface="游ゴシック" panose="020B0400000000000000" pitchFamily="50" charset="-128"/>
                <a:ea typeface="游ゴシック" panose="020B0400000000000000" pitchFamily="50" charset="-128"/>
              </a:rPr>
              <a:t>2D</a:t>
            </a:r>
            <a:r>
              <a:rPr kumimoji="1" lang="ja-JP" altLang="en-US" dirty="0">
                <a:latin typeface="游ゴシック" panose="020B0400000000000000" pitchFamily="50" charset="-128"/>
                <a:ea typeface="游ゴシック" panose="020B0400000000000000" pitchFamily="50" charset="-128"/>
              </a:rPr>
              <a:t>解析の結果をもとに</a:t>
            </a:r>
            <a:r>
              <a:rPr kumimoji="1" lang="en-US" altLang="ja-JP" dirty="0">
                <a:latin typeface="游ゴシック" panose="020B0400000000000000" pitchFamily="50" charset="-128"/>
                <a:ea typeface="游ゴシック" panose="020B0400000000000000" pitchFamily="50" charset="-128"/>
              </a:rPr>
              <a:t>3D</a:t>
            </a:r>
            <a:r>
              <a:rPr kumimoji="1" lang="ja-JP" altLang="en-US" dirty="0">
                <a:latin typeface="游ゴシック" panose="020B0400000000000000" pitchFamily="50" charset="-128"/>
                <a:ea typeface="游ゴシック" panose="020B0400000000000000" pitchFamily="50" charset="-128"/>
              </a:rPr>
              <a:t>モデル化を行った。</a:t>
            </a:r>
            <a:endParaRPr kumimoji="1" lang="en-US" altLang="ja-JP"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トレッド幅が</a:t>
            </a:r>
            <a:r>
              <a:rPr lang="en-US" altLang="ja-JP" dirty="0">
                <a:latin typeface="游ゴシック" panose="020B0400000000000000" pitchFamily="50" charset="-128"/>
                <a:ea typeface="游ゴシック" panose="020B0400000000000000" pitchFamily="50" charset="-128"/>
              </a:rPr>
              <a:t>1335mm,</a:t>
            </a:r>
            <a:r>
              <a:rPr lang="ja-JP" altLang="en-US" dirty="0">
                <a:latin typeface="游ゴシック" panose="020B0400000000000000" pitchFamily="50" charset="-128"/>
                <a:ea typeface="游ゴシック" panose="020B0400000000000000" pitchFamily="50" charset="-128"/>
              </a:rPr>
              <a:t>タイヤ幅が約</a:t>
            </a:r>
            <a:r>
              <a:rPr lang="en-US" altLang="ja-JP" dirty="0">
                <a:latin typeface="游ゴシック" panose="020B0400000000000000" pitchFamily="50" charset="-128"/>
                <a:ea typeface="游ゴシック" panose="020B0400000000000000" pitchFamily="50" charset="-128"/>
              </a:rPr>
              <a:t>200mm</a:t>
            </a:r>
            <a:r>
              <a:rPr lang="ja-JP" altLang="en-US" dirty="0">
                <a:latin typeface="游ゴシック" panose="020B0400000000000000" pitchFamily="50" charset="-128"/>
                <a:ea typeface="游ゴシック" panose="020B0400000000000000" pitchFamily="50" charset="-128"/>
              </a:rPr>
              <a:t>であることと重量、製作時の誤差を考慮してスパン長は</a:t>
            </a:r>
            <a:r>
              <a:rPr lang="en-US" altLang="ja-JP" dirty="0">
                <a:latin typeface="游ゴシック" panose="020B0400000000000000" pitchFamily="50" charset="-128"/>
                <a:ea typeface="游ゴシック" panose="020B0400000000000000" pitchFamily="50" charset="-128"/>
              </a:rPr>
              <a:t>1040mm</a:t>
            </a:r>
            <a:r>
              <a:rPr lang="ja-JP" altLang="en-US" dirty="0">
                <a:latin typeface="游ゴシック" panose="020B0400000000000000" pitchFamily="50" charset="-128"/>
                <a:ea typeface="游ゴシック" panose="020B0400000000000000" pitchFamily="50" charset="-128"/>
              </a:rPr>
              <a:t>に決定した。</a:t>
            </a:r>
            <a:endParaRPr lang="en-US" altLang="ja-JP" dirty="0">
              <a:latin typeface="游ゴシック" panose="020B0400000000000000" pitchFamily="50" charset="-128"/>
              <a:ea typeface="游ゴシック" panose="020B0400000000000000" pitchFamily="50" charset="-128"/>
            </a:endParaRPr>
          </a:p>
          <a:p>
            <a:r>
              <a:rPr kumimoji="1" lang="ja-JP" altLang="en-US" dirty="0">
                <a:latin typeface="游ゴシック" panose="020B0400000000000000" pitchFamily="50" charset="-128"/>
                <a:ea typeface="游ゴシック" panose="020B0400000000000000" pitchFamily="50" charset="-128"/>
              </a:rPr>
              <a:t>またステー等の配置について</a:t>
            </a:r>
            <a:r>
              <a:rPr lang="ja-JP" altLang="en-US" dirty="0">
                <a:latin typeface="游ゴシック" panose="020B0400000000000000" pitchFamily="50" charset="-128"/>
                <a:ea typeface="游ゴシック" panose="020B0400000000000000" pitchFamily="50" charset="-128"/>
              </a:rPr>
              <a:t>、</a:t>
            </a:r>
            <a:r>
              <a:rPr kumimoji="1" lang="ja-JP" altLang="en-US" dirty="0">
                <a:latin typeface="游ゴシック" panose="020B0400000000000000" pitchFamily="50" charset="-128"/>
                <a:ea typeface="游ゴシック" panose="020B0400000000000000" pitchFamily="50" charset="-128"/>
              </a:rPr>
              <a:t>側面から見た際にスワンネックとステーで三角形構造をつくり、後方から見た際にステーを</a:t>
            </a:r>
            <a:r>
              <a:rPr kumimoji="1" lang="en-US" altLang="ja-JP" dirty="0">
                <a:latin typeface="游ゴシック" panose="020B0400000000000000" pitchFamily="50" charset="-128"/>
                <a:ea typeface="游ゴシック" panose="020B0400000000000000" pitchFamily="50" charset="-128"/>
              </a:rPr>
              <a:t>V</a:t>
            </a:r>
            <a:r>
              <a:rPr kumimoji="1" lang="ja-JP" altLang="en-US" dirty="0">
                <a:latin typeface="游ゴシック" panose="020B0400000000000000" pitchFamily="50" charset="-128"/>
                <a:ea typeface="游ゴシック" panose="020B0400000000000000" pitchFamily="50" charset="-128"/>
              </a:rPr>
              <a:t>字に配置することで、部品点数を抑えつつ幾何学的に高剛性な構造となるように設計を行った</a:t>
            </a:r>
            <a:r>
              <a:rPr kumimoji="1" lang="en-US" altLang="ja-JP" dirty="0">
                <a:latin typeface="游ゴシック" panose="020B0400000000000000" pitchFamily="50" charset="-128"/>
                <a:ea typeface="游ゴシック" panose="020B0400000000000000" pitchFamily="50" charset="-128"/>
              </a:rPr>
              <a:t>(</a:t>
            </a:r>
            <a:r>
              <a:rPr kumimoji="1" lang="ja-JP" altLang="en-US" dirty="0">
                <a:latin typeface="游ゴシック" panose="020B0400000000000000" pitchFamily="50" charset="-128"/>
                <a:ea typeface="游ゴシック" panose="020B0400000000000000" pitchFamily="50" charset="-128"/>
              </a:rPr>
              <a:t>以下の画像を参照してください</a:t>
            </a:r>
            <a:r>
              <a:rPr kumimoji="1" lang="en-US" altLang="ja-JP" dirty="0">
                <a:latin typeface="游ゴシック" panose="020B0400000000000000" pitchFamily="50" charset="-128"/>
                <a:ea typeface="游ゴシック" panose="020B0400000000000000" pitchFamily="50" charset="-128"/>
              </a:rPr>
              <a:t>)</a:t>
            </a:r>
            <a:r>
              <a:rPr kumimoji="1" lang="ja-JP" altLang="en-US" dirty="0">
                <a:latin typeface="游ゴシック" panose="020B0400000000000000" pitchFamily="50" charset="-128"/>
                <a:ea typeface="游ゴシック" panose="020B0400000000000000" pitchFamily="50" charset="-128"/>
              </a:rPr>
              <a:t>。</a:t>
            </a:r>
          </a:p>
        </p:txBody>
      </p:sp>
      <p:sp>
        <p:nvSpPr>
          <p:cNvPr id="11" name="テキスト ボックス 10">
            <a:extLst>
              <a:ext uri="{FF2B5EF4-FFF2-40B4-BE49-F238E27FC236}">
                <a16:creationId xmlns:a16="http://schemas.microsoft.com/office/drawing/2014/main" id="{7D0A313A-8BD2-854B-1956-F4E657A2829A}"/>
              </a:ext>
            </a:extLst>
          </p:cNvPr>
          <p:cNvSpPr txBox="1"/>
          <p:nvPr/>
        </p:nvSpPr>
        <p:spPr>
          <a:xfrm>
            <a:off x="66037" y="5845003"/>
            <a:ext cx="6096000" cy="923330"/>
          </a:xfrm>
          <a:prstGeom prst="rect">
            <a:avLst/>
          </a:prstGeom>
          <a:noFill/>
          <a:ln>
            <a:solidFill>
              <a:schemeClr val="tx1"/>
            </a:solidFill>
          </a:ln>
        </p:spPr>
        <p:txBody>
          <a:bodyPr wrap="square" rtlCol="0">
            <a:spAutoFit/>
          </a:bodyPr>
          <a:lstStyle/>
          <a:p>
            <a:r>
              <a:rPr kumimoji="1" lang="en-US" altLang="ja-JP" dirty="0"/>
              <a:t>Wind speed 40km/h </a:t>
            </a:r>
          </a:p>
          <a:p>
            <a:r>
              <a:rPr kumimoji="1" lang="en-US" altLang="ja-JP" dirty="0"/>
              <a:t>down force : 159N  drag : 4.9N</a:t>
            </a:r>
            <a:r>
              <a:rPr lang="en-US" altLang="ja-JP" dirty="0"/>
              <a:t> (Span length: 1000 mm)</a:t>
            </a:r>
            <a:endParaRPr kumimoji="1" lang="en-US" altLang="ja-JP" dirty="0"/>
          </a:p>
          <a:p>
            <a:r>
              <a:rPr kumimoji="1" lang="ja-JP" altLang="en-US" dirty="0"/>
              <a:t>＊</a:t>
            </a:r>
            <a:r>
              <a:rPr kumimoji="1" lang="en-US" altLang="ja-JP" dirty="0"/>
              <a:t>the image is inverted vertically for analysis purposes.</a:t>
            </a:r>
            <a:endParaRPr kumimoji="1" lang="ja-JP" altLang="en-US" dirty="0"/>
          </a:p>
        </p:txBody>
      </p:sp>
      <p:pic>
        <p:nvPicPr>
          <p:cNvPr id="5" name="図 4">
            <a:extLst>
              <a:ext uri="{FF2B5EF4-FFF2-40B4-BE49-F238E27FC236}">
                <a16:creationId xmlns:a16="http://schemas.microsoft.com/office/drawing/2014/main" id="{9886293E-EAC3-D3CF-49CC-7AF6FF4F27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0790" y="5293197"/>
            <a:ext cx="2132172" cy="1508813"/>
          </a:xfrm>
          <a:prstGeom prst="rect">
            <a:avLst/>
          </a:prstGeom>
        </p:spPr>
      </p:pic>
      <p:pic>
        <p:nvPicPr>
          <p:cNvPr id="7" name="図 6">
            <a:extLst>
              <a:ext uri="{FF2B5EF4-FFF2-40B4-BE49-F238E27FC236}">
                <a16:creationId xmlns:a16="http://schemas.microsoft.com/office/drawing/2014/main" id="{2CF7DC6F-FFA4-764D-4241-D6B4C00FB4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7216" y="3429000"/>
            <a:ext cx="2293040" cy="1228850"/>
          </a:xfrm>
          <a:prstGeom prst="rect">
            <a:avLst/>
          </a:prstGeom>
        </p:spPr>
      </p:pic>
      <p:sp>
        <p:nvSpPr>
          <p:cNvPr id="17" name="テキスト ボックス 16">
            <a:extLst>
              <a:ext uri="{FF2B5EF4-FFF2-40B4-BE49-F238E27FC236}">
                <a16:creationId xmlns:a16="http://schemas.microsoft.com/office/drawing/2014/main" id="{817DF58C-508D-91DE-6707-5C0BC61456F0}"/>
              </a:ext>
            </a:extLst>
          </p:cNvPr>
          <p:cNvSpPr txBox="1"/>
          <p:nvPr/>
        </p:nvSpPr>
        <p:spPr>
          <a:xfrm>
            <a:off x="2823091" y="5580423"/>
            <a:ext cx="581891" cy="338554"/>
          </a:xfrm>
          <a:prstGeom prst="rect">
            <a:avLst/>
          </a:prstGeom>
          <a:noFill/>
        </p:spPr>
        <p:txBody>
          <a:bodyPr wrap="square" rtlCol="0">
            <a:spAutoFit/>
          </a:bodyPr>
          <a:lstStyle/>
          <a:p>
            <a:r>
              <a:rPr kumimoji="1" lang="ja-JP" altLang="en-US" sz="1600" dirty="0">
                <a:latin typeface="游ゴシック" panose="020B0400000000000000" pitchFamily="50" charset="-128"/>
                <a:ea typeface="游ゴシック" panose="020B0400000000000000" pitchFamily="50" charset="-128"/>
              </a:rPr>
              <a:t>図</a:t>
            </a:r>
            <a:r>
              <a:rPr kumimoji="1" lang="en-US" altLang="ja-JP" sz="1600" dirty="0">
                <a:latin typeface="游ゴシック" panose="020B0400000000000000" pitchFamily="50" charset="-128"/>
                <a:ea typeface="游ゴシック" panose="020B0400000000000000" pitchFamily="50" charset="-128"/>
              </a:rPr>
              <a:t>1</a:t>
            </a:r>
            <a:endParaRPr kumimoji="1" lang="ja-JP" altLang="en-US" sz="1600" dirty="0">
              <a:latin typeface="游ゴシック" panose="020B0400000000000000" pitchFamily="50" charset="-128"/>
              <a:ea typeface="游ゴシック" panose="020B0400000000000000" pitchFamily="50" charset="-128"/>
            </a:endParaRPr>
          </a:p>
        </p:txBody>
      </p:sp>
      <p:sp>
        <p:nvSpPr>
          <p:cNvPr id="18" name="テキスト ボックス 17">
            <a:extLst>
              <a:ext uri="{FF2B5EF4-FFF2-40B4-BE49-F238E27FC236}">
                <a16:creationId xmlns:a16="http://schemas.microsoft.com/office/drawing/2014/main" id="{F1A90C43-7C66-80E2-4414-293CC8680006}"/>
              </a:ext>
            </a:extLst>
          </p:cNvPr>
          <p:cNvSpPr txBox="1"/>
          <p:nvPr/>
        </p:nvSpPr>
        <p:spPr>
          <a:xfrm>
            <a:off x="7004985" y="4657850"/>
            <a:ext cx="581891" cy="338554"/>
          </a:xfrm>
          <a:prstGeom prst="rect">
            <a:avLst/>
          </a:prstGeom>
          <a:noFill/>
        </p:spPr>
        <p:txBody>
          <a:bodyPr wrap="square" rtlCol="0">
            <a:spAutoFit/>
          </a:bodyPr>
          <a:lstStyle/>
          <a:p>
            <a:r>
              <a:rPr kumimoji="1" lang="ja-JP" altLang="en-US" sz="1600" dirty="0">
                <a:latin typeface="游ゴシック" panose="020B0400000000000000" pitchFamily="50" charset="-128"/>
                <a:ea typeface="游ゴシック" panose="020B0400000000000000" pitchFamily="50" charset="-128"/>
              </a:rPr>
              <a:t>図</a:t>
            </a:r>
            <a:r>
              <a:rPr lang="en-US" altLang="ja-JP" sz="1600" dirty="0">
                <a:latin typeface="游ゴシック" panose="020B0400000000000000" pitchFamily="50" charset="-128"/>
                <a:ea typeface="游ゴシック" panose="020B0400000000000000" pitchFamily="50" charset="-128"/>
              </a:rPr>
              <a:t>2</a:t>
            </a:r>
            <a:endParaRPr kumimoji="1" lang="ja-JP" altLang="en-US" sz="1600" dirty="0">
              <a:latin typeface="游ゴシック" panose="020B0400000000000000" pitchFamily="50" charset="-128"/>
              <a:ea typeface="游ゴシック" panose="020B0400000000000000" pitchFamily="50" charset="-128"/>
            </a:endParaRPr>
          </a:p>
        </p:txBody>
      </p:sp>
      <p:pic>
        <p:nvPicPr>
          <p:cNvPr id="20" name="図 19">
            <a:extLst>
              <a:ext uri="{FF2B5EF4-FFF2-40B4-BE49-F238E27FC236}">
                <a16:creationId xmlns:a16="http://schemas.microsoft.com/office/drawing/2014/main" id="{DCB31860-B915-0ED1-BE06-4FA6247E5E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04965" y="5305343"/>
            <a:ext cx="1852794" cy="1484150"/>
          </a:xfrm>
          <a:prstGeom prst="rect">
            <a:avLst/>
          </a:prstGeom>
        </p:spPr>
      </p:pic>
      <p:pic>
        <p:nvPicPr>
          <p:cNvPr id="22" name="図 21">
            <a:extLst>
              <a:ext uri="{FF2B5EF4-FFF2-40B4-BE49-F238E27FC236}">
                <a16:creationId xmlns:a16="http://schemas.microsoft.com/office/drawing/2014/main" id="{9705037E-DBE6-7535-9EB2-B7E1DFE109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86642" y="5259477"/>
            <a:ext cx="1539321" cy="1566810"/>
          </a:xfrm>
          <a:prstGeom prst="rect">
            <a:avLst/>
          </a:prstGeom>
        </p:spPr>
      </p:pic>
      <p:sp>
        <p:nvSpPr>
          <p:cNvPr id="23" name="テキスト ボックス 22">
            <a:extLst>
              <a:ext uri="{FF2B5EF4-FFF2-40B4-BE49-F238E27FC236}">
                <a16:creationId xmlns:a16="http://schemas.microsoft.com/office/drawing/2014/main" id="{4A7505A0-C3D7-B956-DE82-BA2D955F253E}"/>
              </a:ext>
            </a:extLst>
          </p:cNvPr>
          <p:cNvSpPr txBox="1"/>
          <p:nvPr/>
        </p:nvSpPr>
        <p:spPr>
          <a:xfrm>
            <a:off x="9227042" y="5474620"/>
            <a:ext cx="1163951" cy="338554"/>
          </a:xfrm>
          <a:prstGeom prst="rect">
            <a:avLst/>
          </a:prstGeom>
          <a:noFill/>
          <a:ln>
            <a:solidFill>
              <a:schemeClr val="tx1"/>
            </a:solidFill>
          </a:ln>
        </p:spPr>
        <p:txBody>
          <a:bodyPr wrap="square" rtlCol="0">
            <a:spAutoFit/>
          </a:bodyPr>
          <a:lstStyle/>
          <a:p>
            <a:r>
              <a:rPr lang="en-US" altLang="ja-JP" sz="1600" dirty="0">
                <a:latin typeface="游ゴシック" panose="020B0400000000000000" pitchFamily="50" charset="-128"/>
                <a:ea typeface="游ゴシック" panose="020B0400000000000000" pitchFamily="50" charset="-128"/>
              </a:rPr>
              <a:t>Swanneck</a:t>
            </a:r>
            <a:endParaRPr kumimoji="1" lang="ja-JP" altLang="en-US" sz="1600" dirty="0">
              <a:latin typeface="游ゴシック" panose="020B0400000000000000" pitchFamily="50" charset="-128"/>
              <a:ea typeface="游ゴシック" panose="020B0400000000000000" pitchFamily="50" charset="-128"/>
            </a:endParaRPr>
          </a:p>
        </p:txBody>
      </p:sp>
      <p:pic>
        <p:nvPicPr>
          <p:cNvPr id="29" name="図 28">
            <a:extLst>
              <a:ext uri="{FF2B5EF4-FFF2-40B4-BE49-F238E27FC236}">
                <a16:creationId xmlns:a16="http://schemas.microsoft.com/office/drawing/2014/main" id="{58D083FD-9F1B-F23C-33CA-23952AE7138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336" y="2770432"/>
            <a:ext cx="6022149" cy="2873465"/>
          </a:xfrm>
          <a:prstGeom prst="rect">
            <a:avLst/>
          </a:prstGeom>
        </p:spPr>
      </p:pic>
      <p:sp>
        <p:nvSpPr>
          <p:cNvPr id="30" name="テキスト ボックス 29">
            <a:extLst>
              <a:ext uri="{FF2B5EF4-FFF2-40B4-BE49-F238E27FC236}">
                <a16:creationId xmlns:a16="http://schemas.microsoft.com/office/drawing/2014/main" id="{4A99872F-25DA-4907-FF7D-62ED5F9C05FF}"/>
              </a:ext>
            </a:extLst>
          </p:cNvPr>
          <p:cNvSpPr txBox="1"/>
          <p:nvPr/>
        </p:nvSpPr>
        <p:spPr>
          <a:xfrm>
            <a:off x="9809018" y="5876646"/>
            <a:ext cx="581975" cy="338554"/>
          </a:xfrm>
          <a:prstGeom prst="rect">
            <a:avLst/>
          </a:prstGeom>
          <a:noFill/>
          <a:ln>
            <a:solidFill>
              <a:schemeClr val="tx1"/>
            </a:solidFill>
          </a:ln>
        </p:spPr>
        <p:txBody>
          <a:bodyPr wrap="square" rtlCol="0">
            <a:spAutoFit/>
          </a:bodyPr>
          <a:lstStyle/>
          <a:p>
            <a:r>
              <a:rPr kumimoji="1" lang="en-US" altLang="ja-JP" sz="1600" dirty="0">
                <a:latin typeface="游ゴシック" panose="020B0400000000000000" pitchFamily="50" charset="-128"/>
                <a:ea typeface="游ゴシック" panose="020B0400000000000000" pitchFamily="50" charset="-128"/>
              </a:rPr>
              <a:t>stay</a:t>
            </a:r>
            <a:endParaRPr kumimoji="1" lang="ja-JP" altLang="en-US" sz="1600" dirty="0">
              <a:latin typeface="游ゴシック" panose="020B0400000000000000" pitchFamily="50" charset="-128"/>
              <a:ea typeface="游ゴシック" panose="020B0400000000000000" pitchFamily="50" charset="-128"/>
            </a:endParaRPr>
          </a:p>
        </p:txBody>
      </p:sp>
      <p:cxnSp>
        <p:nvCxnSpPr>
          <p:cNvPr id="32" name="直線矢印コネクタ 31">
            <a:extLst>
              <a:ext uri="{FF2B5EF4-FFF2-40B4-BE49-F238E27FC236}">
                <a16:creationId xmlns:a16="http://schemas.microsoft.com/office/drawing/2014/main" id="{435E2DA9-F502-7875-C307-F9D6FF17AAA3}"/>
              </a:ext>
            </a:extLst>
          </p:cNvPr>
          <p:cNvCxnSpPr>
            <a:cxnSpLocks/>
          </p:cNvCxnSpPr>
          <p:nvPr/>
        </p:nvCxnSpPr>
        <p:spPr>
          <a:xfrm flipH="1">
            <a:off x="9759570" y="6215200"/>
            <a:ext cx="170218" cy="2323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直線矢印コネクタ 32">
            <a:extLst>
              <a:ext uri="{FF2B5EF4-FFF2-40B4-BE49-F238E27FC236}">
                <a16:creationId xmlns:a16="http://schemas.microsoft.com/office/drawing/2014/main" id="{90885EAD-119A-87C3-FCAE-15947E5BC21F}"/>
              </a:ext>
            </a:extLst>
          </p:cNvPr>
          <p:cNvCxnSpPr>
            <a:cxnSpLocks/>
            <a:stCxn id="30" idx="3"/>
          </p:cNvCxnSpPr>
          <p:nvPr/>
        </p:nvCxnSpPr>
        <p:spPr>
          <a:xfrm>
            <a:off x="10390993" y="6045923"/>
            <a:ext cx="505607" cy="200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直線矢印コネクタ 45">
            <a:extLst>
              <a:ext uri="{FF2B5EF4-FFF2-40B4-BE49-F238E27FC236}">
                <a16:creationId xmlns:a16="http://schemas.microsoft.com/office/drawing/2014/main" id="{F8E4043F-CA0E-3C1C-E61D-22980499D9A7}"/>
              </a:ext>
            </a:extLst>
          </p:cNvPr>
          <p:cNvCxnSpPr>
            <a:cxnSpLocks/>
            <a:stCxn id="23" idx="1"/>
          </p:cNvCxnSpPr>
          <p:nvPr/>
        </p:nvCxnSpPr>
        <p:spPr>
          <a:xfrm flipH="1" flipV="1">
            <a:off x="9061267" y="5613254"/>
            <a:ext cx="165775" cy="306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4752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C5DAE5-623C-DAE4-9D23-CFD5A39C1BDB}"/>
              </a:ext>
            </a:extLst>
          </p:cNvPr>
          <p:cNvSpPr>
            <a:spLocks noGrp="1"/>
          </p:cNvSpPr>
          <p:nvPr>
            <p:ph type="title"/>
          </p:nvPr>
        </p:nvSpPr>
        <p:spPr>
          <a:xfrm>
            <a:off x="1475995" y="52684"/>
            <a:ext cx="8776369" cy="1231171"/>
          </a:xfrm>
        </p:spPr>
        <p:txBody>
          <a:bodyPr>
            <a:normAutofit/>
          </a:bodyPr>
          <a:lstStyle/>
          <a:p>
            <a:r>
              <a:rPr lang="en-US" altLang="en-US" dirty="0"/>
              <a:t>Aerodynamics</a:t>
            </a:r>
            <a:endParaRPr kumimoji="1" lang="ja-JP" altLang="en-US" dirty="0"/>
          </a:p>
        </p:txBody>
      </p:sp>
      <p:sp>
        <p:nvSpPr>
          <p:cNvPr id="3" name="コンテンツ プレースホルダー 2">
            <a:extLst>
              <a:ext uri="{FF2B5EF4-FFF2-40B4-BE49-F238E27FC236}">
                <a16:creationId xmlns:a16="http://schemas.microsoft.com/office/drawing/2014/main" id="{80A33FD5-ECE2-A990-B080-0C5F5AFF9F1B}"/>
              </a:ext>
            </a:extLst>
          </p:cNvPr>
          <p:cNvSpPr>
            <a:spLocks noGrp="1"/>
          </p:cNvSpPr>
          <p:nvPr>
            <p:ph idx="1"/>
          </p:nvPr>
        </p:nvSpPr>
        <p:spPr>
          <a:xfrm flipV="1">
            <a:off x="11610109" y="6176963"/>
            <a:ext cx="1930400" cy="94528"/>
          </a:xfrm>
        </p:spPr>
        <p:txBody>
          <a:bodyPr>
            <a:normAutofit fontScale="25000" lnSpcReduction="20000"/>
          </a:bodyPr>
          <a:lstStyle/>
          <a:p>
            <a:pPr marL="0" indent="0">
              <a:buNone/>
            </a:pPr>
            <a:r>
              <a:rPr kumimoji="1" lang="en-US" altLang="ja-JP" dirty="0"/>
              <a:t> </a:t>
            </a:r>
            <a:endParaRPr kumimoji="1" lang="ja-JP" altLang="en-US" dirty="0"/>
          </a:p>
        </p:txBody>
      </p:sp>
      <p:sp>
        <p:nvSpPr>
          <p:cNvPr id="5" name="テキスト ボックス 4">
            <a:extLst>
              <a:ext uri="{FF2B5EF4-FFF2-40B4-BE49-F238E27FC236}">
                <a16:creationId xmlns:a16="http://schemas.microsoft.com/office/drawing/2014/main" id="{39C6D23D-5F82-9123-E8C8-8D79BDC8587E}"/>
              </a:ext>
            </a:extLst>
          </p:cNvPr>
          <p:cNvSpPr txBox="1"/>
          <p:nvPr/>
        </p:nvSpPr>
        <p:spPr>
          <a:xfrm>
            <a:off x="665015" y="4085438"/>
            <a:ext cx="5896649" cy="923330"/>
          </a:xfrm>
          <a:prstGeom prst="rect">
            <a:avLst/>
          </a:prstGeom>
          <a:noFill/>
        </p:spPr>
        <p:txBody>
          <a:bodyPr wrap="square" rtlCol="0">
            <a:spAutoFit/>
          </a:bodyPr>
          <a:lstStyle/>
          <a:p>
            <a:r>
              <a:rPr lang="ja-JP" altLang="en-US" dirty="0">
                <a:latin typeface="+mn-ea"/>
              </a:rPr>
              <a:t>内側と外側で枚数の違うウイングを製作する方針に。これにより、レギュレーションに準じたままより多くの</a:t>
            </a:r>
            <a:r>
              <a:rPr lang="en-US" altLang="ja-JP" dirty="0" err="1">
                <a:latin typeface="+mn-ea"/>
              </a:rPr>
              <a:t>Df</a:t>
            </a:r>
            <a:r>
              <a:rPr lang="ja-JP" altLang="en-US" dirty="0">
                <a:latin typeface="+mn-ea"/>
              </a:rPr>
              <a:t>が見込められる。</a:t>
            </a:r>
            <a:endParaRPr lang="en-US" altLang="ja-JP" dirty="0">
              <a:latin typeface="+mn-ea"/>
            </a:endParaRPr>
          </a:p>
        </p:txBody>
      </p:sp>
      <p:sp>
        <p:nvSpPr>
          <p:cNvPr id="14" name="テキスト ボックス 13">
            <a:extLst>
              <a:ext uri="{FF2B5EF4-FFF2-40B4-BE49-F238E27FC236}">
                <a16:creationId xmlns:a16="http://schemas.microsoft.com/office/drawing/2014/main" id="{92B02AC6-314A-50E6-9CD5-BB8D35FE5990}"/>
              </a:ext>
            </a:extLst>
          </p:cNvPr>
          <p:cNvSpPr txBox="1"/>
          <p:nvPr/>
        </p:nvSpPr>
        <p:spPr>
          <a:xfrm>
            <a:off x="665017" y="2836652"/>
            <a:ext cx="5896650" cy="923330"/>
          </a:xfrm>
          <a:prstGeom prst="rect">
            <a:avLst/>
          </a:prstGeom>
          <a:noFill/>
        </p:spPr>
        <p:txBody>
          <a:bodyPr wrap="square">
            <a:spAutoFit/>
          </a:bodyPr>
          <a:lstStyle/>
          <a:p>
            <a:r>
              <a:rPr lang="ja-JP" altLang="en-US" dirty="0">
                <a:latin typeface="+mn-ea"/>
              </a:rPr>
              <a:t>・なるべく</a:t>
            </a:r>
            <a:r>
              <a:rPr lang="en-US" altLang="ja-JP" dirty="0">
                <a:latin typeface="+mn-ea"/>
              </a:rPr>
              <a:t>drag</a:t>
            </a:r>
            <a:r>
              <a:rPr lang="ja-JP" altLang="en-US" dirty="0">
                <a:latin typeface="+mn-ea"/>
              </a:rPr>
              <a:t>を抑えつつ</a:t>
            </a:r>
            <a:r>
              <a:rPr lang="en-US" altLang="ja-JP" dirty="0" err="1">
                <a:latin typeface="+mn-ea"/>
              </a:rPr>
              <a:t>Df</a:t>
            </a:r>
            <a:r>
              <a:rPr lang="ja-JP" altLang="en-US" dirty="0">
                <a:latin typeface="+mn-ea"/>
              </a:rPr>
              <a:t>を増やせるように設計。</a:t>
            </a:r>
            <a:endParaRPr lang="en-US" altLang="ja-JP" dirty="0">
              <a:latin typeface="+mn-ea"/>
            </a:endParaRPr>
          </a:p>
          <a:p>
            <a:r>
              <a:rPr lang="ja-JP" altLang="en-US" dirty="0">
                <a:latin typeface="+mn-ea"/>
              </a:rPr>
              <a:t>・マシンの駆動輪が後輪であることを考慮し、リアの</a:t>
            </a:r>
            <a:r>
              <a:rPr lang="en-US" altLang="ja-JP" dirty="0" err="1">
                <a:latin typeface="+mn-ea"/>
              </a:rPr>
              <a:t>Df</a:t>
            </a:r>
            <a:r>
              <a:rPr lang="ja-JP" altLang="en-US" dirty="0">
                <a:latin typeface="+mn-ea"/>
              </a:rPr>
              <a:t>が多めになるようにリア</a:t>
            </a:r>
            <a:r>
              <a:rPr lang="en-US" altLang="ja-JP" dirty="0">
                <a:latin typeface="+mn-ea"/>
              </a:rPr>
              <a:t>:</a:t>
            </a:r>
            <a:r>
              <a:rPr lang="ja-JP" altLang="en-US" dirty="0">
                <a:latin typeface="+mn-ea"/>
              </a:rPr>
              <a:t>フロント＝</a:t>
            </a:r>
            <a:r>
              <a:rPr lang="en-US" altLang="ja-JP" dirty="0">
                <a:solidFill>
                  <a:srgbClr val="FF0000"/>
                </a:solidFill>
                <a:latin typeface="+mn-ea"/>
              </a:rPr>
              <a:t>4:6</a:t>
            </a:r>
            <a:r>
              <a:rPr lang="ja-JP" altLang="en-US" dirty="0">
                <a:latin typeface="+mn-ea"/>
              </a:rPr>
              <a:t>を目安とした。</a:t>
            </a:r>
            <a:endParaRPr lang="en-US" altLang="ja-JP" dirty="0">
              <a:latin typeface="+mn-ea"/>
            </a:endParaRPr>
          </a:p>
        </p:txBody>
      </p:sp>
      <p:sp>
        <p:nvSpPr>
          <p:cNvPr id="16" name="テキスト ボックス 15">
            <a:extLst>
              <a:ext uri="{FF2B5EF4-FFF2-40B4-BE49-F238E27FC236}">
                <a16:creationId xmlns:a16="http://schemas.microsoft.com/office/drawing/2014/main" id="{2EE1B4A7-A985-6682-45D2-FC1B400DA39C}"/>
              </a:ext>
            </a:extLst>
          </p:cNvPr>
          <p:cNvSpPr txBox="1"/>
          <p:nvPr/>
        </p:nvSpPr>
        <p:spPr>
          <a:xfrm>
            <a:off x="665016" y="1913322"/>
            <a:ext cx="5896649" cy="923330"/>
          </a:xfrm>
          <a:prstGeom prst="rect">
            <a:avLst/>
          </a:prstGeom>
          <a:noFill/>
        </p:spPr>
        <p:txBody>
          <a:bodyPr wrap="square">
            <a:spAutoFit/>
          </a:bodyPr>
          <a:lstStyle/>
          <a:p>
            <a:r>
              <a:rPr kumimoji="1" lang="en-US" altLang="ja-JP" dirty="0">
                <a:latin typeface="+mn-ea"/>
              </a:rPr>
              <a:t>〈</a:t>
            </a:r>
            <a:r>
              <a:rPr kumimoji="1" lang="ja-JP" altLang="en-US" dirty="0">
                <a:latin typeface="+mn-ea"/>
              </a:rPr>
              <a:t>目標値</a:t>
            </a:r>
            <a:r>
              <a:rPr kumimoji="1" lang="en-US" altLang="ja-JP" dirty="0">
                <a:latin typeface="+mn-ea"/>
              </a:rPr>
              <a:t>〉</a:t>
            </a:r>
          </a:p>
          <a:p>
            <a:r>
              <a:rPr kumimoji="1" lang="ja-JP" altLang="en-US" dirty="0">
                <a:latin typeface="+mn-ea"/>
              </a:rPr>
              <a:t>スパン長</a:t>
            </a:r>
            <a:r>
              <a:rPr kumimoji="1" lang="en-US" altLang="ja-JP" dirty="0">
                <a:latin typeface="+mn-ea"/>
              </a:rPr>
              <a:t>1m</a:t>
            </a:r>
            <a:r>
              <a:rPr lang="ja-JP" altLang="en-US" dirty="0">
                <a:latin typeface="+mn-ea"/>
              </a:rPr>
              <a:t>、</a:t>
            </a:r>
            <a:r>
              <a:rPr kumimoji="1" lang="ja-JP" altLang="en-US" dirty="0">
                <a:latin typeface="+mn-ea"/>
              </a:rPr>
              <a:t>風速</a:t>
            </a:r>
            <a:r>
              <a:rPr kumimoji="1" lang="en-US" altLang="ja-JP" dirty="0">
                <a:latin typeface="+mn-ea"/>
              </a:rPr>
              <a:t>11m/s (= 39.6km/s) </a:t>
            </a:r>
            <a:r>
              <a:rPr kumimoji="1" lang="ja-JP" altLang="en-US" dirty="0">
                <a:latin typeface="+mn-ea"/>
              </a:rPr>
              <a:t>の条件で</a:t>
            </a:r>
            <a:endParaRPr kumimoji="1" lang="en-US" altLang="ja-JP" dirty="0">
              <a:latin typeface="+mn-ea"/>
            </a:endParaRPr>
          </a:p>
          <a:p>
            <a:r>
              <a:rPr lang="en-US" altLang="ja-JP" dirty="0" err="1">
                <a:latin typeface="+mn-ea"/>
              </a:rPr>
              <a:t>Df</a:t>
            </a:r>
            <a:r>
              <a:rPr lang="ja-JP" altLang="en-US" dirty="0">
                <a:latin typeface="+mn-ea"/>
              </a:rPr>
              <a:t>：</a:t>
            </a:r>
            <a:r>
              <a:rPr lang="en-US" altLang="ja-JP" dirty="0">
                <a:solidFill>
                  <a:srgbClr val="FF0000"/>
                </a:solidFill>
                <a:latin typeface="+mn-ea"/>
              </a:rPr>
              <a:t>130</a:t>
            </a:r>
            <a:r>
              <a:rPr lang="en-US" altLang="ja-JP" dirty="0">
                <a:latin typeface="+mn-ea"/>
              </a:rPr>
              <a:t>N</a:t>
            </a:r>
            <a:r>
              <a:rPr lang="ja-JP" altLang="en-US" dirty="0">
                <a:latin typeface="+mn-ea"/>
              </a:rPr>
              <a:t>以上</a:t>
            </a:r>
            <a:endParaRPr lang="en-US" altLang="ja-JP" dirty="0">
              <a:latin typeface="+mn-ea"/>
            </a:endParaRPr>
          </a:p>
        </p:txBody>
      </p:sp>
      <p:sp>
        <p:nvSpPr>
          <p:cNvPr id="17" name="正方形/長方形 16">
            <a:extLst>
              <a:ext uri="{FF2B5EF4-FFF2-40B4-BE49-F238E27FC236}">
                <a16:creationId xmlns:a16="http://schemas.microsoft.com/office/drawing/2014/main" id="{0AB6427F-9C15-5174-82AF-762894916853}"/>
              </a:ext>
            </a:extLst>
          </p:cNvPr>
          <p:cNvSpPr/>
          <p:nvPr/>
        </p:nvSpPr>
        <p:spPr>
          <a:xfrm>
            <a:off x="580979" y="1826326"/>
            <a:ext cx="5980688" cy="2074446"/>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C81638B0-BD1B-8054-5CFA-C8413074DA91}"/>
              </a:ext>
            </a:extLst>
          </p:cNvPr>
          <p:cNvSpPr/>
          <p:nvPr/>
        </p:nvSpPr>
        <p:spPr>
          <a:xfrm>
            <a:off x="581891" y="4003976"/>
            <a:ext cx="6047509" cy="2267515"/>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5" name="図 34" descr="オレンジ, 座る, 水, 探す が含まれている画像&#10;&#10;AI 生成コンテンツは誤りを含む可能性があります。">
            <a:extLst>
              <a:ext uri="{FF2B5EF4-FFF2-40B4-BE49-F238E27FC236}">
                <a16:creationId xmlns:a16="http://schemas.microsoft.com/office/drawing/2014/main" id="{9CA7A7FC-E7FE-73E4-CA5F-9E1A34064A9C}"/>
              </a:ext>
            </a:extLst>
          </p:cNvPr>
          <p:cNvPicPr>
            <a:picLocks noChangeAspect="1"/>
          </p:cNvPicPr>
          <p:nvPr/>
        </p:nvPicPr>
        <p:blipFill>
          <a:blip r:embed="rId2"/>
          <a:stretch>
            <a:fillRect/>
          </a:stretch>
        </p:blipFill>
        <p:spPr>
          <a:xfrm>
            <a:off x="6942183" y="4637441"/>
            <a:ext cx="2627699" cy="1345829"/>
          </a:xfrm>
          <a:prstGeom prst="rect">
            <a:avLst/>
          </a:prstGeom>
        </p:spPr>
      </p:pic>
      <p:sp>
        <p:nvSpPr>
          <p:cNvPr id="4" name="テキスト ボックス 3">
            <a:extLst>
              <a:ext uri="{FF2B5EF4-FFF2-40B4-BE49-F238E27FC236}">
                <a16:creationId xmlns:a16="http://schemas.microsoft.com/office/drawing/2014/main" id="{B6E47A9C-A1D8-156B-4B36-801C0FC69E33}"/>
              </a:ext>
            </a:extLst>
          </p:cNvPr>
          <p:cNvSpPr txBox="1"/>
          <p:nvPr/>
        </p:nvSpPr>
        <p:spPr>
          <a:xfrm>
            <a:off x="460332" y="1353790"/>
            <a:ext cx="2031325" cy="369332"/>
          </a:xfrm>
          <a:prstGeom prst="rect">
            <a:avLst/>
          </a:prstGeom>
          <a:noFill/>
        </p:spPr>
        <p:txBody>
          <a:bodyPr wrap="none" rtlCol="0">
            <a:spAutoFit/>
          </a:bodyPr>
          <a:lstStyle/>
          <a:p>
            <a:r>
              <a:rPr kumimoji="1" lang="ja-JP" altLang="en-US" b="1" dirty="0"/>
              <a:t>フロントウイング</a:t>
            </a:r>
          </a:p>
        </p:txBody>
      </p:sp>
      <p:pic>
        <p:nvPicPr>
          <p:cNvPr id="6" name="図 5">
            <a:extLst>
              <a:ext uri="{FF2B5EF4-FFF2-40B4-BE49-F238E27FC236}">
                <a16:creationId xmlns:a16="http://schemas.microsoft.com/office/drawing/2014/main" id="{CD3B9992-F071-6F60-F437-958EAD9CD61B}"/>
              </a:ext>
            </a:extLst>
          </p:cNvPr>
          <p:cNvPicPr>
            <a:picLocks noChangeAspect="1"/>
          </p:cNvPicPr>
          <p:nvPr/>
        </p:nvPicPr>
        <p:blipFill>
          <a:blip r:embed="rId3"/>
          <a:stretch>
            <a:fillRect/>
          </a:stretch>
        </p:blipFill>
        <p:spPr>
          <a:xfrm>
            <a:off x="665016" y="5002537"/>
            <a:ext cx="2349148" cy="1181261"/>
          </a:xfrm>
          <a:prstGeom prst="rect">
            <a:avLst/>
          </a:prstGeom>
        </p:spPr>
      </p:pic>
      <p:sp>
        <p:nvSpPr>
          <p:cNvPr id="7" name="テキスト ボックス 6">
            <a:extLst>
              <a:ext uri="{FF2B5EF4-FFF2-40B4-BE49-F238E27FC236}">
                <a16:creationId xmlns:a16="http://schemas.microsoft.com/office/drawing/2014/main" id="{5366F5A7-9BAC-7EB2-41B5-4B6F03FC8828}"/>
              </a:ext>
            </a:extLst>
          </p:cNvPr>
          <p:cNvSpPr txBox="1"/>
          <p:nvPr/>
        </p:nvSpPr>
        <p:spPr>
          <a:xfrm>
            <a:off x="3097289" y="5002538"/>
            <a:ext cx="3337378" cy="1200329"/>
          </a:xfrm>
          <a:prstGeom prst="rect">
            <a:avLst/>
          </a:prstGeom>
          <a:noFill/>
        </p:spPr>
        <p:txBody>
          <a:bodyPr wrap="square" rtlCol="0">
            <a:spAutoFit/>
          </a:bodyPr>
          <a:lstStyle/>
          <a:p>
            <a:r>
              <a:rPr kumimoji="1" lang="ja-JP" altLang="en-US" dirty="0"/>
              <a:t>←イメージ</a:t>
            </a:r>
            <a:r>
              <a:rPr lang="ja-JP" altLang="en-US" dirty="0"/>
              <a:t>図。規定があるのはタイヤ前のウイングであるので、それより内側を一枚増やすことが可能である。</a:t>
            </a:r>
            <a:endParaRPr kumimoji="1" lang="ja-JP" altLang="en-US" dirty="0"/>
          </a:p>
        </p:txBody>
      </p:sp>
      <p:sp>
        <p:nvSpPr>
          <p:cNvPr id="8" name="正方形/長方形 7">
            <a:extLst>
              <a:ext uri="{FF2B5EF4-FFF2-40B4-BE49-F238E27FC236}">
                <a16:creationId xmlns:a16="http://schemas.microsoft.com/office/drawing/2014/main" id="{EEA72E97-E055-0AFB-448C-17495EB1FE96}"/>
              </a:ext>
            </a:extLst>
          </p:cNvPr>
          <p:cNvSpPr/>
          <p:nvPr/>
        </p:nvSpPr>
        <p:spPr>
          <a:xfrm>
            <a:off x="6763186" y="1826325"/>
            <a:ext cx="5274736" cy="4445165"/>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155AF70-0615-C30E-CB99-E58A7DAB969D}"/>
              </a:ext>
            </a:extLst>
          </p:cNvPr>
          <p:cNvSpPr txBox="1"/>
          <p:nvPr/>
        </p:nvSpPr>
        <p:spPr>
          <a:xfrm>
            <a:off x="6839381" y="1940219"/>
            <a:ext cx="5274736" cy="2585323"/>
          </a:xfrm>
          <a:prstGeom prst="rect">
            <a:avLst/>
          </a:prstGeom>
          <a:noFill/>
        </p:spPr>
        <p:txBody>
          <a:bodyPr wrap="square" rtlCol="0">
            <a:spAutoFit/>
          </a:bodyPr>
          <a:lstStyle/>
          <a:p>
            <a:r>
              <a:rPr kumimoji="1" lang="ja-JP" altLang="en-US" dirty="0"/>
              <a:t>解析については、</a:t>
            </a:r>
            <a:r>
              <a:rPr lang="en-US" altLang="ja-JP" dirty="0">
                <a:latin typeface="游ゴシック" panose="020B0400000000000000" pitchFamily="50" charset="-128"/>
              </a:rPr>
              <a:t>Ansys</a:t>
            </a:r>
            <a:r>
              <a:rPr lang="ja-JP" altLang="en-US" dirty="0">
                <a:latin typeface="游ゴシック" panose="020B0400000000000000" pitchFamily="50" charset="-128"/>
              </a:rPr>
              <a:t>による</a:t>
            </a:r>
            <a:r>
              <a:rPr lang="en-US" altLang="ja-JP" dirty="0">
                <a:latin typeface="游ゴシック" panose="020B0400000000000000" pitchFamily="50" charset="-128"/>
              </a:rPr>
              <a:t>2D</a:t>
            </a:r>
            <a:r>
              <a:rPr lang="ja-JP" altLang="en-US" dirty="0">
                <a:latin typeface="游ゴシック" panose="020B0400000000000000" pitchFamily="50" charset="-128"/>
              </a:rPr>
              <a:t>、</a:t>
            </a:r>
            <a:r>
              <a:rPr lang="en-US" altLang="ja-JP" dirty="0">
                <a:latin typeface="游ゴシック" panose="020B0400000000000000" pitchFamily="50" charset="-128"/>
              </a:rPr>
              <a:t>3D</a:t>
            </a:r>
            <a:r>
              <a:rPr lang="ja-JP" altLang="en-US" dirty="0">
                <a:latin typeface="游ゴシック" panose="020B0400000000000000" pitchFamily="50" charset="-128"/>
              </a:rPr>
              <a:t>解析を行い、</a:t>
            </a:r>
            <a:r>
              <a:rPr lang="ja-JP" altLang="en-US" dirty="0">
                <a:latin typeface="+mn-ea"/>
              </a:rPr>
              <a:t>スパン長</a:t>
            </a:r>
            <a:r>
              <a:rPr lang="en-US" altLang="ja-JP" dirty="0">
                <a:latin typeface="+mn-ea"/>
              </a:rPr>
              <a:t>1m</a:t>
            </a:r>
            <a:r>
              <a:rPr lang="ja-JP" altLang="en-US" dirty="0">
                <a:latin typeface="+mn-ea"/>
              </a:rPr>
              <a:t>、風速</a:t>
            </a:r>
            <a:r>
              <a:rPr lang="en-US" altLang="ja-JP" dirty="0">
                <a:latin typeface="+mn-ea"/>
              </a:rPr>
              <a:t>11m/s</a:t>
            </a:r>
            <a:r>
              <a:rPr lang="ja-JP" altLang="en-US" dirty="0">
                <a:latin typeface="+mn-ea"/>
              </a:rPr>
              <a:t>の条件で</a:t>
            </a:r>
            <a:r>
              <a:rPr lang="en-US" altLang="ja-JP" dirty="0" err="1">
                <a:latin typeface="+mn-ea"/>
              </a:rPr>
              <a:t>Df</a:t>
            </a:r>
            <a:r>
              <a:rPr lang="ja-JP" altLang="en-US" dirty="0">
                <a:latin typeface="+mn-ea"/>
              </a:rPr>
              <a:t>、</a:t>
            </a:r>
            <a:r>
              <a:rPr lang="en-US" altLang="ja-JP" dirty="0">
                <a:latin typeface="+mn-ea"/>
              </a:rPr>
              <a:t>drag</a:t>
            </a:r>
            <a:r>
              <a:rPr lang="ja-JP" altLang="en-US" dirty="0">
                <a:latin typeface="+mn-ea"/>
              </a:rPr>
              <a:t>値</a:t>
            </a:r>
            <a:r>
              <a:rPr lang="ja-JP" altLang="en-US" dirty="0">
                <a:latin typeface="游ゴシック" panose="020B0400000000000000" pitchFamily="50" charset="-128"/>
              </a:rPr>
              <a:t>を測定した。この値を基にして、</a:t>
            </a:r>
            <a:r>
              <a:rPr lang="en-US" altLang="ja-JP" dirty="0" err="1">
                <a:latin typeface="游ゴシック" panose="020B0400000000000000" pitchFamily="50" charset="-128"/>
              </a:rPr>
              <a:t>Df</a:t>
            </a:r>
            <a:r>
              <a:rPr lang="ja-JP" altLang="en-US" dirty="0">
                <a:latin typeface="游ゴシック" panose="020B0400000000000000" pitchFamily="50" charset="-128"/>
              </a:rPr>
              <a:t>値が目標値の</a:t>
            </a:r>
            <a:r>
              <a:rPr lang="en-US" altLang="ja-JP" dirty="0">
                <a:latin typeface="游ゴシック" panose="020B0400000000000000" pitchFamily="50" charset="-128"/>
              </a:rPr>
              <a:t>130N</a:t>
            </a:r>
            <a:r>
              <a:rPr lang="ja-JP" altLang="en-US" dirty="0">
                <a:latin typeface="游ゴシック" panose="020B0400000000000000" pitchFamily="50" charset="-128"/>
              </a:rPr>
              <a:t>になるように、かつ</a:t>
            </a:r>
            <a:r>
              <a:rPr lang="en-US" altLang="ja-JP" dirty="0">
                <a:latin typeface="游ゴシック" panose="020B0400000000000000" pitchFamily="50" charset="-128"/>
              </a:rPr>
              <a:t>drag</a:t>
            </a:r>
            <a:r>
              <a:rPr lang="ja-JP" altLang="en-US" dirty="0">
                <a:latin typeface="游ゴシック" panose="020B0400000000000000" pitchFamily="50" charset="-128"/>
              </a:rPr>
              <a:t>値が出来るだけ小さくなることを目指し、何度も解析を繰り返しながらウイングの位置を決定していった。</a:t>
            </a:r>
            <a:endParaRPr lang="en-US" altLang="ja-JP" dirty="0">
              <a:latin typeface="游ゴシック" panose="020B0400000000000000" pitchFamily="50" charset="-128"/>
            </a:endParaRPr>
          </a:p>
          <a:p>
            <a:r>
              <a:rPr lang="ja-JP" altLang="en-US" dirty="0">
                <a:latin typeface="游ゴシック" panose="020B0400000000000000" pitchFamily="50" charset="-128"/>
              </a:rPr>
              <a:t>また、</a:t>
            </a:r>
            <a:r>
              <a:rPr lang="en-US" altLang="ja-JP" dirty="0">
                <a:latin typeface="游ゴシック" panose="020B0400000000000000" pitchFamily="50" charset="-128"/>
              </a:rPr>
              <a:t>3D</a:t>
            </a:r>
            <a:r>
              <a:rPr lang="ja-JP" altLang="en-US" dirty="0">
                <a:latin typeface="游ゴシック" panose="020B0400000000000000" pitchFamily="50" charset="-128"/>
              </a:rPr>
              <a:t>解析に関しては、</a:t>
            </a:r>
            <a:r>
              <a:rPr lang="en-US" altLang="ja-JP" dirty="0">
                <a:latin typeface="游ゴシック" panose="020B0400000000000000" pitchFamily="50" charset="-128"/>
              </a:rPr>
              <a:t>Ansys</a:t>
            </a:r>
            <a:r>
              <a:rPr lang="ja-JP" altLang="en-US" dirty="0">
                <a:latin typeface="游ゴシック" panose="020B0400000000000000" pitchFamily="50" charset="-128"/>
              </a:rPr>
              <a:t>とは別に</a:t>
            </a:r>
            <a:r>
              <a:rPr lang="en-US" altLang="ja-JP" dirty="0">
                <a:latin typeface="游ゴシック" panose="020B0400000000000000" pitchFamily="50" charset="-128"/>
              </a:rPr>
              <a:t>SolidWorks</a:t>
            </a:r>
            <a:r>
              <a:rPr lang="ja-JP" altLang="en-US" dirty="0">
                <a:latin typeface="游ゴシック" panose="020B0400000000000000" pitchFamily="50" charset="-128"/>
              </a:rPr>
              <a:t>の</a:t>
            </a:r>
            <a:r>
              <a:rPr lang="en-US" altLang="ja-JP" dirty="0" err="1">
                <a:latin typeface="游ゴシック" panose="020B0400000000000000" pitchFamily="50" charset="-128"/>
              </a:rPr>
              <a:t>FlowSimulation</a:t>
            </a:r>
            <a:r>
              <a:rPr lang="ja-JP" altLang="en-US" dirty="0">
                <a:latin typeface="游ゴシック" panose="020B0400000000000000" pitchFamily="50" charset="-128"/>
              </a:rPr>
              <a:t>機能を用いて、ウイング周りの風の流れ方も観測した。</a:t>
            </a:r>
            <a:endParaRPr lang="en-US" altLang="ja-JP" dirty="0">
              <a:latin typeface="游ゴシック" panose="020B0400000000000000" pitchFamily="50" charset="-128"/>
            </a:endParaRPr>
          </a:p>
        </p:txBody>
      </p:sp>
      <p:pic>
        <p:nvPicPr>
          <p:cNvPr id="11" name="図 10">
            <a:extLst>
              <a:ext uri="{FF2B5EF4-FFF2-40B4-BE49-F238E27FC236}">
                <a16:creationId xmlns:a16="http://schemas.microsoft.com/office/drawing/2014/main" id="{638E3102-6F65-76D6-D6A8-8FC6253D2A1C}"/>
              </a:ext>
            </a:extLst>
          </p:cNvPr>
          <p:cNvPicPr>
            <a:picLocks noChangeAspect="1"/>
          </p:cNvPicPr>
          <p:nvPr/>
        </p:nvPicPr>
        <p:blipFill>
          <a:blip r:embed="rId4"/>
          <a:stretch>
            <a:fillRect/>
          </a:stretch>
        </p:blipFill>
        <p:spPr>
          <a:xfrm>
            <a:off x="10016142" y="4637441"/>
            <a:ext cx="1848716" cy="1347824"/>
          </a:xfrm>
          <a:prstGeom prst="rect">
            <a:avLst/>
          </a:prstGeom>
        </p:spPr>
      </p:pic>
    </p:spTree>
    <p:extLst>
      <p:ext uri="{BB962C8B-B14F-4D97-AF65-F5344CB8AC3E}">
        <p14:creationId xmlns:p14="http://schemas.microsoft.com/office/powerpoint/2010/main" val="2415084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9B50E1-7D57-6818-6C13-811466E876CA}"/>
              </a:ext>
            </a:extLst>
          </p:cNvPr>
          <p:cNvSpPr>
            <a:spLocks noGrp="1"/>
          </p:cNvSpPr>
          <p:nvPr>
            <p:ph type="title"/>
          </p:nvPr>
        </p:nvSpPr>
        <p:spPr/>
        <p:txBody>
          <a:bodyPr/>
          <a:lstStyle/>
          <a:p>
            <a:r>
              <a:rPr lang="en-US" altLang="en-US" dirty="0"/>
              <a:t>Aerodynamics</a:t>
            </a:r>
            <a:endParaRPr kumimoji="1" lang="ja-JP" altLang="en-US" dirty="0"/>
          </a:p>
        </p:txBody>
      </p:sp>
      <p:pic>
        <p:nvPicPr>
          <p:cNvPr id="4" name="図 3" descr="グラフ が含まれている画像&#10;&#10;AI 生成コンテンツは誤りを含む可能性があります。">
            <a:extLst>
              <a:ext uri="{FF2B5EF4-FFF2-40B4-BE49-F238E27FC236}">
                <a16:creationId xmlns:a16="http://schemas.microsoft.com/office/drawing/2014/main" id="{B3B8B282-603C-F0C0-A42A-848DAAAAC7DF}"/>
              </a:ext>
            </a:extLst>
          </p:cNvPr>
          <p:cNvPicPr>
            <a:picLocks noChangeAspect="1"/>
          </p:cNvPicPr>
          <p:nvPr/>
        </p:nvPicPr>
        <p:blipFill>
          <a:blip r:embed="rId2"/>
          <a:stretch>
            <a:fillRect/>
          </a:stretch>
        </p:blipFill>
        <p:spPr>
          <a:xfrm>
            <a:off x="7303182" y="1256391"/>
            <a:ext cx="4853482" cy="1693594"/>
          </a:xfrm>
          <a:prstGeom prst="rect">
            <a:avLst/>
          </a:prstGeom>
        </p:spPr>
      </p:pic>
      <p:pic>
        <p:nvPicPr>
          <p:cNvPr id="5" name="図 4" descr="ダイアグラム&#10;&#10;AI 生成コンテンツは誤りを含む可能性があります。">
            <a:extLst>
              <a:ext uri="{FF2B5EF4-FFF2-40B4-BE49-F238E27FC236}">
                <a16:creationId xmlns:a16="http://schemas.microsoft.com/office/drawing/2014/main" id="{4B57628F-E63E-F1B2-BC9F-33FD29F259A6}"/>
              </a:ext>
            </a:extLst>
          </p:cNvPr>
          <p:cNvPicPr>
            <a:picLocks noChangeAspect="1"/>
          </p:cNvPicPr>
          <p:nvPr/>
        </p:nvPicPr>
        <p:blipFill>
          <a:blip r:embed="rId3"/>
          <a:stretch>
            <a:fillRect/>
          </a:stretch>
        </p:blipFill>
        <p:spPr>
          <a:xfrm>
            <a:off x="3277967" y="1278233"/>
            <a:ext cx="3970738" cy="1712773"/>
          </a:xfrm>
          <a:prstGeom prst="rect">
            <a:avLst/>
          </a:prstGeom>
        </p:spPr>
      </p:pic>
      <p:pic>
        <p:nvPicPr>
          <p:cNvPr id="6" name="図 5">
            <a:extLst>
              <a:ext uri="{FF2B5EF4-FFF2-40B4-BE49-F238E27FC236}">
                <a16:creationId xmlns:a16="http://schemas.microsoft.com/office/drawing/2014/main" id="{D44A3AA0-9D3B-E1FE-B99C-4ED329A2CCE5}"/>
              </a:ext>
            </a:extLst>
          </p:cNvPr>
          <p:cNvPicPr>
            <a:picLocks noChangeAspect="1"/>
          </p:cNvPicPr>
          <p:nvPr/>
        </p:nvPicPr>
        <p:blipFill>
          <a:blip r:embed="rId4"/>
          <a:stretch>
            <a:fillRect/>
          </a:stretch>
        </p:blipFill>
        <p:spPr>
          <a:xfrm>
            <a:off x="0" y="1256391"/>
            <a:ext cx="3223491" cy="2172609"/>
          </a:xfrm>
          <a:prstGeom prst="rect">
            <a:avLst/>
          </a:prstGeom>
        </p:spPr>
      </p:pic>
      <p:sp>
        <p:nvSpPr>
          <p:cNvPr id="7" name="正方形/長方形 6">
            <a:extLst>
              <a:ext uri="{FF2B5EF4-FFF2-40B4-BE49-F238E27FC236}">
                <a16:creationId xmlns:a16="http://schemas.microsoft.com/office/drawing/2014/main" id="{65A640BC-A2B0-8CAE-10A4-884CE673CA89}"/>
              </a:ext>
            </a:extLst>
          </p:cNvPr>
          <p:cNvSpPr/>
          <p:nvPr/>
        </p:nvSpPr>
        <p:spPr>
          <a:xfrm>
            <a:off x="146859" y="3850469"/>
            <a:ext cx="6880565" cy="1769163"/>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3338839D-BBF6-F0C8-262F-E65D1C916AC8}"/>
              </a:ext>
            </a:extLst>
          </p:cNvPr>
          <p:cNvSpPr txBox="1"/>
          <p:nvPr/>
        </p:nvSpPr>
        <p:spPr>
          <a:xfrm>
            <a:off x="3856241" y="3032177"/>
            <a:ext cx="2911374" cy="369332"/>
          </a:xfrm>
          <a:prstGeom prst="rect">
            <a:avLst/>
          </a:prstGeom>
          <a:noFill/>
        </p:spPr>
        <p:txBody>
          <a:bodyPr wrap="none" rtlCol="0">
            <a:spAutoFit/>
          </a:bodyPr>
          <a:lstStyle/>
          <a:p>
            <a:r>
              <a:rPr lang="en-US" altLang="ja-JP" dirty="0" err="1">
                <a:ea typeface="ＭＳ Ｐゴシック" panose="020B0600070205080204" pitchFamily="50" charset="-128"/>
              </a:rPr>
              <a:t>Df</a:t>
            </a:r>
            <a:r>
              <a:rPr lang="ja-JP" altLang="en-US" dirty="0">
                <a:ea typeface="ＭＳ Ｐゴシック" panose="020B0600070205080204" pitchFamily="50" charset="-128"/>
              </a:rPr>
              <a:t>：</a:t>
            </a:r>
            <a:r>
              <a:rPr lang="en-US" altLang="ja-JP" dirty="0">
                <a:ea typeface="ＭＳ Ｐゴシック" panose="020B0600070205080204" pitchFamily="50" charset="-128"/>
              </a:rPr>
              <a:t>129.08N</a:t>
            </a:r>
            <a:r>
              <a:rPr lang="ja-JP" altLang="en-US" dirty="0">
                <a:ea typeface="ＭＳ Ｐゴシック" panose="020B0600070205080204" pitchFamily="50" charset="-128"/>
              </a:rPr>
              <a:t>　</a:t>
            </a:r>
            <a:r>
              <a:rPr lang="en-US" altLang="ja-JP" dirty="0">
                <a:ea typeface="ＭＳ Ｐゴシック" panose="020B0600070205080204" pitchFamily="50" charset="-128"/>
              </a:rPr>
              <a:t>drag</a:t>
            </a:r>
            <a:r>
              <a:rPr lang="ja-JP" altLang="en-US" dirty="0">
                <a:ea typeface="ＭＳ Ｐゴシック" panose="020B0600070205080204" pitchFamily="50" charset="-128"/>
              </a:rPr>
              <a:t>：</a:t>
            </a:r>
            <a:r>
              <a:rPr lang="en-US" altLang="ja-JP" dirty="0">
                <a:ea typeface="ＭＳ Ｐゴシック" panose="020B0600070205080204" pitchFamily="50" charset="-128"/>
              </a:rPr>
              <a:t>23.00N</a:t>
            </a:r>
          </a:p>
        </p:txBody>
      </p:sp>
      <p:sp>
        <p:nvSpPr>
          <p:cNvPr id="9" name="正方形/長方形 8">
            <a:extLst>
              <a:ext uri="{FF2B5EF4-FFF2-40B4-BE49-F238E27FC236}">
                <a16:creationId xmlns:a16="http://schemas.microsoft.com/office/drawing/2014/main" id="{362F6F15-6037-A47E-DB2C-28F2B95A5804}"/>
              </a:ext>
            </a:extLst>
          </p:cNvPr>
          <p:cNvSpPr/>
          <p:nvPr/>
        </p:nvSpPr>
        <p:spPr>
          <a:xfrm>
            <a:off x="3302463" y="1278232"/>
            <a:ext cx="3946242" cy="21507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0" name="正方形/長方形 9">
            <a:extLst>
              <a:ext uri="{FF2B5EF4-FFF2-40B4-BE49-F238E27FC236}">
                <a16:creationId xmlns:a16="http://schemas.microsoft.com/office/drawing/2014/main" id="{68B5AC51-8571-81BD-2701-10D8C2C8EA6F}"/>
              </a:ext>
            </a:extLst>
          </p:cNvPr>
          <p:cNvSpPr/>
          <p:nvPr/>
        </p:nvSpPr>
        <p:spPr>
          <a:xfrm>
            <a:off x="7303182" y="1278233"/>
            <a:ext cx="4853482" cy="2150766"/>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0C62BC3-D2AF-B7EE-4AF4-09A60D14D50E}"/>
              </a:ext>
            </a:extLst>
          </p:cNvPr>
          <p:cNvSpPr txBox="1"/>
          <p:nvPr/>
        </p:nvSpPr>
        <p:spPr>
          <a:xfrm>
            <a:off x="8416903" y="3004826"/>
            <a:ext cx="2911374" cy="369332"/>
          </a:xfrm>
          <a:prstGeom prst="rect">
            <a:avLst/>
          </a:prstGeom>
          <a:noFill/>
        </p:spPr>
        <p:txBody>
          <a:bodyPr wrap="none" rtlCol="0">
            <a:spAutoFit/>
          </a:bodyPr>
          <a:lstStyle/>
          <a:p>
            <a:r>
              <a:rPr lang="en-US" altLang="ja-JP" dirty="0" err="1">
                <a:ea typeface="ＭＳ Ｐゴシック" panose="020B0600070205080204" pitchFamily="50" charset="-128"/>
              </a:rPr>
              <a:t>Df</a:t>
            </a:r>
            <a:r>
              <a:rPr lang="ja-JP" altLang="en-US" dirty="0">
                <a:ea typeface="ＭＳ Ｐゴシック" panose="020B0600070205080204" pitchFamily="50" charset="-128"/>
              </a:rPr>
              <a:t>：</a:t>
            </a:r>
            <a:r>
              <a:rPr lang="en-US" altLang="ja-JP" dirty="0">
                <a:ea typeface="ＭＳ Ｐゴシック" panose="020B0600070205080204" pitchFamily="50" charset="-128"/>
              </a:rPr>
              <a:t>110.76N</a:t>
            </a:r>
            <a:r>
              <a:rPr lang="ja-JP" altLang="en-US" dirty="0">
                <a:ea typeface="ＭＳ Ｐゴシック" panose="020B0600070205080204" pitchFamily="50" charset="-128"/>
              </a:rPr>
              <a:t>　</a:t>
            </a:r>
            <a:r>
              <a:rPr lang="en-US" altLang="ja-JP" dirty="0">
                <a:ea typeface="ＭＳ Ｐゴシック" panose="020B0600070205080204" pitchFamily="50" charset="-128"/>
              </a:rPr>
              <a:t>drag</a:t>
            </a:r>
            <a:r>
              <a:rPr lang="ja-JP" altLang="en-US" dirty="0">
                <a:ea typeface="ＭＳ Ｐゴシック" panose="020B0600070205080204" pitchFamily="50" charset="-128"/>
              </a:rPr>
              <a:t>：</a:t>
            </a:r>
            <a:r>
              <a:rPr lang="en-US" altLang="ja-JP" dirty="0">
                <a:ea typeface="ＭＳ Ｐゴシック" panose="020B0600070205080204" pitchFamily="50" charset="-128"/>
              </a:rPr>
              <a:t>20.83N</a:t>
            </a:r>
          </a:p>
        </p:txBody>
      </p:sp>
      <p:sp>
        <p:nvSpPr>
          <p:cNvPr id="12" name="テキスト ボックス 11">
            <a:extLst>
              <a:ext uri="{FF2B5EF4-FFF2-40B4-BE49-F238E27FC236}">
                <a16:creationId xmlns:a16="http://schemas.microsoft.com/office/drawing/2014/main" id="{8FB95F38-09CC-42EC-742E-5E13A842E8AA}"/>
              </a:ext>
            </a:extLst>
          </p:cNvPr>
          <p:cNvSpPr txBox="1"/>
          <p:nvPr/>
        </p:nvSpPr>
        <p:spPr>
          <a:xfrm>
            <a:off x="3321315" y="3021629"/>
            <a:ext cx="415498" cy="369332"/>
          </a:xfrm>
          <a:prstGeom prst="rect">
            <a:avLst/>
          </a:prstGeom>
          <a:noFill/>
        </p:spPr>
        <p:txBody>
          <a:bodyPr wrap="none" rtlCol="0">
            <a:spAutoFit/>
          </a:bodyPr>
          <a:lstStyle/>
          <a:p>
            <a:r>
              <a:rPr kumimoji="1" lang="ja-JP" altLang="en-US" dirty="0">
                <a:solidFill>
                  <a:srgbClr val="FF0000"/>
                </a:solidFill>
              </a:rPr>
              <a:t>➀</a:t>
            </a:r>
          </a:p>
        </p:txBody>
      </p:sp>
      <p:sp>
        <p:nvSpPr>
          <p:cNvPr id="13" name="テキスト ボックス 12">
            <a:extLst>
              <a:ext uri="{FF2B5EF4-FFF2-40B4-BE49-F238E27FC236}">
                <a16:creationId xmlns:a16="http://schemas.microsoft.com/office/drawing/2014/main" id="{A51E3AB1-1E98-4976-F875-AA71ED079D10}"/>
              </a:ext>
            </a:extLst>
          </p:cNvPr>
          <p:cNvSpPr txBox="1"/>
          <p:nvPr/>
        </p:nvSpPr>
        <p:spPr>
          <a:xfrm>
            <a:off x="148391" y="2958740"/>
            <a:ext cx="415498" cy="369332"/>
          </a:xfrm>
          <a:prstGeom prst="rect">
            <a:avLst/>
          </a:prstGeom>
          <a:noFill/>
        </p:spPr>
        <p:txBody>
          <a:bodyPr wrap="none" rtlCol="0">
            <a:spAutoFit/>
          </a:bodyPr>
          <a:lstStyle/>
          <a:p>
            <a:r>
              <a:rPr kumimoji="1" lang="ja-JP" altLang="en-US" dirty="0">
                <a:solidFill>
                  <a:srgbClr val="00B0F0"/>
                </a:solidFill>
              </a:rPr>
              <a:t>②</a:t>
            </a:r>
          </a:p>
        </p:txBody>
      </p:sp>
      <p:sp>
        <p:nvSpPr>
          <p:cNvPr id="14" name="テキスト ボックス 13">
            <a:extLst>
              <a:ext uri="{FF2B5EF4-FFF2-40B4-BE49-F238E27FC236}">
                <a16:creationId xmlns:a16="http://schemas.microsoft.com/office/drawing/2014/main" id="{4C798F5B-D901-923B-C0E2-D2C18C1D9160}"/>
              </a:ext>
            </a:extLst>
          </p:cNvPr>
          <p:cNvSpPr txBox="1"/>
          <p:nvPr/>
        </p:nvSpPr>
        <p:spPr>
          <a:xfrm>
            <a:off x="7324475" y="2997841"/>
            <a:ext cx="415498" cy="369332"/>
          </a:xfrm>
          <a:prstGeom prst="rect">
            <a:avLst/>
          </a:prstGeom>
          <a:noFill/>
        </p:spPr>
        <p:txBody>
          <a:bodyPr wrap="none" rtlCol="0">
            <a:spAutoFit/>
          </a:bodyPr>
          <a:lstStyle/>
          <a:p>
            <a:r>
              <a:rPr kumimoji="1" lang="ja-JP" altLang="en-US" dirty="0">
                <a:solidFill>
                  <a:srgbClr val="00B0F0"/>
                </a:solidFill>
              </a:rPr>
              <a:t>②</a:t>
            </a:r>
          </a:p>
        </p:txBody>
      </p:sp>
      <p:sp>
        <p:nvSpPr>
          <p:cNvPr id="15" name="テキスト ボックス 14">
            <a:extLst>
              <a:ext uri="{FF2B5EF4-FFF2-40B4-BE49-F238E27FC236}">
                <a16:creationId xmlns:a16="http://schemas.microsoft.com/office/drawing/2014/main" id="{5230D695-BECF-1CFF-D7E4-82DAA86779A8}"/>
              </a:ext>
            </a:extLst>
          </p:cNvPr>
          <p:cNvSpPr txBox="1"/>
          <p:nvPr/>
        </p:nvSpPr>
        <p:spPr>
          <a:xfrm>
            <a:off x="2071173" y="1278232"/>
            <a:ext cx="415498" cy="369332"/>
          </a:xfrm>
          <a:prstGeom prst="rect">
            <a:avLst/>
          </a:prstGeom>
          <a:noFill/>
        </p:spPr>
        <p:txBody>
          <a:bodyPr wrap="none" rtlCol="0">
            <a:spAutoFit/>
          </a:bodyPr>
          <a:lstStyle/>
          <a:p>
            <a:r>
              <a:rPr kumimoji="1" lang="ja-JP" altLang="en-US" dirty="0">
                <a:solidFill>
                  <a:srgbClr val="FF0000"/>
                </a:solidFill>
              </a:rPr>
              <a:t>➀</a:t>
            </a:r>
          </a:p>
        </p:txBody>
      </p:sp>
      <p:cxnSp>
        <p:nvCxnSpPr>
          <p:cNvPr id="20" name="直線矢印コネクタ 19">
            <a:extLst>
              <a:ext uri="{FF2B5EF4-FFF2-40B4-BE49-F238E27FC236}">
                <a16:creationId xmlns:a16="http://schemas.microsoft.com/office/drawing/2014/main" id="{CA6E0B5E-B4BB-37E5-DFDD-2D7CDE12E768}"/>
              </a:ext>
            </a:extLst>
          </p:cNvPr>
          <p:cNvCxnSpPr>
            <a:cxnSpLocks/>
          </p:cNvCxnSpPr>
          <p:nvPr/>
        </p:nvCxnSpPr>
        <p:spPr>
          <a:xfrm flipH="1">
            <a:off x="1288620" y="1587500"/>
            <a:ext cx="828739" cy="3926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直線矢印コネクタ 21">
            <a:extLst>
              <a:ext uri="{FF2B5EF4-FFF2-40B4-BE49-F238E27FC236}">
                <a16:creationId xmlns:a16="http://schemas.microsoft.com/office/drawing/2014/main" id="{A81DBD49-A3DF-8DA5-B9F9-6B6C20E820FF}"/>
              </a:ext>
            </a:extLst>
          </p:cNvPr>
          <p:cNvCxnSpPr>
            <a:cxnSpLocks/>
            <a:stCxn id="15" idx="2"/>
          </p:cNvCxnSpPr>
          <p:nvPr/>
        </p:nvCxnSpPr>
        <p:spPr>
          <a:xfrm>
            <a:off x="2278922" y="1647564"/>
            <a:ext cx="46186" cy="56113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直線矢印コネクタ 22">
            <a:extLst>
              <a:ext uri="{FF2B5EF4-FFF2-40B4-BE49-F238E27FC236}">
                <a16:creationId xmlns:a16="http://schemas.microsoft.com/office/drawing/2014/main" id="{2B9FF193-13EA-D5CF-3523-B91807A4212A}"/>
              </a:ext>
            </a:extLst>
          </p:cNvPr>
          <p:cNvCxnSpPr>
            <a:cxnSpLocks/>
            <a:stCxn id="13" idx="0"/>
          </p:cNvCxnSpPr>
          <p:nvPr/>
        </p:nvCxnSpPr>
        <p:spPr>
          <a:xfrm flipV="1">
            <a:off x="356140" y="2504305"/>
            <a:ext cx="232245" cy="454435"/>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直線矢印コネクタ 23">
            <a:extLst>
              <a:ext uri="{FF2B5EF4-FFF2-40B4-BE49-F238E27FC236}">
                <a16:creationId xmlns:a16="http://schemas.microsoft.com/office/drawing/2014/main" id="{EADF36D8-B75E-3639-DF8F-03D13E6A7049}"/>
              </a:ext>
            </a:extLst>
          </p:cNvPr>
          <p:cNvCxnSpPr>
            <a:cxnSpLocks/>
            <a:stCxn id="13" idx="3"/>
          </p:cNvCxnSpPr>
          <p:nvPr/>
        </p:nvCxnSpPr>
        <p:spPr>
          <a:xfrm flipV="1">
            <a:off x="563889" y="3021629"/>
            <a:ext cx="1811011" cy="121777"/>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7539702D-175A-01C3-53CB-B81F98844158}"/>
              </a:ext>
            </a:extLst>
          </p:cNvPr>
          <p:cNvSpPr txBox="1"/>
          <p:nvPr/>
        </p:nvSpPr>
        <p:spPr>
          <a:xfrm>
            <a:off x="220761" y="3866500"/>
            <a:ext cx="6738927" cy="2031325"/>
          </a:xfrm>
          <a:prstGeom prst="rect">
            <a:avLst/>
          </a:prstGeom>
          <a:noFill/>
        </p:spPr>
        <p:txBody>
          <a:bodyPr wrap="square" rtlCol="0">
            <a:spAutoFit/>
          </a:bodyPr>
          <a:lstStyle/>
          <a:p>
            <a:r>
              <a:rPr lang="ja-JP" altLang="en-US" dirty="0">
                <a:latin typeface="+mn-ea"/>
              </a:rPr>
              <a:t>・基本的に翼型は低レイノルズ数で大きなダウンフォースを出せる </a:t>
            </a:r>
            <a:r>
              <a:rPr lang="en-US" altLang="ja-JP" dirty="0">
                <a:latin typeface="+mn-ea"/>
              </a:rPr>
              <a:t>s1223 </a:t>
            </a:r>
            <a:r>
              <a:rPr lang="ja-JP" altLang="en-US" dirty="0">
                <a:latin typeface="+mn-ea"/>
              </a:rPr>
              <a:t>を採用している。しかし、地面との接触を避けるため地上高を</a:t>
            </a:r>
            <a:r>
              <a:rPr lang="en-US" altLang="ja-JP" dirty="0">
                <a:latin typeface="+mn-ea"/>
              </a:rPr>
              <a:t>80mm</a:t>
            </a:r>
            <a:r>
              <a:rPr lang="ja-JP" altLang="en-US" dirty="0">
                <a:latin typeface="+mn-ea"/>
              </a:rPr>
              <a:t>で設定した結果、地面効果を十分に得られないと判断。そこで、タイヤ前（➀）、内側のウイング（②）ともに１枚目のみを </a:t>
            </a:r>
            <a:r>
              <a:rPr lang="en-US" altLang="ja-JP" dirty="0">
                <a:latin typeface="+mn-ea"/>
              </a:rPr>
              <a:t>e423 </a:t>
            </a:r>
            <a:r>
              <a:rPr lang="ja-JP" altLang="en-US" dirty="0">
                <a:latin typeface="+mn-ea"/>
              </a:rPr>
              <a:t>に変更 </a:t>
            </a:r>
            <a:r>
              <a:rPr lang="en-US" altLang="ja-JP" dirty="0">
                <a:latin typeface="+mn-ea"/>
              </a:rPr>
              <a:t>(</a:t>
            </a:r>
            <a:r>
              <a:rPr lang="ja-JP" altLang="en-US" dirty="0">
                <a:latin typeface="+mn-ea"/>
              </a:rPr>
              <a:t>地面効果に特化していないが、</a:t>
            </a:r>
            <a:r>
              <a:rPr lang="en-US" altLang="ja-JP" dirty="0">
                <a:latin typeface="+mn-ea"/>
              </a:rPr>
              <a:t>drag</a:t>
            </a:r>
            <a:r>
              <a:rPr lang="ja-JP" altLang="en-US" dirty="0">
                <a:latin typeface="+mn-ea"/>
              </a:rPr>
              <a:t>の増加を防げる等、一般的な空力性能に優れる）した。</a:t>
            </a:r>
            <a:endParaRPr lang="en-US" altLang="ja-JP" dirty="0">
              <a:latin typeface="+mn-ea"/>
            </a:endParaRPr>
          </a:p>
          <a:p>
            <a:endParaRPr lang="en-US" altLang="ja-JP" dirty="0">
              <a:latin typeface="ＭＳ Ｐゴシック" panose="020B0600070205080204" pitchFamily="50" charset="-128"/>
              <a:ea typeface="ＭＳ Ｐゴシック" panose="020B0600070205080204" pitchFamily="50" charset="-128"/>
            </a:endParaRPr>
          </a:p>
        </p:txBody>
      </p:sp>
      <p:pic>
        <p:nvPicPr>
          <p:cNvPr id="36" name="図 35">
            <a:extLst>
              <a:ext uri="{FF2B5EF4-FFF2-40B4-BE49-F238E27FC236}">
                <a16:creationId xmlns:a16="http://schemas.microsoft.com/office/drawing/2014/main" id="{EBBE8BC7-84A3-6B1D-EA53-EDC1729464C1}"/>
              </a:ext>
            </a:extLst>
          </p:cNvPr>
          <p:cNvPicPr>
            <a:picLocks noChangeAspect="1"/>
          </p:cNvPicPr>
          <p:nvPr/>
        </p:nvPicPr>
        <p:blipFill>
          <a:blip r:embed="rId5"/>
          <a:stretch>
            <a:fillRect/>
          </a:stretch>
        </p:blipFill>
        <p:spPr>
          <a:xfrm>
            <a:off x="7186746" y="3852507"/>
            <a:ext cx="4833379" cy="817323"/>
          </a:xfrm>
          <a:prstGeom prst="rect">
            <a:avLst/>
          </a:prstGeom>
        </p:spPr>
      </p:pic>
      <p:sp>
        <p:nvSpPr>
          <p:cNvPr id="37" name="テキスト ボックス 36">
            <a:extLst>
              <a:ext uri="{FF2B5EF4-FFF2-40B4-BE49-F238E27FC236}">
                <a16:creationId xmlns:a16="http://schemas.microsoft.com/office/drawing/2014/main" id="{B3C0C495-CD41-9462-B78B-FF96ADA0A3BB}"/>
              </a:ext>
            </a:extLst>
          </p:cNvPr>
          <p:cNvSpPr txBox="1"/>
          <p:nvPr/>
        </p:nvSpPr>
        <p:spPr>
          <a:xfrm>
            <a:off x="1431119" y="3453587"/>
            <a:ext cx="543739" cy="369332"/>
          </a:xfrm>
          <a:prstGeom prst="rect">
            <a:avLst/>
          </a:prstGeom>
          <a:noFill/>
        </p:spPr>
        <p:txBody>
          <a:bodyPr wrap="none" rtlCol="0">
            <a:spAutoFit/>
          </a:bodyPr>
          <a:lstStyle/>
          <a:p>
            <a:r>
              <a:rPr kumimoji="1" lang="ja-JP" altLang="en-US" dirty="0"/>
              <a:t>図</a:t>
            </a:r>
            <a:r>
              <a:rPr kumimoji="1" lang="en-US" altLang="ja-JP" dirty="0"/>
              <a:t>1</a:t>
            </a:r>
            <a:endParaRPr kumimoji="1" lang="ja-JP" altLang="en-US" dirty="0"/>
          </a:p>
        </p:txBody>
      </p:sp>
      <p:sp>
        <p:nvSpPr>
          <p:cNvPr id="38" name="テキスト ボックス 37">
            <a:extLst>
              <a:ext uri="{FF2B5EF4-FFF2-40B4-BE49-F238E27FC236}">
                <a16:creationId xmlns:a16="http://schemas.microsoft.com/office/drawing/2014/main" id="{844BFE19-A61B-1547-7BFE-C999C386CE78}"/>
              </a:ext>
            </a:extLst>
          </p:cNvPr>
          <p:cNvSpPr txBox="1"/>
          <p:nvPr/>
        </p:nvSpPr>
        <p:spPr>
          <a:xfrm>
            <a:off x="4991466" y="3465517"/>
            <a:ext cx="543739" cy="369332"/>
          </a:xfrm>
          <a:prstGeom prst="rect">
            <a:avLst/>
          </a:prstGeom>
          <a:noFill/>
        </p:spPr>
        <p:txBody>
          <a:bodyPr wrap="none" rtlCol="0">
            <a:spAutoFit/>
          </a:bodyPr>
          <a:lstStyle/>
          <a:p>
            <a:r>
              <a:rPr kumimoji="1" lang="ja-JP" altLang="en-US" dirty="0"/>
              <a:t>図</a:t>
            </a:r>
            <a:r>
              <a:rPr lang="en-US" altLang="ja-JP" dirty="0"/>
              <a:t>2</a:t>
            </a:r>
            <a:endParaRPr kumimoji="1" lang="ja-JP" altLang="en-US" dirty="0"/>
          </a:p>
        </p:txBody>
      </p:sp>
      <p:sp>
        <p:nvSpPr>
          <p:cNvPr id="39" name="テキスト ボックス 38">
            <a:extLst>
              <a:ext uri="{FF2B5EF4-FFF2-40B4-BE49-F238E27FC236}">
                <a16:creationId xmlns:a16="http://schemas.microsoft.com/office/drawing/2014/main" id="{58726AFF-6C6B-ABCD-02CA-18215E7FAA45}"/>
              </a:ext>
            </a:extLst>
          </p:cNvPr>
          <p:cNvSpPr txBox="1"/>
          <p:nvPr/>
        </p:nvSpPr>
        <p:spPr>
          <a:xfrm>
            <a:off x="9381524" y="3465517"/>
            <a:ext cx="543739" cy="369332"/>
          </a:xfrm>
          <a:prstGeom prst="rect">
            <a:avLst/>
          </a:prstGeom>
          <a:noFill/>
        </p:spPr>
        <p:txBody>
          <a:bodyPr wrap="none" rtlCol="0">
            <a:spAutoFit/>
          </a:bodyPr>
          <a:lstStyle/>
          <a:p>
            <a:r>
              <a:rPr kumimoji="1" lang="ja-JP" altLang="en-US" dirty="0"/>
              <a:t>図</a:t>
            </a:r>
            <a:r>
              <a:rPr lang="en-US" altLang="ja-JP" dirty="0"/>
              <a:t>3</a:t>
            </a:r>
            <a:endParaRPr kumimoji="1" lang="ja-JP" altLang="en-US" dirty="0"/>
          </a:p>
        </p:txBody>
      </p:sp>
      <p:sp>
        <p:nvSpPr>
          <p:cNvPr id="41" name="テキスト ボックス 40">
            <a:extLst>
              <a:ext uri="{FF2B5EF4-FFF2-40B4-BE49-F238E27FC236}">
                <a16:creationId xmlns:a16="http://schemas.microsoft.com/office/drawing/2014/main" id="{E34430A4-E583-E83D-DBDB-CC1FB963997E}"/>
              </a:ext>
            </a:extLst>
          </p:cNvPr>
          <p:cNvSpPr txBox="1"/>
          <p:nvPr/>
        </p:nvSpPr>
        <p:spPr>
          <a:xfrm>
            <a:off x="7186746" y="4811891"/>
            <a:ext cx="4853481" cy="646331"/>
          </a:xfrm>
          <a:prstGeom prst="rect">
            <a:avLst/>
          </a:prstGeom>
          <a:noFill/>
        </p:spPr>
        <p:txBody>
          <a:bodyPr wrap="square" rtlCol="0">
            <a:spAutoFit/>
          </a:bodyPr>
          <a:lstStyle/>
          <a:p>
            <a:r>
              <a:rPr lang="ja-JP" altLang="en-US" dirty="0">
                <a:latin typeface="+mn-ea"/>
              </a:rPr>
              <a:t>・解析による</a:t>
            </a:r>
            <a:r>
              <a:rPr lang="en-US" altLang="ja-JP" dirty="0" err="1">
                <a:latin typeface="+mn-ea"/>
              </a:rPr>
              <a:t>Df</a:t>
            </a:r>
            <a:r>
              <a:rPr lang="ja-JP" altLang="en-US" dirty="0">
                <a:latin typeface="+mn-ea"/>
              </a:rPr>
              <a:t>、</a:t>
            </a:r>
            <a:r>
              <a:rPr lang="en-US" altLang="ja-JP" dirty="0">
                <a:latin typeface="+mn-ea"/>
              </a:rPr>
              <a:t>drag</a:t>
            </a:r>
            <a:r>
              <a:rPr lang="ja-JP" altLang="en-US" dirty="0">
                <a:latin typeface="+mn-ea"/>
              </a:rPr>
              <a:t>値を参考にそれぞれ位置を調整。最終的な位置を上の表に示す。</a:t>
            </a:r>
            <a:endParaRPr lang="en-US" altLang="ja-JP" dirty="0">
              <a:latin typeface="+mn-ea"/>
            </a:endParaRPr>
          </a:p>
        </p:txBody>
      </p:sp>
      <p:sp>
        <p:nvSpPr>
          <p:cNvPr id="42" name="正方形/長方形 41">
            <a:extLst>
              <a:ext uri="{FF2B5EF4-FFF2-40B4-BE49-F238E27FC236}">
                <a16:creationId xmlns:a16="http://schemas.microsoft.com/office/drawing/2014/main" id="{23D38572-F6A3-7614-41F7-A3D0F4EB3687}"/>
              </a:ext>
            </a:extLst>
          </p:cNvPr>
          <p:cNvSpPr/>
          <p:nvPr/>
        </p:nvSpPr>
        <p:spPr>
          <a:xfrm>
            <a:off x="7186746" y="3845463"/>
            <a:ext cx="4853482" cy="1769163"/>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CC19EB9D-865A-5204-A5C0-A7D102F5CC14}"/>
              </a:ext>
            </a:extLst>
          </p:cNvPr>
          <p:cNvSpPr/>
          <p:nvPr/>
        </p:nvSpPr>
        <p:spPr>
          <a:xfrm>
            <a:off x="7186746" y="3845463"/>
            <a:ext cx="4853482" cy="824367"/>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CAC740D2-5B8A-D587-ECBF-C1EFBD9F7391}"/>
              </a:ext>
            </a:extLst>
          </p:cNvPr>
          <p:cNvSpPr txBox="1"/>
          <p:nvPr/>
        </p:nvSpPr>
        <p:spPr>
          <a:xfrm>
            <a:off x="158784" y="5657671"/>
            <a:ext cx="6880565" cy="1200329"/>
          </a:xfrm>
          <a:prstGeom prst="rect">
            <a:avLst/>
          </a:prstGeom>
          <a:noFill/>
        </p:spPr>
        <p:txBody>
          <a:bodyPr wrap="square" rtlCol="0">
            <a:spAutoFit/>
          </a:bodyPr>
          <a:lstStyle/>
          <a:p>
            <a:r>
              <a:rPr lang="ja-JP" altLang="en-US" dirty="0">
                <a:latin typeface="+mn-ea"/>
              </a:rPr>
              <a:t>・図１にも示している通り、内部にリブを立てることによって強度を確保。また、衝突時にウイングが</a:t>
            </a:r>
            <a:r>
              <a:rPr lang="en-US" altLang="ja-JP" dirty="0">
                <a:latin typeface="+mn-ea"/>
              </a:rPr>
              <a:t>IA</a:t>
            </a:r>
            <a:r>
              <a:rPr lang="ja-JP" altLang="en-US" dirty="0">
                <a:latin typeface="+mn-ea"/>
              </a:rPr>
              <a:t>やフレームに干渉しないよう、</a:t>
            </a:r>
            <a:r>
              <a:rPr lang="en-US" altLang="ja-JP" dirty="0">
                <a:latin typeface="+mn-ea"/>
              </a:rPr>
              <a:t>FB</a:t>
            </a:r>
            <a:r>
              <a:rPr lang="ja-JP" altLang="en-US" dirty="0">
                <a:latin typeface="+mn-ea"/>
              </a:rPr>
              <a:t>下の部分を平板で構成。</a:t>
            </a:r>
            <a:endParaRPr lang="en-US" altLang="ja-JP" dirty="0">
              <a:latin typeface="+mn-ea"/>
            </a:endParaRPr>
          </a:p>
          <a:p>
            <a:endParaRPr kumimoji="1" lang="ja-JP" altLang="en-US" dirty="0">
              <a:latin typeface="+mn-ea"/>
            </a:endParaRPr>
          </a:p>
        </p:txBody>
      </p:sp>
      <p:sp>
        <p:nvSpPr>
          <p:cNvPr id="46" name="正方形/長方形 45">
            <a:extLst>
              <a:ext uri="{FF2B5EF4-FFF2-40B4-BE49-F238E27FC236}">
                <a16:creationId xmlns:a16="http://schemas.microsoft.com/office/drawing/2014/main" id="{1CF6DA17-4809-AD42-5C29-6D363C6B0DC3}"/>
              </a:ext>
            </a:extLst>
          </p:cNvPr>
          <p:cNvSpPr/>
          <p:nvPr/>
        </p:nvSpPr>
        <p:spPr>
          <a:xfrm>
            <a:off x="146858" y="5720122"/>
            <a:ext cx="6880565" cy="828519"/>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50863B13-9E50-73A4-BD83-5CC11BD98E89}"/>
              </a:ext>
            </a:extLst>
          </p:cNvPr>
          <p:cNvSpPr txBox="1"/>
          <p:nvPr/>
        </p:nvSpPr>
        <p:spPr>
          <a:xfrm>
            <a:off x="7208653" y="5672716"/>
            <a:ext cx="4889480" cy="923330"/>
          </a:xfrm>
          <a:prstGeom prst="rect">
            <a:avLst/>
          </a:prstGeom>
          <a:noFill/>
        </p:spPr>
        <p:txBody>
          <a:bodyPr wrap="none" rtlCol="0">
            <a:spAutoFit/>
          </a:bodyPr>
          <a:lstStyle/>
          <a:p>
            <a:r>
              <a:rPr kumimoji="1" lang="ja-JP" altLang="en-US" dirty="0"/>
              <a:t>最終的に、</a:t>
            </a:r>
            <a:r>
              <a:rPr lang="ja-JP" altLang="en-US" dirty="0">
                <a:latin typeface="+mn-ea"/>
              </a:rPr>
              <a:t>スパン長</a:t>
            </a:r>
            <a:r>
              <a:rPr lang="en-US" altLang="ja-JP" dirty="0">
                <a:latin typeface="+mn-ea"/>
              </a:rPr>
              <a:t>1m</a:t>
            </a:r>
            <a:r>
              <a:rPr lang="ja-JP" altLang="en-US" dirty="0">
                <a:latin typeface="+mn-ea"/>
              </a:rPr>
              <a:t>、風速</a:t>
            </a:r>
            <a:r>
              <a:rPr lang="en-US" altLang="ja-JP" dirty="0">
                <a:latin typeface="+mn-ea"/>
              </a:rPr>
              <a:t>11m/s</a:t>
            </a:r>
            <a:r>
              <a:rPr lang="ja-JP" altLang="en-US" dirty="0">
                <a:latin typeface="+mn-ea"/>
              </a:rPr>
              <a:t>の条件で</a:t>
            </a:r>
            <a:endParaRPr lang="en-US" altLang="ja-JP" dirty="0">
              <a:latin typeface="+mn-ea"/>
            </a:endParaRPr>
          </a:p>
          <a:p>
            <a:r>
              <a:rPr kumimoji="1" lang="en-US" altLang="ja-JP" dirty="0" err="1">
                <a:latin typeface="+mn-ea"/>
              </a:rPr>
              <a:t>Df</a:t>
            </a:r>
            <a:r>
              <a:rPr kumimoji="1" lang="ja-JP" altLang="en-US" dirty="0">
                <a:latin typeface="+mn-ea"/>
              </a:rPr>
              <a:t>：</a:t>
            </a:r>
            <a:r>
              <a:rPr kumimoji="1" lang="en-US" altLang="ja-JP" dirty="0">
                <a:latin typeface="+mn-ea"/>
              </a:rPr>
              <a:t>N</a:t>
            </a:r>
            <a:r>
              <a:rPr kumimoji="1" lang="ja-JP" altLang="en-US" dirty="0">
                <a:latin typeface="+mn-ea"/>
              </a:rPr>
              <a:t>、</a:t>
            </a:r>
            <a:r>
              <a:rPr kumimoji="1" lang="en-US" altLang="ja-JP" dirty="0">
                <a:latin typeface="+mn-ea"/>
              </a:rPr>
              <a:t>drag</a:t>
            </a:r>
            <a:r>
              <a:rPr kumimoji="1" lang="ja-JP" altLang="en-US" dirty="0">
                <a:latin typeface="+mn-ea"/>
              </a:rPr>
              <a:t>：</a:t>
            </a:r>
            <a:r>
              <a:rPr kumimoji="1" lang="en-US" altLang="ja-JP" dirty="0">
                <a:latin typeface="+mn-ea"/>
              </a:rPr>
              <a:t>N</a:t>
            </a:r>
          </a:p>
          <a:p>
            <a:r>
              <a:rPr lang="ja-JP" altLang="en-US" dirty="0">
                <a:latin typeface="+mn-ea"/>
              </a:rPr>
              <a:t>となった。</a:t>
            </a:r>
            <a:endParaRPr kumimoji="1" lang="ja-JP" altLang="en-US" dirty="0"/>
          </a:p>
        </p:txBody>
      </p:sp>
    </p:spTree>
    <p:extLst>
      <p:ext uri="{BB962C8B-B14F-4D97-AF65-F5344CB8AC3E}">
        <p14:creationId xmlns:p14="http://schemas.microsoft.com/office/powerpoint/2010/main" val="885482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4771-DA2B-C7F4-61B8-85A39EEB70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6AB4F6-9DEB-A061-DC0C-6E5A1CBCF9E1}"/>
              </a:ext>
            </a:extLst>
          </p:cNvPr>
          <p:cNvSpPr>
            <a:spLocks noGrp="1"/>
          </p:cNvSpPr>
          <p:nvPr>
            <p:ph type="title"/>
          </p:nvPr>
        </p:nvSpPr>
        <p:spPr/>
        <p:txBody>
          <a:bodyPr/>
          <a:lstStyle/>
          <a:p>
            <a:r>
              <a:rPr lang="en-US" altLang="en-US" dirty="0"/>
              <a:t>Aerodynamics</a:t>
            </a:r>
            <a:endParaRPr kumimoji="1" lang="ja-JP" altLang="en-US" dirty="0"/>
          </a:p>
        </p:txBody>
      </p:sp>
      <p:sp>
        <p:nvSpPr>
          <p:cNvPr id="3" name="コンテンツ プレースホルダー 2">
            <a:extLst>
              <a:ext uri="{FF2B5EF4-FFF2-40B4-BE49-F238E27FC236}">
                <a16:creationId xmlns:a16="http://schemas.microsoft.com/office/drawing/2014/main" id="{7A6A0A1B-418E-A189-F997-ADB052CF429C}"/>
              </a:ext>
            </a:extLst>
          </p:cNvPr>
          <p:cNvSpPr>
            <a:spLocks noGrp="1"/>
          </p:cNvSpPr>
          <p:nvPr>
            <p:ph idx="1"/>
          </p:nvPr>
        </p:nvSpPr>
        <p:spPr>
          <a:xfrm>
            <a:off x="103103" y="1025260"/>
            <a:ext cx="1851059" cy="330293"/>
          </a:xfrm>
        </p:spPr>
        <p:txBody>
          <a:bodyPr>
            <a:noAutofit/>
          </a:bodyPr>
          <a:lstStyle/>
          <a:p>
            <a:r>
              <a:rPr kumimoji="1" lang="ja-JP" altLang="en-US" sz="4000" dirty="0"/>
              <a:t>フロア</a:t>
            </a:r>
          </a:p>
        </p:txBody>
      </p:sp>
      <p:sp>
        <p:nvSpPr>
          <p:cNvPr id="5" name="テキスト ボックス 4">
            <a:extLst>
              <a:ext uri="{FF2B5EF4-FFF2-40B4-BE49-F238E27FC236}">
                <a16:creationId xmlns:a16="http://schemas.microsoft.com/office/drawing/2014/main" id="{29E2B4F5-F554-2D68-A213-016B549E9302}"/>
              </a:ext>
            </a:extLst>
          </p:cNvPr>
          <p:cNvSpPr txBox="1"/>
          <p:nvPr/>
        </p:nvSpPr>
        <p:spPr>
          <a:xfrm>
            <a:off x="4915" y="3917726"/>
            <a:ext cx="3618271" cy="830997"/>
          </a:xfrm>
          <a:prstGeom prst="rect">
            <a:avLst/>
          </a:prstGeom>
          <a:noFill/>
        </p:spPr>
        <p:txBody>
          <a:bodyPr wrap="square" rtlCol="0">
            <a:spAutoFit/>
          </a:bodyPr>
          <a:lstStyle/>
          <a:p>
            <a:r>
              <a:rPr kumimoji="1" lang="ja-JP" altLang="en-US" sz="1600" dirty="0"/>
              <a:t>＜昨年度＞</a:t>
            </a:r>
            <a:endParaRPr kumimoji="1" lang="en-US" altLang="ja-JP" sz="1600" dirty="0"/>
          </a:p>
          <a:p>
            <a:r>
              <a:rPr kumimoji="1" lang="ja-JP" altLang="en-US" sz="1600" dirty="0"/>
              <a:t>目的：ドライバー保護</a:t>
            </a:r>
            <a:endParaRPr kumimoji="1" lang="en-US" altLang="ja-JP" sz="1600" dirty="0"/>
          </a:p>
          <a:p>
            <a:r>
              <a:rPr kumimoji="1" lang="ja-JP" altLang="en-US" sz="1600" dirty="0"/>
              <a:t>素材：</a:t>
            </a:r>
            <a:r>
              <a:rPr lang="ja-JP" altLang="en-US" sz="1600" dirty="0"/>
              <a:t>ガラスマット</a:t>
            </a:r>
            <a:endParaRPr kumimoji="1" lang="en-US" altLang="ja-JP" sz="1600" dirty="0"/>
          </a:p>
        </p:txBody>
      </p:sp>
      <p:sp>
        <p:nvSpPr>
          <p:cNvPr id="6" name="テキスト ボックス 5">
            <a:extLst>
              <a:ext uri="{FF2B5EF4-FFF2-40B4-BE49-F238E27FC236}">
                <a16:creationId xmlns:a16="http://schemas.microsoft.com/office/drawing/2014/main" id="{1A19F3F6-DB65-B2E5-24A0-902F149BA8D3}"/>
              </a:ext>
            </a:extLst>
          </p:cNvPr>
          <p:cNvSpPr txBox="1"/>
          <p:nvPr/>
        </p:nvSpPr>
        <p:spPr>
          <a:xfrm>
            <a:off x="0" y="5370675"/>
            <a:ext cx="3908324" cy="1323439"/>
          </a:xfrm>
          <a:prstGeom prst="rect">
            <a:avLst/>
          </a:prstGeom>
          <a:noFill/>
        </p:spPr>
        <p:txBody>
          <a:bodyPr wrap="square" rtlCol="0">
            <a:spAutoFit/>
          </a:bodyPr>
          <a:lstStyle/>
          <a:p>
            <a:r>
              <a:rPr kumimoji="1" lang="ja-JP" altLang="en-US" sz="1600" dirty="0"/>
              <a:t>＜今年度＞</a:t>
            </a:r>
            <a:endParaRPr kumimoji="1" lang="en-US" altLang="ja-JP" sz="1600" dirty="0"/>
          </a:p>
          <a:p>
            <a:r>
              <a:rPr kumimoji="1" lang="ja-JP" altLang="en-US" sz="1600" dirty="0"/>
              <a:t>目的</a:t>
            </a:r>
            <a:r>
              <a:rPr kumimoji="1" lang="en-US" altLang="ja-JP" sz="1600" dirty="0"/>
              <a:t>:</a:t>
            </a:r>
            <a:r>
              <a:rPr kumimoji="1" lang="ja-JP" altLang="en-US" sz="1600" dirty="0"/>
              <a:t>①ドライバー保護</a:t>
            </a:r>
            <a:endParaRPr kumimoji="1" lang="en-US" altLang="ja-JP" sz="1600" dirty="0"/>
          </a:p>
          <a:p>
            <a:r>
              <a:rPr kumimoji="1" lang="ja-JP" altLang="en-US" sz="1600" dirty="0"/>
              <a:t>　</a:t>
            </a:r>
            <a:r>
              <a:rPr lang="ja-JP" altLang="en-US" sz="1600" dirty="0"/>
              <a:t>　 </a:t>
            </a:r>
            <a:r>
              <a:rPr kumimoji="1" lang="ja-JP" altLang="en-US" sz="1600" dirty="0"/>
              <a:t>②輪荷重増加</a:t>
            </a:r>
            <a:endParaRPr kumimoji="1" lang="en-US" altLang="ja-JP" sz="1600" dirty="0"/>
          </a:p>
          <a:p>
            <a:r>
              <a:rPr kumimoji="1" lang="en-US" altLang="ja-JP" sz="1600" dirty="0"/>
              <a:t>        </a:t>
            </a:r>
            <a:r>
              <a:rPr kumimoji="1" lang="ja-JP" altLang="en-US" sz="1600" dirty="0"/>
              <a:t>→ディフューザー追加</a:t>
            </a:r>
            <a:endParaRPr kumimoji="1" lang="en-US" altLang="ja-JP" sz="1600" dirty="0"/>
          </a:p>
          <a:p>
            <a:r>
              <a:rPr kumimoji="1" lang="ja-JP" altLang="en-US" sz="1600" dirty="0"/>
              <a:t>素材</a:t>
            </a:r>
            <a:r>
              <a:rPr kumimoji="1" lang="en-US" altLang="ja-JP" sz="1600" dirty="0"/>
              <a:t>:AFRP</a:t>
            </a:r>
          </a:p>
        </p:txBody>
      </p:sp>
      <p:sp>
        <p:nvSpPr>
          <p:cNvPr id="7" name="テキスト ボックス 6">
            <a:extLst>
              <a:ext uri="{FF2B5EF4-FFF2-40B4-BE49-F238E27FC236}">
                <a16:creationId xmlns:a16="http://schemas.microsoft.com/office/drawing/2014/main" id="{17082F90-1A57-76E4-765A-92897ABA0D13}"/>
              </a:ext>
            </a:extLst>
          </p:cNvPr>
          <p:cNvSpPr txBox="1"/>
          <p:nvPr/>
        </p:nvSpPr>
        <p:spPr>
          <a:xfrm>
            <a:off x="98319" y="1695635"/>
            <a:ext cx="7067789" cy="461665"/>
          </a:xfrm>
          <a:prstGeom prst="rect">
            <a:avLst/>
          </a:prstGeom>
          <a:noFill/>
        </p:spPr>
        <p:txBody>
          <a:bodyPr wrap="square" rtlCol="0">
            <a:spAutoFit/>
          </a:bodyPr>
          <a:lstStyle/>
          <a:p>
            <a:r>
              <a:rPr kumimoji="1" lang="ja-JP" altLang="en-US" sz="2400" dirty="0"/>
              <a:t>車両コンセプト「強く、鋭く、確実に」</a:t>
            </a:r>
          </a:p>
        </p:txBody>
      </p:sp>
      <p:cxnSp>
        <p:nvCxnSpPr>
          <p:cNvPr id="8" name="直線コネクタ 7">
            <a:extLst>
              <a:ext uri="{FF2B5EF4-FFF2-40B4-BE49-F238E27FC236}">
                <a16:creationId xmlns:a16="http://schemas.microsoft.com/office/drawing/2014/main" id="{A9935990-0A86-225C-BC7B-EF8178682E7A}"/>
              </a:ext>
            </a:extLst>
          </p:cNvPr>
          <p:cNvCxnSpPr>
            <a:cxnSpLocks/>
          </p:cNvCxnSpPr>
          <p:nvPr/>
        </p:nvCxnSpPr>
        <p:spPr>
          <a:xfrm flipV="1">
            <a:off x="5973095" y="1063165"/>
            <a:ext cx="0" cy="5694823"/>
          </a:xfrm>
          <a:prstGeom prst="line">
            <a:avLst/>
          </a:prstGeom>
          <a:ln w="57150">
            <a:solidFill>
              <a:srgbClr val="00B0F0"/>
            </a:solidFill>
            <a:prstDash val="solid"/>
          </a:ln>
        </p:spPr>
        <p:style>
          <a:lnRef idx="2">
            <a:schemeClr val="accent1"/>
          </a:lnRef>
          <a:fillRef idx="0">
            <a:schemeClr val="accent1"/>
          </a:fillRef>
          <a:effectRef idx="1">
            <a:schemeClr val="accent1"/>
          </a:effectRef>
          <a:fontRef idx="minor">
            <a:schemeClr val="tx1"/>
          </a:fontRef>
        </p:style>
      </p:cxnSp>
      <p:cxnSp>
        <p:nvCxnSpPr>
          <p:cNvPr id="9" name="直線コネクタ 8">
            <a:extLst>
              <a:ext uri="{FF2B5EF4-FFF2-40B4-BE49-F238E27FC236}">
                <a16:creationId xmlns:a16="http://schemas.microsoft.com/office/drawing/2014/main" id="{21CE451D-0F7F-5429-868D-F06BF8489910}"/>
              </a:ext>
            </a:extLst>
          </p:cNvPr>
          <p:cNvCxnSpPr>
            <a:cxnSpLocks/>
          </p:cNvCxnSpPr>
          <p:nvPr/>
        </p:nvCxnSpPr>
        <p:spPr>
          <a:xfrm flipH="1">
            <a:off x="3549444" y="2203947"/>
            <a:ext cx="678425" cy="0"/>
          </a:xfrm>
          <a:prstGeom prst="line">
            <a:avLst/>
          </a:prstGeom>
          <a:ln w="57150">
            <a:solidFill>
              <a:srgbClr val="FF0000"/>
            </a:solidFill>
            <a:prstDash val="solid"/>
          </a:ln>
        </p:spPr>
        <p:style>
          <a:lnRef idx="2">
            <a:schemeClr val="accent1"/>
          </a:lnRef>
          <a:fillRef idx="0">
            <a:schemeClr val="accent1"/>
          </a:fillRef>
          <a:effectRef idx="1">
            <a:schemeClr val="accent1"/>
          </a:effectRef>
          <a:fontRef idx="minor">
            <a:schemeClr val="tx1"/>
          </a:fontRef>
        </p:style>
      </p:cxnSp>
      <p:cxnSp>
        <p:nvCxnSpPr>
          <p:cNvPr id="10" name="直線コネクタ 9">
            <a:extLst>
              <a:ext uri="{FF2B5EF4-FFF2-40B4-BE49-F238E27FC236}">
                <a16:creationId xmlns:a16="http://schemas.microsoft.com/office/drawing/2014/main" id="{AA7EB9FA-A248-61E9-A773-9C4583A00A42}"/>
              </a:ext>
            </a:extLst>
          </p:cNvPr>
          <p:cNvCxnSpPr>
            <a:cxnSpLocks/>
          </p:cNvCxnSpPr>
          <p:nvPr/>
        </p:nvCxnSpPr>
        <p:spPr>
          <a:xfrm flipH="1">
            <a:off x="4350773" y="2203947"/>
            <a:ext cx="1130710" cy="0"/>
          </a:xfrm>
          <a:prstGeom prst="line">
            <a:avLst/>
          </a:prstGeom>
          <a:ln w="57150">
            <a:solidFill>
              <a:srgbClr val="FF0000"/>
            </a:solidFill>
            <a:prstDash val="solid"/>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41068B82-8451-D90F-DE25-6B4E740A2CC0}"/>
              </a:ext>
            </a:extLst>
          </p:cNvPr>
          <p:cNvSpPr txBox="1"/>
          <p:nvPr/>
        </p:nvSpPr>
        <p:spPr>
          <a:xfrm>
            <a:off x="250038" y="2568587"/>
            <a:ext cx="2873442" cy="830997"/>
          </a:xfrm>
          <a:prstGeom prst="rect">
            <a:avLst/>
          </a:prstGeom>
          <a:noFill/>
        </p:spPr>
        <p:txBody>
          <a:bodyPr wrap="square" rtlCol="0">
            <a:spAutoFit/>
          </a:bodyPr>
          <a:lstStyle/>
          <a:p>
            <a:r>
              <a:rPr lang="ja-JP" altLang="en-US" sz="1600" dirty="0"/>
              <a:t>鋭い</a:t>
            </a:r>
            <a:r>
              <a:rPr kumimoji="1" lang="ja-JP" altLang="en-US" sz="1600" dirty="0"/>
              <a:t>コーナリングのために</a:t>
            </a:r>
            <a:endParaRPr kumimoji="1" lang="en-US" altLang="ja-JP" sz="1600" dirty="0"/>
          </a:p>
          <a:p>
            <a:r>
              <a:rPr kumimoji="1" lang="ja-JP" altLang="en-US" sz="1600" dirty="0"/>
              <a:t>・「保護」→「荷重を付加」</a:t>
            </a:r>
            <a:endParaRPr kumimoji="1" lang="en-US" altLang="ja-JP" sz="1600" dirty="0"/>
          </a:p>
          <a:p>
            <a:r>
              <a:rPr kumimoji="1" lang="ja-JP" altLang="en-US" sz="1600" dirty="0"/>
              <a:t>・安定した</a:t>
            </a:r>
            <a:r>
              <a:rPr kumimoji="1" lang="en-US" altLang="ja-JP" sz="1600" dirty="0"/>
              <a:t>DF</a:t>
            </a:r>
            <a:r>
              <a:rPr kumimoji="1" lang="ja-JP" altLang="en-US" sz="1600" dirty="0"/>
              <a:t>を供給</a:t>
            </a:r>
          </a:p>
        </p:txBody>
      </p:sp>
      <p:sp>
        <p:nvSpPr>
          <p:cNvPr id="12" name="テキスト ボックス 11">
            <a:extLst>
              <a:ext uri="{FF2B5EF4-FFF2-40B4-BE49-F238E27FC236}">
                <a16:creationId xmlns:a16="http://schemas.microsoft.com/office/drawing/2014/main" id="{8F6169CB-4E66-5F0D-B49C-E69F26C438C5}"/>
              </a:ext>
            </a:extLst>
          </p:cNvPr>
          <p:cNvSpPr txBox="1"/>
          <p:nvPr/>
        </p:nvSpPr>
        <p:spPr>
          <a:xfrm>
            <a:off x="3123480" y="2578287"/>
            <a:ext cx="2381408" cy="1077218"/>
          </a:xfrm>
          <a:prstGeom prst="rect">
            <a:avLst/>
          </a:prstGeom>
          <a:noFill/>
        </p:spPr>
        <p:txBody>
          <a:bodyPr wrap="square" rtlCol="0">
            <a:spAutoFit/>
          </a:bodyPr>
          <a:lstStyle/>
          <a:p>
            <a:r>
              <a:rPr kumimoji="1" lang="ja-JP" altLang="en-US" sz="1600" dirty="0"/>
              <a:t>確実に動作するように</a:t>
            </a:r>
            <a:endParaRPr kumimoji="1" lang="en-US" altLang="ja-JP" sz="1600" dirty="0"/>
          </a:p>
          <a:p>
            <a:r>
              <a:rPr kumimoji="1" lang="ja-JP" altLang="en-US" sz="1600" dirty="0"/>
              <a:t>・ラジエーターの保護</a:t>
            </a:r>
            <a:br>
              <a:rPr kumimoji="1" lang="en-US" altLang="ja-JP" sz="1600" dirty="0"/>
            </a:br>
            <a:r>
              <a:rPr kumimoji="1" lang="ja-JP" altLang="en-US" sz="1600" dirty="0"/>
              <a:t>・型の選定</a:t>
            </a:r>
            <a:endParaRPr kumimoji="1" lang="en-US" altLang="ja-JP" sz="1600" dirty="0"/>
          </a:p>
          <a:p>
            <a:r>
              <a:rPr kumimoji="1" lang="ja-JP" altLang="en-US" sz="1600" dirty="0"/>
              <a:t>・素材の選定</a:t>
            </a:r>
          </a:p>
        </p:txBody>
      </p:sp>
      <p:sp>
        <p:nvSpPr>
          <p:cNvPr id="13" name="正方形/長方形 12">
            <a:extLst>
              <a:ext uri="{FF2B5EF4-FFF2-40B4-BE49-F238E27FC236}">
                <a16:creationId xmlns:a16="http://schemas.microsoft.com/office/drawing/2014/main" id="{7B52F631-1707-320E-EF04-A8CD82A1381F}"/>
              </a:ext>
            </a:extLst>
          </p:cNvPr>
          <p:cNvSpPr/>
          <p:nvPr/>
        </p:nvSpPr>
        <p:spPr>
          <a:xfrm>
            <a:off x="98321" y="1649220"/>
            <a:ext cx="5644454" cy="2203726"/>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2B7A9F90-6EE3-AAF7-910C-0B8CB2415FA9}"/>
              </a:ext>
            </a:extLst>
          </p:cNvPr>
          <p:cNvSpPr/>
          <p:nvPr/>
        </p:nvSpPr>
        <p:spPr>
          <a:xfrm>
            <a:off x="269887" y="2536075"/>
            <a:ext cx="2713207" cy="117973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C9B9618E-E133-ED5D-C4CA-3BCE87C88B65}"/>
              </a:ext>
            </a:extLst>
          </p:cNvPr>
          <p:cNvSpPr/>
          <p:nvPr/>
        </p:nvSpPr>
        <p:spPr>
          <a:xfrm>
            <a:off x="3069987" y="2536076"/>
            <a:ext cx="2541643" cy="117973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4B656BDF-8C97-C247-37EB-E9B4FA3C65FC}"/>
              </a:ext>
            </a:extLst>
          </p:cNvPr>
          <p:cNvCxnSpPr>
            <a:cxnSpLocks/>
            <a:stCxn id="15" idx="0"/>
          </p:cNvCxnSpPr>
          <p:nvPr/>
        </p:nvCxnSpPr>
        <p:spPr>
          <a:xfrm flipV="1">
            <a:off x="4340809" y="2203947"/>
            <a:ext cx="575319" cy="332129"/>
          </a:xfrm>
          <a:prstGeom prst="line">
            <a:avLst/>
          </a:prstGeom>
          <a:ln w="19050">
            <a:solidFill>
              <a:srgbClr val="FF0000"/>
            </a:solidFill>
            <a:prstDash val="solid"/>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4CB03813-EAF9-0C9A-C1CB-0184B58B43DD}"/>
              </a:ext>
            </a:extLst>
          </p:cNvPr>
          <p:cNvCxnSpPr>
            <a:cxnSpLocks/>
            <a:stCxn id="14" idx="0"/>
          </p:cNvCxnSpPr>
          <p:nvPr/>
        </p:nvCxnSpPr>
        <p:spPr>
          <a:xfrm flipV="1">
            <a:off x="1626491" y="2210902"/>
            <a:ext cx="2262165" cy="325173"/>
          </a:xfrm>
          <a:prstGeom prst="line">
            <a:avLst/>
          </a:prstGeom>
          <a:ln w="19050">
            <a:solidFill>
              <a:srgbClr val="FF0000"/>
            </a:solidFill>
            <a:prstDash val="solid"/>
          </a:ln>
        </p:spPr>
        <p:style>
          <a:lnRef idx="2">
            <a:schemeClr val="accent1"/>
          </a:lnRef>
          <a:fillRef idx="0">
            <a:schemeClr val="accent1"/>
          </a:fillRef>
          <a:effectRef idx="1">
            <a:schemeClr val="accent1"/>
          </a:effectRef>
          <a:fontRef idx="minor">
            <a:schemeClr val="tx1"/>
          </a:fontRef>
        </p:style>
      </p:cxnSp>
      <p:pic>
        <p:nvPicPr>
          <p:cNvPr id="29" name="図 28" descr="白黒の写真に文字の書かれた紙&#10;&#10;低い精度で自動的に生成された説明">
            <a:extLst>
              <a:ext uri="{FF2B5EF4-FFF2-40B4-BE49-F238E27FC236}">
                <a16:creationId xmlns:a16="http://schemas.microsoft.com/office/drawing/2014/main" id="{638E5D47-9268-1142-4DB7-2A79D39CA7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2572" y="3812798"/>
            <a:ext cx="2995310" cy="1193477"/>
          </a:xfrm>
          <a:prstGeom prst="rect">
            <a:avLst/>
          </a:prstGeom>
        </p:spPr>
      </p:pic>
      <p:sp>
        <p:nvSpPr>
          <p:cNvPr id="30" name="テキスト ボックス 29">
            <a:extLst>
              <a:ext uri="{FF2B5EF4-FFF2-40B4-BE49-F238E27FC236}">
                <a16:creationId xmlns:a16="http://schemas.microsoft.com/office/drawing/2014/main" id="{9BCE0872-1F0D-70F7-3AB4-24AD2290A4FE}"/>
              </a:ext>
            </a:extLst>
          </p:cNvPr>
          <p:cNvSpPr txBox="1"/>
          <p:nvPr/>
        </p:nvSpPr>
        <p:spPr>
          <a:xfrm>
            <a:off x="6142792" y="971128"/>
            <a:ext cx="6055201" cy="2554545"/>
          </a:xfrm>
          <a:prstGeom prst="rect">
            <a:avLst/>
          </a:prstGeom>
          <a:noFill/>
        </p:spPr>
        <p:txBody>
          <a:bodyPr wrap="square" rtlCol="0">
            <a:spAutoFit/>
          </a:bodyPr>
          <a:lstStyle/>
          <a:p>
            <a:r>
              <a:rPr kumimoji="1" lang="ja-JP" altLang="en-US" sz="1600" b="1" dirty="0"/>
              <a:t>ディフューザー角選定について</a:t>
            </a:r>
            <a:endParaRPr kumimoji="1" lang="en-US" altLang="ja-JP" sz="1600" b="1" dirty="0"/>
          </a:p>
          <a:p>
            <a:r>
              <a:rPr lang="ja-JP" altLang="en-US" sz="1600" dirty="0"/>
              <a:t>パワートレイン部品の配置による</a:t>
            </a:r>
            <a:r>
              <a:rPr kumimoji="1" lang="ja-JP" altLang="en-US" sz="1600" dirty="0"/>
              <a:t>制限により、ディフューザー角の上限を</a:t>
            </a:r>
            <a:r>
              <a:rPr kumimoji="1" lang="en-US" altLang="ja-JP" sz="1600" dirty="0"/>
              <a:t>15°</a:t>
            </a:r>
            <a:r>
              <a:rPr kumimoji="1" lang="ja-JP" altLang="en-US" sz="1600" dirty="0"/>
              <a:t>とし</a:t>
            </a:r>
            <a:r>
              <a:rPr kumimoji="1" lang="en-US" altLang="ja-JP" sz="1600" dirty="0"/>
              <a:t>5°,10°,15°</a:t>
            </a:r>
            <a:r>
              <a:rPr kumimoji="1" lang="ja-JP" altLang="en-US" sz="1600" dirty="0"/>
              <a:t>でモデルを用意し</a:t>
            </a:r>
            <a:r>
              <a:rPr kumimoji="1" lang="en-US" altLang="ja-JP" sz="1600" dirty="0"/>
              <a:t>3D</a:t>
            </a:r>
            <a:r>
              <a:rPr kumimoji="1" lang="ja-JP" altLang="en-US" sz="1600" dirty="0"/>
              <a:t>解析を行った。それぞれ</a:t>
            </a:r>
            <a:r>
              <a:rPr kumimoji="1" lang="en-US" altLang="ja-JP" sz="1600" dirty="0"/>
              <a:t>10~50mm</a:t>
            </a:r>
            <a:r>
              <a:rPr kumimoji="1" lang="ja-JP" altLang="en-US" sz="1600" dirty="0"/>
              <a:t>の間で</a:t>
            </a:r>
            <a:r>
              <a:rPr kumimoji="1" lang="en-US" altLang="ja-JP" sz="1600" dirty="0"/>
              <a:t>10mm</a:t>
            </a:r>
            <a:r>
              <a:rPr kumimoji="1" lang="ja-JP" altLang="en-US" sz="1600" dirty="0"/>
              <a:t>ずつ地上高を変動させた場合</a:t>
            </a:r>
            <a:r>
              <a:rPr lang="ja-JP" altLang="en-US" sz="1600" dirty="0"/>
              <a:t>のダウンフォースも計測し、車両が上下に移動した場合のダウンフォースの安定性を調べた。</a:t>
            </a:r>
            <a:endParaRPr lang="en-US" altLang="ja-JP" sz="1600" dirty="0"/>
          </a:p>
          <a:p>
            <a:r>
              <a:rPr kumimoji="1" lang="ja-JP" altLang="en-US" sz="1600" dirty="0"/>
              <a:t>結果は下に示す通りである。</a:t>
            </a:r>
            <a:endParaRPr kumimoji="1" lang="en-US" altLang="ja-JP" sz="1600" dirty="0"/>
          </a:p>
          <a:p>
            <a:r>
              <a:rPr lang="ja-JP" altLang="en-US" sz="1600" dirty="0"/>
              <a:t>最終的に最大</a:t>
            </a:r>
            <a:r>
              <a:rPr lang="en-US" altLang="ja-JP" sz="1600" dirty="0"/>
              <a:t>DF</a:t>
            </a:r>
            <a:r>
              <a:rPr lang="ja-JP" altLang="en-US" sz="1600" dirty="0"/>
              <a:t>に対して</a:t>
            </a:r>
            <a:endParaRPr lang="en-US" altLang="ja-JP" sz="1600" dirty="0"/>
          </a:p>
          <a:p>
            <a:r>
              <a:rPr lang="ja-JP" altLang="en-US" sz="1600" dirty="0"/>
              <a:t>最小</a:t>
            </a:r>
            <a:r>
              <a:rPr lang="en-US" altLang="ja-JP" sz="1600" dirty="0"/>
              <a:t>DF</a:t>
            </a:r>
            <a:r>
              <a:rPr lang="ja-JP" altLang="en-US" sz="1600" dirty="0"/>
              <a:t>の割合が最も大きい</a:t>
            </a:r>
            <a:endParaRPr lang="en-US" altLang="ja-JP" sz="1600" dirty="0"/>
          </a:p>
          <a:p>
            <a:r>
              <a:rPr lang="en-US" altLang="ja-JP" sz="1600" dirty="0"/>
              <a:t>20°</a:t>
            </a:r>
            <a:r>
              <a:rPr lang="ja-JP" altLang="en-US" sz="1600" dirty="0"/>
              <a:t>のものを採用した。</a:t>
            </a:r>
            <a:endParaRPr kumimoji="1" lang="en-US" altLang="ja-JP" sz="1600" dirty="0"/>
          </a:p>
        </p:txBody>
      </p:sp>
      <p:sp>
        <p:nvSpPr>
          <p:cNvPr id="40" name="四角形: 角を丸くする 39">
            <a:extLst>
              <a:ext uri="{FF2B5EF4-FFF2-40B4-BE49-F238E27FC236}">
                <a16:creationId xmlns:a16="http://schemas.microsoft.com/office/drawing/2014/main" id="{B4D86936-B29B-DE50-A6B4-6625289A2868}"/>
              </a:ext>
            </a:extLst>
          </p:cNvPr>
          <p:cNvSpPr/>
          <p:nvPr/>
        </p:nvSpPr>
        <p:spPr>
          <a:xfrm>
            <a:off x="6135907" y="6416064"/>
            <a:ext cx="5840743" cy="338554"/>
          </a:xfrm>
          <a:prstGeom prst="round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1" name="テキスト ボックス 40">
            <a:extLst>
              <a:ext uri="{FF2B5EF4-FFF2-40B4-BE49-F238E27FC236}">
                <a16:creationId xmlns:a16="http://schemas.microsoft.com/office/drawing/2014/main" id="{635AC155-37F1-904B-A948-AE0707BD2F0C}"/>
              </a:ext>
            </a:extLst>
          </p:cNvPr>
          <p:cNvSpPr txBox="1"/>
          <p:nvPr/>
        </p:nvSpPr>
        <p:spPr>
          <a:xfrm>
            <a:off x="6173364" y="6449271"/>
            <a:ext cx="5692673" cy="338554"/>
          </a:xfrm>
          <a:prstGeom prst="rect">
            <a:avLst/>
          </a:prstGeom>
          <a:noFill/>
        </p:spPr>
        <p:txBody>
          <a:bodyPr wrap="square" rtlCol="0">
            <a:spAutoFit/>
          </a:bodyPr>
          <a:lstStyle/>
          <a:p>
            <a:r>
              <a:rPr kumimoji="1" lang="ja-JP" altLang="en-US" sz="1600" dirty="0"/>
              <a:t>解析ツール</a:t>
            </a:r>
            <a:r>
              <a:rPr kumimoji="1" lang="en-US" altLang="ja-JP" sz="1600" dirty="0"/>
              <a:t>:</a:t>
            </a:r>
            <a:r>
              <a:rPr kumimoji="1" lang="en-US" altLang="ja-JP" sz="1600" dirty="0" err="1"/>
              <a:t>OpenFOAM</a:t>
            </a:r>
            <a:r>
              <a:rPr lang="ja-JP" altLang="en-US" sz="1600" dirty="0"/>
              <a:t>　流速</a:t>
            </a:r>
            <a:r>
              <a:rPr lang="en-US" altLang="ja-JP" sz="1600" dirty="0"/>
              <a:t>:11m/s (=40km/h)</a:t>
            </a:r>
            <a:endParaRPr kumimoji="1" lang="ja-JP" altLang="en-US" sz="1600" dirty="0"/>
          </a:p>
        </p:txBody>
      </p:sp>
      <p:pic>
        <p:nvPicPr>
          <p:cNvPr id="55" name="図 54" descr="テーブル&#10;&#10;自動的に生成された説明">
            <a:extLst>
              <a:ext uri="{FF2B5EF4-FFF2-40B4-BE49-F238E27FC236}">
                <a16:creationId xmlns:a16="http://schemas.microsoft.com/office/drawing/2014/main" id="{A50677CC-ED05-F8EE-C8D5-C5AC686FED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7097" y="5072155"/>
            <a:ext cx="3063846" cy="1266698"/>
          </a:xfrm>
          <a:prstGeom prst="rect">
            <a:avLst/>
          </a:prstGeom>
        </p:spPr>
      </p:pic>
      <p:pic>
        <p:nvPicPr>
          <p:cNvPr id="57" name="図 56" descr="グラフ, 折れ線グラフ&#10;&#10;自動的に生成された説明">
            <a:extLst>
              <a:ext uri="{FF2B5EF4-FFF2-40B4-BE49-F238E27FC236}">
                <a16:creationId xmlns:a16="http://schemas.microsoft.com/office/drawing/2014/main" id="{641853EF-F611-0612-8386-3CA46131A8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50419" y="5068479"/>
            <a:ext cx="2768871" cy="1273418"/>
          </a:xfrm>
          <a:prstGeom prst="rect">
            <a:avLst/>
          </a:prstGeom>
        </p:spPr>
      </p:pic>
      <p:pic>
        <p:nvPicPr>
          <p:cNvPr id="58" name="図 57">
            <a:extLst>
              <a:ext uri="{FF2B5EF4-FFF2-40B4-BE49-F238E27FC236}">
                <a16:creationId xmlns:a16="http://schemas.microsoft.com/office/drawing/2014/main" id="{E4E3A5C2-C0CC-A937-FE61-84EAA93EA6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02163" y="5348455"/>
            <a:ext cx="3124614" cy="1367880"/>
          </a:xfrm>
          <a:prstGeom prst="rect">
            <a:avLst/>
          </a:prstGeom>
        </p:spPr>
      </p:pic>
      <p:sp>
        <p:nvSpPr>
          <p:cNvPr id="59" name="矢印: 下 58">
            <a:extLst>
              <a:ext uri="{FF2B5EF4-FFF2-40B4-BE49-F238E27FC236}">
                <a16:creationId xmlns:a16="http://schemas.microsoft.com/office/drawing/2014/main" id="{B06125DF-8A24-44A3-7E76-44CFD57DC374}"/>
              </a:ext>
            </a:extLst>
          </p:cNvPr>
          <p:cNvSpPr/>
          <p:nvPr/>
        </p:nvSpPr>
        <p:spPr>
          <a:xfrm>
            <a:off x="910873" y="4801754"/>
            <a:ext cx="715617" cy="573854"/>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1" name="図 60" descr="テーブル が含まれている画像&#10;&#10;自動的に生成された説明">
            <a:extLst>
              <a:ext uri="{FF2B5EF4-FFF2-40B4-BE49-F238E27FC236}">
                <a16:creationId xmlns:a16="http://schemas.microsoft.com/office/drawing/2014/main" id="{A3C1A354-98FC-7DE1-E030-761BF74B3E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19006" y="3999316"/>
            <a:ext cx="3124613" cy="1275410"/>
          </a:xfrm>
          <a:prstGeom prst="rect">
            <a:avLst/>
          </a:prstGeom>
        </p:spPr>
      </p:pic>
      <p:pic>
        <p:nvPicPr>
          <p:cNvPr id="63" name="図 62" descr="テーブル, 飛行機 が含まれている画像&#10;&#10;自動的に生成された説明">
            <a:extLst>
              <a:ext uri="{FF2B5EF4-FFF2-40B4-BE49-F238E27FC236}">
                <a16:creationId xmlns:a16="http://schemas.microsoft.com/office/drawing/2014/main" id="{668BB500-B162-B37C-D410-830AD2C38FE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43482" y="2459634"/>
            <a:ext cx="2758952" cy="1310502"/>
          </a:xfrm>
          <a:prstGeom prst="rect">
            <a:avLst/>
          </a:prstGeom>
        </p:spPr>
      </p:pic>
      <p:pic>
        <p:nvPicPr>
          <p:cNvPr id="64" name="図 63">
            <a:extLst>
              <a:ext uri="{FF2B5EF4-FFF2-40B4-BE49-F238E27FC236}">
                <a16:creationId xmlns:a16="http://schemas.microsoft.com/office/drawing/2014/main" id="{21F480F5-E9C9-6417-FCD6-864990A7D8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43482" y="3807219"/>
            <a:ext cx="2751721" cy="1204637"/>
          </a:xfrm>
          <a:prstGeom prst="rect">
            <a:avLst/>
          </a:prstGeom>
        </p:spPr>
      </p:pic>
      <p:sp>
        <p:nvSpPr>
          <p:cNvPr id="65" name="テキスト ボックス 64">
            <a:extLst>
              <a:ext uri="{FF2B5EF4-FFF2-40B4-BE49-F238E27FC236}">
                <a16:creationId xmlns:a16="http://schemas.microsoft.com/office/drawing/2014/main" id="{D6BC0A07-1C8D-5596-A90E-FB6EA3AC1775}"/>
              </a:ext>
            </a:extLst>
          </p:cNvPr>
          <p:cNvSpPr txBox="1"/>
          <p:nvPr/>
        </p:nvSpPr>
        <p:spPr>
          <a:xfrm>
            <a:off x="6173365" y="3827701"/>
            <a:ext cx="545488" cy="369332"/>
          </a:xfrm>
          <a:prstGeom prst="rect">
            <a:avLst/>
          </a:prstGeom>
          <a:noFill/>
        </p:spPr>
        <p:txBody>
          <a:bodyPr wrap="square" rtlCol="0">
            <a:spAutoFit/>
          </a:bodyPr>
          <a:lstStyle/>
          <a:p>
            <a:r>
              <a:rPr lang="en-US" altLang="ja-JP" b="1" dirty="0"/>
              <a:t>5°</a:t>
            </a:r>
            <a:endParaRPr kumimoji="1" lang="ja-JP" altLang="en-US" b="1" dirty="0"/>
          </a:p>
        </p:txBody>
      </p:sp>
      <p:sp>
        <p:nvSpPr>
          <p:cNvPr id="68" name="テキスト ボックス 67">
            <a:extLst>
              <a:ext uri="{FF2B5EF4-FFF2-40B4-BE49-F238E27FC236}">
                <a16:creationId xmlns:a16="http://schemas.microsoft.com/office/drawing/2014/main" id="{2FBE754B-A472-A7C0-7C1C-966BE34D2046}"/>
              </a:ext>
            </a:extLst>
          </p:cNvPr>
          <p:cNvSpPr txBox="1"/>
          <p:nvPr/>
        </p:nvSpPr>
        <p:spPr>
          <a:xfrm>
            <a:off x="9327004" y="3812377"/>
            <a:ext cx="762376" cy="369332"/>
          </a:xfrm>
          <a:prstGeom prst="rect">
            <a:avLst/>
          </a:prstGeom>
          <a:noFill/>
        </p:spPr>
        <p:txBody>
          <a:bodyPr wrap="square" rtlCol="0">
            <a:spAutoFit/>
          </a:bodyPr>
          <a:lstStyle/>
          <a:p>
            <a:r>
              <a:rPr lang="en-US" altLang="ja-JP" b="1" dirty="0"/>
              <a:t>15°</a:t>
            </a:r>
            <a:endParaRPr kumimoji="1" lang="ja-JP" altLang="en-US" b="1" dirty="0"/>
          </a:p>
        </p:txBody>
      </p:sp>
      <p:sp>
        <p:nvSpPr>
          <p:cNvPr id="69" name="テキスト ボックス 68">
            <a:extLst>
              <a:ext uri="{FF2B5EF4-FFF2-40B4-BE49-F238E27FC236}">
                <a16:creationId xmlns:a16="http://schemas.microsoft.com/office/drawing/2014/main" id="{F005AA3A-D987-8AD1-4619-EBCA7436CD6C}"/>
              </a:ext>
            </a:extLst>
          </p:cNvPr>
          <p:cNvSpPr txBox="1"/>
          <p:nvPr/>
        </p:nvSpPr>
        <p:spPr>
          <a:xfrm>
            <a:off x="9327004" y="2481818"/>
            <a:ext cx="731562" cy="369332"/>
          </a:xfrm>
          <a:prstGeom prst="rect">
            <a:avLst/>
          </a:prstGeom>
          <a:noFill/>
        </p:spPr>
        <p:txBody>
          <a:bodyPr wrap="square" rtlCol="0">
            <a:spAutoFit/>
          </a:bodyPr>
          <a:lstStyle/>
          <a:p>
            <a:r>
              <a:rPr lang="en-US" altLang="ja-JP" b="1" dirty="0"/>
              <a:t>10°</a:t>
            </a:r>
            <a:endParaRPr kumimoji="1" lang="ja-JP" altLang="en-US" b="1" dirty="0"/>
          </a:p>
        </p:txBody>
      </p:sp>
    </p:spTree>
    <p:extLst>
      <p:ext uri="{BB962C8B-B14F-4D97-AF65-F5344CB8AC3E}">
        <p14:creationId xmlns:p14="http://schemas.microsoft.com/office/powerpoint/2010/main" val="769065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4771-DA2B-C7F4-61B8-85A39EEB70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6AB4F6-9DEB-A061-DC0C-6E5A1CBCF9E1}"/>
              </a:ext>
            </a:extLst>
          </p:cNvPr>
          <p:cNvSpPr>
            <a:spLocks noGrp="1"/>
          </p:cNvSpPr>
          <p:nvPr>
            <p:ph type="title"/>
          </p:nvPr>
        </p:nvSpPr>
        <p:spPr/>
        <p:txBody>
          <a:bodyPr wrap="square"/>
          <a:lstStyle/>
          <a:p>
            <a:r>
              <a:rPr sz="4000" b="1" dirty="0">
                <a:latin typeface="游ゴシック"/>
                <a:ea typeface="游ゴシック"/>
                <a:cs typeface="游ゴシック"/>
              </a:rPr>
              <a:t>Aerodynamics</a:t>
            </a:r>
            <a:endParaRPr kumimoji="1" lang="ja-JP" altLang="en-US" dirty="0"/>
          </a:p>
        </p:txBody>
      </p:sp>
      <p:sp>
        <p:nvSpPr>
          <p:cNvPr id="7" name="テキスト ボックス 6">
            <a:extLst>
              <a:ext uri="{FF2B5EF4-FFF2-40B4-BE49-F238E27FC236}">
                <a16:creationId xmlns:a16="http://schemas.microsoft.com/office/drawing/2014/main" id="{16D445E6-D8B2-CEFE-6CAB-A83CCF47C13E}"/>
              </a:ext>
            </a:extLst>
          </p:cNvPr>
          <p:cNvSpPr txBox="1"/>
          <p:nvPr/>
        </p:nvSpPr>
        <p:spPr>
          <a:xfrm>
            <a:off x="138228" y="907916"/>
            <a:ext cx="5028132" cy="461665"/>
          </a:xfrm>
          <a:prstGeom prst="rect">
            <a:avLst/>
          </a:prstGeom>
          <a:noFill/>
        </p:spPr>
        <p:txBody>
          <a:bodyPr wrap="square" rtlCol="0">
            <a:spAutoFit/>
          </a:bodyPr>
          <a:lstStyle/>
          <a:p>
            <a:r>
              <a:rPr sz="2400" b="1" dirty="0">
                <a:latin typeface="游ゴシック"/>
                <a:ea typeface="游ゴシック"/>
                <a:cs typeface="游ゴシック"/>
              </a:rPr>
              <a:t>Aerodynamic Device Overview</a:t>
            </a:r>
            <a:endParaRPr kumimoji="1" lang="ja-JP" altLang="en-US" sz="2400" b="1" dirty="0"/>
          </a:p>
        </p:txBody>
      </p:sp>
      <p:sp>
        <p:nvSpPr>
          <p:cNvPr id="9" name="テキスト ボックス 8">
            <a:extLst>
              <a:ext uri="{FF2B5EF4-FFF2-40B4-BE49-F238E27FC236}">
                <a16:creationId xmlns:a16="http://schemas.microsoft.com/office/drawing/2014/main" id="{155773DE-7AE0-3FAE-1DD1-5B8C5E064532}"/>
              </a:ext>
            </a:extLst>
          </p:cNvPr>
          <p:cNvSpPr txBox="1"/>
          <p:nvPr/>
        </p:nvSpPr>
        <p:spPr>
          <a:xfrm>
            <a:off x="138227" y="1283427"/>
            <a:ext cx="7167141" cy="1323439"/>
          </a:xfrm>
          <a:prstGeom prst="rect">
            <a:avLst/>
          </a:prstGeom>
          <a:noFill/>
          <a:ln>
            <a:solidFill>
              <a:srgbClr val="4E95D9"/>
            </a:solidFill>
          </a:ln>
        </p:spPr>
        <p:txBody>
          <a:bodyPr wrap="square" rtlCol="0">
            <a:spAutoFit/>
          </a:bodyPr>
          <a:lstStyle/>
          <a:p>
            <a:r>
              <a:rPr sz="1600" b="1" dirty="0">
                <a:latin typeface="游ゴシック"/>
                <a:ea typeface="游ゴシック"/>
                <a:cs typeface="游ゴシック"/>
              </a:rPr>
              <a:t>0.1 Why aerodynamic devices were adopted</a:t>
            </a:r>
            <a:endParaRPr kumimoji="1" lang="en-US" altLang="ja-JP" sz="1600" dirty="0"/>
          </a:p>
          <a:p>
            <a:r>
              <a:rPr sz="1600" b="0" dirty="0">
                <a:latin typeface="游ゴシック"/>
                <a:ea typeface="游ゴシック"/>
                <a:cs typeface="游ゴシック"/>
              </a:rPr>
              <a:t>Aerodynamic devices were introduced to achieve sharper vehicle behavior.</a:t>
            </a:r>
          </a:p>
          <a:p>
            <a:r>
              <a:rPr sz="1600" b="0" dirty="0">
                <a:latin typeface="游ゴシック"/>
                <a:ea typeface="游ゴシック"/>
                <a:cs typeface="游ゴシック"/>
              </a:rPr>
              <a:t>1. Simulation showed that downforce gains outweigh the added weight.</a:t>
            </a:r>
          </a:p>
          <a:p>
            <a:r>
              <a:rPr sz="1600" b="0" dirty="0">
                <a:latin typeface="游ゴシック"/>
                <a:ea typeface="游ゴシック"/>
                <a:cs typeface="游ゴシック"/>
              </a:rPr>
              <a:t>2. The team had enough members to develop and manufacture them.</a:t>
            </a:r>
          </a:p>
          <a:p>
            <a:r>
              <a:rPr sz="1600" b="0" dirty="0">
                <a:latin typeface="游ゴシック"/>
                <a:ea typeface="游ゴシック"/>
                <a:cs typeface="游ゴシック"/>
              </a:rPr>
              <a:t>3. Production tests were completed last year, so preparation was ready</a:t>
            </a:r>
          </a:p>
        </p:txBody>
      </p:sp>
      <p:sp>
        <p:nvSpPr>
          <p:cNvPr id="5" name="四角形: 角を丸くする 4">
            <a:extLst>
              <a:ext uri="{FF2B5EF4-FFF2-40B4-BE49-F238E27FC236}">
                <a16:creationId xmlns:a16="http://schemas.microsoft.com/office/drawing/2014/main" id="{428FD632-EA39-7B8C-48E3-497E3AEFF664}"/>
              </a:ext>
            </a:extLst>
          </p:cNvPr>
          <p:cNvSpPr/>
          <p:nvPr/>
        </p:nvSpPr>
        <p:spPr>
          <a:xfrm>
            <a:off x="18154" y="2618858"/>
            <a:ext cx="6391882" cy="1850690"/>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09722B6-89CC-FA00-C4FC-226C4F8C296A}"/>
              </a:ext>
            </a:extLst>
          </p:cNvPr>
          <p:cNvSpPr txBox="1"/>
          <p:nvPr/>
        </p:nvSpPr>
        <p:spPr>
          <a:xfrm>
            <a:off x="198607" y="2616267"/>
            <a:ext cx="5936911" cy="2092881"/>
          </a:xfrm>
          <a:prstGeom prst="rect">
            <a:avLst/>
          </a:prstGeom>
          <a:noFill/>
        </p:spPr>
        <p:txBody>
          <a:bodyPr wrap="square" rtlCol="0">
            <a:spAutoFit/>
          </a:bodyPr>
          <a:lstStyle/>
          <a:p>
            <a:r>
              <a:rPr sz="1600" b="1" dirty="0">
                <a:latin typeface="游ゴシック"/>
                <a:ea typeface="游ゴシック"/>
                <a:cs typeface="游ゴシック"/>
              </a:rPr>
              <a:t>0.2 Development targets</a:t>
            </a:r>
            <a:endParaRPr lang="en-US" altLang="ja-JP" b="1" u="sng" dirty="0"/>
          </a:p>
          <a:p>
            <a:r>
              <a:rPr sz="1600" b="0" dirty="0">
                <a:latin typeface="游ゴシック"/>
                <a:ea typeface="游ゴシック"/>
                <a:cs typeface="游ゴシック"/>
              </a:rPr>
              <a:t>For the first aero package, the design focused on four targets:</a:t>
            </a:r>
          </a:p>
          <a:p>
            <a:r>
              <a:rPr sz="1600" b="0" dirty="0">
                <a:latin typeface="游ゴシック"/>
                <a:ea typeface="游ゴシック"/>
                <a:cs typeface="游ゴシック"/>
              </a:rPr>
              <a:t>1. Easy-to-manufacture geometry.</a:t>
            </a:r>
          </a:p>
          <a:p>
            <a:r>
              <a:rPr sz="1600" b="0" dirty="0">
                <a:latin typeface="游ゴシック"/>
                <a:ea typeface="游ゴシック"/>
                <a:cs typeface="游ゴシック"/>
              </a:rPr>
              <a:t>2. Sufficient downforce.</a:t>
            </a:r>
          </a:p>
          <a:p>
            <a:r>
              <a:rPr sz="1600" b="0" dirty="0">
                <a:latin typeface="游ゴシック"/>
                <a:ea typeface="游ゴシック"/>
                <a:cs typeface="游ゴシック"/>
              </a:rPr>
              <a:t>3. Strength against failure.</a:t>
            </a:r>
          </a:p>
          <a:p>
            <a:r>
              <a:rPr sz="1600" b="0" dirty="0">
                <a:latin typeface="游ゴシック"/>
                <a:ea typeface="游ゴシック"/>
                <a:cs typeface="游ゴシック"/>
              </a:rPr>
              <a:t>4. Weight reduction, while prioritizing manufacturability.</a:t>
            </a:r>
          </a:p>
        </p:txBody>
      </p:sp>
      <p:sp>
        <p:nvSpPr>
          <p:cNvPr id="3" name="四角形: 角を丸くする 4">
            <a:extLst>
              <a:ext uri="{FF2B5EF4-FFF2-40B4-BE49-F238E27FC236}">
                <a16:creationId xmlns:a16="http://schemas.microsoft.com/office/drawing/2014/main" id="{93040181-E2A7-0372-9D27-4D4D05D74C12}"/>
              </a:ext>
            </a:extLst>
          </p:cNvPr>
          <p:cNvSpPr/>
          <p:nvPr/>
        </p:nvSpPr>
        <p:spPr>
          <a:xfrm>
            <a:off x="28053" y="4510820"/>
            <a:ext cx="6381983" cy="1509669"/>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4EA7266-A7C2-FBA1-2964-03E2B96D7CBF}"/>
              </a:ext>
            </a:extLst>
          </p:cNvPr>
          <p:cNvSpPr txBox="1"/>
          <p:nvPr/>
        </p:nvSpPr>
        <p:spPr>
          <a:xfrm>
            <a:off x="208507" y="4561238"/>
            <a:ext cx="6201530" cy="1323439"/>
          </a:xfrm>
          <a:prstGeom prst="rect">
            <a:avLst/>
          </a:prstGeom>
          <a:noFill/>
        </p:spPr>
        <p:txBody>
          <a:bodyPr wrap="square" rtlCol="0">
            <a:spAutoFit/>
          </a:bodyPr>
          <a:lstStyle/>
          <a:p>
            <a:r>
              <a:rPr sz="1600" b="1" dirty="0">
                <a:latin typeface="游ゴシック"/>
                <a:ea typeface="游ゴシック"/>
                <a:cs typeface="游ゴシック"/>
              </a:rPr>
              <a:t>0.3 Development risk management</a:t>
            </a:r>
            <a:endParaRPr lang="en-US" altLang="ja-JP" b="1" u="sng" dirty="0"/>
          </a:p>
          <a:p>
            <a:r>
              <a:rPr sz="1600" b="0" dirty="0">
                <a:latin typeface="游ゴシック"/>
                <a:ea typeface="游ゴシック"/>
                <a:cs typeface="游ゴシック"/>
              </a:rPr>
              <a:t>As the first aero package, this work could affect the whole vehicle schedule. To control risk and workload, development would stop immediately if SES approval was delayed or a critical issue occurred.</a:t>
            </a:r>
          </a:p>
        </p:txBody>
      </p:sp>
      <p:sp>
        <p:nvSpPr>
          <p:cNvPr id="13" name="四角形: 角を丸くする 4">
            <a:extLst>
              <a:ext uri="{FF2B5EF4-FFF2-40B4-BE49-F238E27FC236}">
                <a16:creationId xmlns:a16="http://schemas.microsoft.com/office/drawing/2014/main" id="{0E25AC76-A627-C593-E986-F04C36649CFF}"/>
              </a:ext>
            </a:extLst>
          </p:cNvPr>
          <p:cNvSpPr/>
          <p:nvPr/>
        </p:nvSpPr>
        <p:spPr>
          <a:xfrm>
            <a:off x="6419935" y="4230030"/>
            <a:ext cx="5753911" cy="2310217"/>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1FDE60A3-C02E-86A5-FC04-20E35CEAE10D}"/>
              </a:ext>
            </a:extLst>
          </p:cNvPr>
          <p:cNvSpPr txBox="1"/>
          <p:nvPr/>
        </p:nvSpPr>
        <p:spPr>
          <a:xfrm>
            <a:off x="6600389" y="4280448"/>
            <a:ext cx="5563558" cy="2092881"/>
          </a:xfrm>
          <a:prstGeom prst="rect">
            <a:avLst/>
          </a:prstGeom>
          <a:noFill/>
        </p:spPr>
        <p:txBody>
          <a:bodyPr wrap="square" rtlCol="0">
            <a:spAutoFit/>
          </a:bodyPr>
          <a:lstStyle/>
          <a:p>
            <a:r>
              <a:rPr sz="1600" b="1" dirty="0">
                <a:latin typeface="游ゴシック"/>
                <a:ea typeface="游ゴシック"/>
                <a:cs typeface="游ゴシック"/>
              </a:rPr>
              <a:t>0.4 Performance target</a:t>
            </a:r>
          </a:p>
          <a:p>
            <a:r>
              <a:rPr sz="1600" b="0" dirty="0">
                <a:latin typeface="游ゴシック"/>
                <a:ea typeface="游ゴシック"/>
                <a:cs typeface="游ゴシック"/>
              </a:rPr>
              <a:t>The figure plots vertical load on the horizontal axis and resultant tire force on the vertical axis.</a:t>
            </a:r>
          </a:p>
          <a:p>
            <a:r>
              <a:rPr sz="1600" b="0" dirty="0">
                <a:latin typeface="游ゴシック"/>
                <a:ea typeface="游ゴシック"/>
                <a:cs typeface="游ゴシック"/>
              </a:rPr>
              <a:t>Looking only at the maximum tire force, the trend increases almost linearly as vertical load rises.</a:t>
            </a:r>
          </a:p>
          <a:p>
            <a:r>
              <a:rPr sz="1600" b="0" dirty="0">
                <a:latin typeface="游ゴシック"/>
                <a:ea typeface="游ゴシック"/>
                <a:cs typeface="游ゴシック"/>
              </a:rPr>
              <a:t>Therefore, the aero design prioritizes maximizing downforce. Simulation also showed that downforce benefit exceeds drag loss when L/D is above 3, so L/D &gt; 3 was set as a design constraint.</a:t>
            </a:r>
          </a:p>
        </p:txBody>
      </p:sp>
      <p:pic>
        <p:nvPicPr>
          <p:cNvPr id="6" name="図 5">
            <a:extLst>
              <a:ext uri="{FF2B5EF4-FFF2-40B4-BE49-F238E27FC236}">
                <a16:creationId xmlns:a16="http://schemas.microsoft.com/office/drawing/2014/main" id="{4DFEAFA2-23CC-F16A-FAF7-EC276664F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1267" y="934018"/>
            <a:ext cx="4424587" cy="2949724"/>
          </a:xfrm>
          <a:prstGeom prst="rect">
            <a:avLst/>
          </a:prstGeom>
        </p:spPr>
      </p:pic>
      <p:cxnSp>
        <p:nvCxnSpPr>
          <p:cNvPr id="8" name="直線コネクタ 7">
            <a:extLst>
              <a:ext uri="{FF2B5EF4-FFF2-40B4-BE49-F238E27FC236}">
                <a16:creationId xmlns:a16="http://schemas.microsoft.com/office/drawing/2014/main" id="{A51EE117-7421-467A-2ED6-7F0A4C0CB86E}"/>
              </a:ext>
            </a:extLst>
          </p:cNvPr>
          <p:cNvCxnSpPr>
            <a:cxnSpLocks/>
          </p:cNvCxnSpPr>
          <p:nvPr/>
        </p:nvCxnSpPr>
        <p:spPr>
          <a:xfrm flipH="1">
            <a:off x="7843962" y="1263116"/>
            <a:ext cx="2002491" cy="2447493"/>
          </a:xfrm>
          <a:prstGeom prst="line">
            <a:avLst/>
          </a:prstGeom>
          <a:ln w="47625">
            <a:solidFill>
              <a:srgbClr val="FF0000"/>
            </a:solidFill>
          </a:ln>
        </p:spPr>
        <p:style>
          <a:lnRef idx="2">
            <a:schemeClr val="accent1"/>
          </a:lnRef>
          <a:fillRef idx="0">
            <a:schemeClr val="accent1"/>
          </a:fillRef>
          <a:effectRef idx="1">
            <a:schemeClr val="accent1"/>
          </a:effectRef>
          <a:fontRef idx="minor">
            <a:schemeClr val="tx1"/>
          </a:fontRef>
        </p:style>
      </p:cxnSp>
      <p:sp>
        <p:nvSpPr>
          <p:cNvPr id="16" name="角丸四角形吹き出し 15">
            <a:extLst>
              <a:ext uri="{FF2B5EF4-FFF2-40B4-BE49-F238E27FC236}">
                <a16:creationId xmlns:a16="http://schemas.microsoft.com/office/drawing/2014/main" id="{F48310BF-8813-AA2C-0492-4CC15C342200}"/>
              </a:ext>
            </a:extLst>
          </p:cNvPr>
          <p:cNvSpPr/>
          <p:nvPr/>
        </p:nvSpPr>
        <p:spPr>
          <a:xfrm>
            <a:off x="9595799" y="2767273"/>
            <a:ext cx="2002492" cy="684530"/>
          </a:xfrm>
          <a:prstGeom prst="wedgeRoundRectCallout">
            <a:avLst>
              <a:gd name="adj1" fmla="val -85550"/>
              <a:gd name="adj2" fmla="val -103166"/>
              <a:gd name="adj3" fmla="val 16667"/>
            </a:avLst>
          </a:prstGeom>
          <a:solidFill>
            <a:schemeClr val="accent1">
              <a:lumMod val="20000"/>
              <a:lumOff val="80000"/>
              <a:alpha val="8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altLang="ja-JP" dirty="0">
                <a:ln w="0"/>
                <a:solidFill>
                  <a:schemeClr val="tx1"/>
                </a:solidFill>
                <a:effectLst>
                  <a:outerShdw blurRad="38100" dist="19050" dir="2700000" algn="tl" rotWithShape="0">
                    <a:schemeClr val="dk1">
                      <a:alpha val="40000"/>
                    </a:schemeClr>
                  </a:outerShdw>
                </a:effectLst>
                <a:ea typeface="游ゴシック"/>
                <a:cs typeface="游ゴシック"/>
              </a:rPr>
              <a:t>increases almost linearly</a:t>
            </a:r>
            <a:endParaRPr kumimoji="1" lang="ja-JP" altLang="en-US">
              <a:ln w="0"/>
              <a:solidFill>
                <a:schemeClr val="tx1"/>
              </a:solidFill>
              <a:effectLst>
                <a:outerShdw blurRad="38100" dist="19050" dir="2700000" algn="tl" rotWithShape="0">
                  <a:schemeClr val="dk1">
                    <a:alpha val="40000"/>
                  </a:schemeClr>
                </a:outerShdw>
              </a:effectLst>
            </a:endParaRPr>
          </a:p>
        </p:txBody>
      </p:sp>
      <p:sp>
        <p:nvSpPr>
          <p:cNvPr id="17" name="テキスト ボックス 16">
            <a:extLst>
              <a:ext uri="{FF2B5EF4-FFF2-40B4-BE49-F238E27FC236}">
                <a16:creationId xmlns:a16="http://schemas.microsoft.com/office/drawing/2014/main" id="{6AA04708-DFDF-3CC4-1319-652DCC7C1B10}"/>
              </a:ext>
            </a:extLst>
          </p:cNvPr>
          <p:cNvSpPr txBox="1"/>
          <p:nvPr/>
        </p:nvSpPr>
        <p:spPr>
          <a:xfrm>
            <a:off x="7890342" y="3855144"/>
            <a:ext cx="4106436" cy="338554"/>
          </a:xfrm>
          <a:prstGeom prst="rect">
            <a:avLst/>
          </a:prstGeom>
          <a:noFill/>
        </p:spPr>
        <p:txBody>
          <a:bodyPr wrap="square">
            <a:spAutoFit/>
          </a:bodyPr>
          <a:lstStyle/>
          <a:p>
            <a:r>
              <a:rPr lang="en" altLang="ja-JP" sz="1600" dirty="0">
                <a:solidFill>
                  <a:prstClr val="black"/>
                </a:solidFill>
              </a:rPr>
              <a:t>Fig1. </a:t>
            </a:r>
            <a:r>
              <a:rPr lang="en" altLang="ja-JP" sz="1600" dirty="0">
                <a:ea typeface="游ゴシック"/>
                <a:cs typeface="游ゴシック"/>
              </a:rPr>
              <a:t>vertical load VS resultant tire force </a:t>
            </a:r>
            <a:endParaRPr lang="ja-JP" altLang="en-US" sz="1600"/>
          </a:p>
        </p:txBody>
      </p:sp>
    </p:spTree>
    <p:extLst>
      <p:ext uri="{BB962C8B-B14F-4D97-AF65-F5344CB8AC3E}">
        <p14:creationId xmlns:p14="http://schemas.microsoft.com/office/powerpoint/2010/main" val="3925297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D8AC6-BBEF-8137-BFE3-9A4C37ADAB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864743-40AF-AD59-7E5A-8DC26C4A263C}"/>
              </a:ext>
            </a:extLst>
          </p:cNvPr>
          <p:cNvSpPr>
            <a:spLocks noGrp="1"/>
          </p:cNvSpPr>
          <p:nvPr>
            <p:ph type="title"/>
          </p:nvPr>
        </p:nvSpPr>
        <p:spPr/>
        <p:txBody>
          <a:bodyPr wrap="square"/>
          <a:lstStyle/>
          <a:p>
            <a:r>
              <a:rPr sz="4000" b="1">
                <a:latin typeface="游ゴシック"/>
                <a:ea typeface="游ゴシック"/>
                <a:cs typeface="游ゴシック"/>
              </a:rPr>
              <a:t>Aerodynamics</a:t>
            </a:r>
            <a:endParaRPr kumimoji="1" lang="ja-JP" altLang="en-US" dirty="0"/>
          </a:p>
        </p:txBody>
      </p:sp>
      <p:sp>
        <p:nvSpPr>
          <p:cNvPr id="4" name="テキスト ボックス 3">
            <a:extLst>
              <a:ext uri="{FF2B5EF4-FFF2-40B4-BE49-F238E27FC236}">
                <a16:creationId xmlns:a16="http://schemas.microsoft.com/office/drawing/2014/main" id="{666C5CF8-9F00-79B7-73E9-30FA650CF38A}"/>
              </a:ext>
            </a:extLst>
          </p:cNvPr>
          <p:cNvSpPr txBox="1"/>
          <p:nvPr/>
        </p:nvSpPr>
        <p:spPr>
          <a:xfrm>
            <a:off x="138228" y="898086"/>
            <a:ext cx="5028132" cy="461665"/>
          </a:xfrm>
          <a:prstGeom prst="rect">
            <a:avLst/>
          </a:prstGeom>
          <a:noFill/>
        </p:spPr>
        <p:txBody>
          <a:bodyPr wrap="square" rtlCol="0">
            <a:spAutoFit/>
          </a:bodyPr>
          <a:lstStyle/>
          <a:p>
            <a:r>
              <a:rPr sz="2400" b="1" dirty="0">
                <a:latin typeface="游ゴシック"/>
                <a:ea typeface="游ゴシック"/>
                <a:cs typeface="游ゴシック"/>
              </a:rPr>
              <a:t>Manufacturability Verification</a:t>
            </a:r>
            <a:endParaRPr kumimoji="1" lang="ja-JP" altLang="en-US" sz="2400" b="1" dirty="0"/>
          </a:p>
        </p:txBody>
      </p:sp>
      <p:sp>
        <p:nvSpPr>
          <p:cNvPr id="8" name="テキスト ボックス 7">
            <a:extLst>
              <a:ext uri="{FF2B5EF4-FFF2-40B4-BE49-F238E27FC236}">
                <a16:creationId xmlns:a16="http://schemas.microsoft.com/office/drawing/2014/main" id="{8F3048C6-F9B3-25FF-6556-2A7D8CB2562E}"/>
              </a:ext>
            </a:extLst>
          </p:cNvPr>
          <p:cNvSpPr txBox="1"/>
          <p:nvPr/>
        </p:nvSpPr>
        <p:spPr>
          <a:xfrm>
            <a:off x="138227" y="1283427"/>
            <a:ext cx="8251393" cy="1569660"/>
          </a:xfrm>
          <a:prstGeom prst="rect">
            <a:avLst/>
          </a:prstGeom>
          <a:noFill/>
          <a:ln>
            <a:solidFill>
              <a:srgbClr val="4E95D9"/>
            </a:solidFill>
          </a:ln>
        </p:spPr>
        <p:txBody>
          <a:bodyPr wrap="square" rtlCol="0">
            <a:spAutoFit/>
          </a:bodyPr>
          <a:lstStyle/>
          <a:p>
            <a:r>
              <a:rPr sz="1600" b="1" dirty="0">
                <a:latin typeface="游ゴシック"/>
                <a:ea typeface="游ゴシック"/>
                <a:cs typeface="游ゴシック"/>
              </a:rPr>
              <a:t>0.5 Manufacturing feasibility tests</a:t>
            </a:r>
            <a:endParaRPr kumimoji="1" lang="en-US" altLang="ja-JP" sz="1600" dirty="0"/>
          </a:p>
          <a:p>
            <a:r>
              <a:rPr sz="1600" b="0" dirty="0">
                <a:latin typeface="游ゴシック"/>
                <a:ea typeface="游ゴシック"/>
                <a:cs typeface="游ゴシック"/>
              </a:rPr>
              <a:t>Small-scale production tests were repeated before final aero manufacturing.</a:t>
            </a:r>
          </a:p>
          <a:p>
            <a:r>
              <a:rPr sz="1600" b="0" dirty="0">
                <a:latin typeface="游ゴシック"/>
                <a:ea typeface="游ゴシック"/>
                <a:cs typeface="游ゴシック"/>
              </a:rPr>
              <a:t>1. Wet layup sandwich samples were produced with glass fiber and foam core.</a:t>
            </a:r>
          </a:p>
          <a:p>
            <a:r>
              <a:rPr sz="1600" b="0" dirty="0">
                <a:latin typeface="游ゴシック"/>
                <a:ea typeface="游ゴシック"/>
                <a:cs typeface="游ゴシック"/>
              </a:rPr>
              <a:t>2. </a:t>
            </a:r>
            <a:r>
              <a:rPr sz="1600" b="0" dirty="0" err="1">
                <a:latin typeface="游ゴシック"/>
                <a:ea typeface="游ゴシック"/>
                <a:cs typeface="游ゴシック"/>
              </a:rPr>
              <a:t>VaRTM</a:t>
            </a:r>
            <a:r>
              <a:rPr sz="1600" b="0" dirty="0">
                <a:latin typeface="游ゴシック"/>
                <a:ea typeface="游ゴシック"/>
                <a:cs typeface="游ゴシック"/>
              </a:rPr>
              <a:t> trials were also conducted to verify resin flow and bagging quality.</a:t>
            </a:r>
          </a:p>
          <a:p>
            <a:r>
              <a:rPr sz="1600" b="0" dirty="0">
                <a:latin typeface="游ゴシック"/>
                <a:ea typeface="游ゴシック"/>
                <a:cs typeface="游ゴシック"/>
              </a:rPr>
              <a:t>3. Vacuum bagging reached -0.92 atm, confirming sufficient suction for trial parts.</a:t>
            </a:r>
          </a:p>
          <a:p>
            <a:r>
              <a:rPr sz="1600" b="0" dirty="0">
                <a:latin typeface="游ゴシック"/>
                <a:ea typeface="游ゴシック"/>
                <a:cs typeface="游ゴシック"/>
              </a:rPr>
              <a:t>4. A first 1-ply sample bonded to the MDF board, showing release was the main issue.</a:t>
            </a:r>
          </a:p>
        </p:txBody>
      </p:sp>
      <p:sp>
        <p:nvSpPr>
          <p:cNvPr id="11" name="四角形: 角を丸くする 4">
            <a:extLst>
              <a:ext uri="{FF2B5EF4-FFF2-40B4-BE49-F238E27FC236}">
                <a16:creationId xmlns:a16="http://schemas.microsoft.com/office/drawing/2014/main" id="{709775D7-20EF-3CFE-A601-D1AEA5443F32}"/>
              </a:ext>
            </a:extLst>
          </p:cNvPr>
          <p:cNvSpPr/>
          <p:nvPr/>
        </p:nvSpPr>
        <p:spPr>
          <a:xfrm>
            <a:off x="138226" y="2872450"/>
            <a:ext cx="6271809" cy="1378102"/>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EF9F5E1-5163-BA76-2537-934C550CAD84}"/>
              </a:ext>
            </a:extLst>
          </p:cNvPr>
          <p:cNvSpPr txBox="1"/>
          <p:nvPr/>
        </p:nvSpPr>
        <p:spPr>
          <a:xfrm>
            <a:off x="198607" y="2869859"/>
            <a:ext cx="6211428" cy="1323439"/>
          </a:xfrm>
          <a:prstGeom prst="rect">
            <a:avLst/>
          </a:prstGeom>
          <a:noFill/>
        </p:spPr>
        <p:txBody>
          <a:bodyPr wrap="square" rtlCol="0">
            <a:spAutoFit/>
          </a:bodyPr>
          <a:lstStyle/>
          <a:p>
            <a:r>
              <a:rPr sz="1600" b="1" dirty="0">
                <a:latin typeface="游ゴシック"/>
                <a:ea typeface="游ゴシック"/>
                <a:cs typeface="游ゴシック"/>
              </a:rPr>
              <a:t>0.6 Release-process findings</a:t>
            </a:r>
            <a:endParaRPr lang="en-US" altLang="ja-JP" b="1" u="sng" dirty="0"/>
          </a:p>
          <a:p>
            <a:r>
              <a:rPr sz="1600" b="0" dirty="0">
                <a:latin typeface="游ゴシック"/>
                <a:ea typeface="游ゴシック"/>
                <a:cs typeface="游ゴシック"/>
              </a:rPr>
              <a:t>The team tested several changes to improve demolding:</a:t>
            </a:r>
          </a:p>
          <a:p>
            <a:r>
              <a:rPr sz="1600" b="0" dirty="0">
                <a:latin typeface="游ゴシック"/>
                <a:ea typeface="游ゴシック"/>
                <a:cs typeface="游ゴシック"/>
              </a:rPr>
              <a:t>1. Move samples to the MDF board edges to allow tool access.</a:t>
            </a:r>
          </a:p>
          <a:p>
            <a:r>
              <a:rPr sz="1600" b="0" dirty="0">
                <a:latin typeface="游ゴシック"/>
                <a:ea typeface="游ゴシック"/>
                <a:cs typeface="游ゴシック"/>
              </a:rPr>
              <a:t>2. Increase peel-ply size to about four times the previous area.</a:t>
            </a:r>
          </a:p>
          <a:p>
            <a:r>
              <a:rPr sz="1600" b="0" dirty="0">
                <a:latin typeface="游ゴシック"/>
                <a:ea typeface="游ゴシック"/>
                <a:cs typeface="游ゴシック"/>
              </a:rPr>
              <a:t>3. Increase PVA concentration from 1:3 to 1:1.</a:t>
            </a:r>
          </a:p>
        </p:txBody>
      </p:sp>
      <p:sp>
        <p:nvSpPr>
          <p:cNvPr id="16" name="四角形: 角を丸くする 4">
            <a:extLst>
              <a:ext uri="{FF2B5EF4-FFF2-40B4-BE49-F238E27FC236}">
                <a16:creationId xmlns:a16="http://schemas.microsoft.com/office/drawing/2014/main" id="{5F4F65F1-5C72-88D6-0790-D4AA439A8E9E}"/>
              </a:ext>
            </a:extLst>
          </p:cNvPr>
          <p:cNvSpPr/>
          <p:nvPr/>
        </p:nvSpPr>
        <p:spPr>
          <a:xfrm>
            <a:off x="138226" y="4250977"/>
            <a:ext cx="6271810" cy="1665797"/>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FD88AB56-565B-73A2-1764-B54EE28C53C0}"/>
              </a:ext>
            </a:extLst>
          </p:cNvPr>
          <p:cNvSpPr txBox="1"/>
          <p:nvPr/>
        </p:nvSpPr>
        <p:spPr>
          <a:xfrm>
            <a:off x="208507" y="4347115"/>
            <a:ext cx="6077994" cy="1569660"/>
          </a:xfrm>
          <a:prstGeom prst="rect">
            <a:avLst/>
          </a:prstGeom>
          <a:noFill/>
        </p:spPr>
        <p:txBody>
          <a:bodyPr wrap="square" rtlCol="0">
            <a:spAutoFit/>
          </a:bodyPr>
          <a:lstStyle/>
          <a:p>
            <a:r>
              <a:rPr sz="1600" b="1" dirty="0">
                <a:latin typeface="游ゴシック"/>
                <a:ea typeface="游ゴシック"/>
                <a:cs typeface="游ゴシック"/>
              </a:rPr>
              <a:t>0.7 Cure-time lesson</a:t>
            </a:r>
            <a:endParaRPr lang="en-US" altLang="ja-JP" b="1" u="sng" dirty="0"/>
          </a:p>
          <a:p>
            <a:r>
              <a:rPr sz="1600" b="0" dirty="0">
                <a:latin typeface="游ゴシック"/>
                <a:ea typeface="游ゴシック"/>
                <a:cs typeface="游ゴシック"/>
              </a:rPr>
              <a:t>Even after an overnight cure, strong adhesion and tacky PVA remained. This indicated that catalog cure time was not enough under actual workshop conditions, so longer curing and thicker PVA application were treated as process requirements.</a:t>
            </a:r>
          </a:p>
        </p:txBody>
      </p:sp>
      <p:sp>
        <p:nvSpPr>
          <p:cNvPr id="18" name="四角形: 角を丸くする 4">
            <a:extLst>
              <a:ext uri="{FF2B5EF4-FFF2-40B4-BE49-F238E27FC236}">
                <a16:creationId xmlns:a16="http://schemas.microsoft.com/office/drawing/2014/main" id="{759B3991-B934-2E1C-D4F5-786ED8222108}"/>
              </a:ext>
            </a:extLst>
          </p:cNvPr>
          <p:cNvSpPr/>
          <p:nvPr/>
        </p:nvSpPr>
        <p:spPr>
          <a:xfrm>
            <a:off x="6419935" y="2869777"/>
            <a:ext cx="5753911" cy="2516789"/>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7F5F8EAF-8456-ABC6-CDC8-9641574C87AE}"/>
              </a:ext>
            </a:extLst>
          </p:cNvPr>
          <p:cNvSpPr txBox="1"/>
          <p:nvPr/>
        </p:nvSpPr>
        <p:spPr>
          <a:xfrm>
            <a:off x="6600389" y="2920195"/>
            <a:ext cx="5563558" cy="2092881"/>
          </a:xfrm>
          <a:prstGeom prst="rect">
            <a:avLst/>
          </a:prstGeom>
          <a:noFill/>
        </p:spPr>
        <p:txBody>
          <a:bodyPr wrap="square" rtlCol="0">
            <a:spAutoFit/>
          </a:bodyPr>
          <a:lstStyle/>
          <a:p>
            <a:r>
              <a:rPr sz="1600" b="1" dirty="0">
                <a:latin typeface="游ゴシック"/>
                <a:ea typeface="游ゴシック"/>
                <a:cs typeface="游ゴシック"/>
              </a:rPr>
              <a:t>0.8 Manufacturing readiness</a:t>
            </a:r>
          </a:p>
          <a:p>
            <a:r>
              <a:rPr sz="1600" b="0" dirty="0">
                <a:latin typeface="游ゴシック"/>
                <a:ea typeface="游ゴシック"/>
                <a:cs typeface="游ゴシック"/>
              </a:rPr>
              <a:t>Mold preparation also progressed through gelcoat application for tooling.</a:t>
            </a:r>
          </a:p>
          <a:p>
            <a:r>
              <a:rPr sz="1600" b="0" dirty="0">
                <a:latin typeface="游ゴシック"/>
                <a:ea typeface="游ゴシック"/>
                <a:cs typeface="游ゴシック"/>
              </a:rPr>
              <a:t>For actual production, simple wet layup is used for large parts where speed and handling are important.</a:t>
            </a:r>
          </a:p>
          <a:p>
            <a:r>
              <a:rPr sz="1600" b="0" dirty="0" err="1">
                <a:latin typeface="游ゴシック"/>
                <a:ea typeface="游ゴシック"/>
                <a:cs typeface="游ゴシック"/>
              </a:rPr>
              <a:t>VaRTM</a:t>
            </a:r>
            <a:r>
              <a:rPr sz="1600" b="0" dirty="0">
                <a:latin typeface="游ゴシック"/>
                <a:ea typeface="游ゴシック"/>
                <a:cs typeface="游ゴシック"/>
              </a:rPr>
              <a:t> is used for smaller parts where resin control, fiber volume, and repeatability are easier to manage.</a:t>
            </a:r>
          </a:p>
          <a:p>
            <a:r>
              <a:rPr sz="1600" b="0" dirty="0">
                <a:latin typeface="游ゴシック"/>
                <a:ea typeface="游ゴシック"/>
                <a:cs typeface="游ゴシック"/>
              </a:rPr>
              <a:t>These tests fixed the practical constraints: release margin, peel-ply coverage, tool access, vacuum quality, and cure time.</a:t>
            </a:r>
          </a:p>
        </p:txBody>
      </p:sp>
      <p:pic>
        <p:nvPicPr>
          <p:cNvPr id="21" name="図 20" descr="画像">
            <a:extLst>
              <a:ext uri="{FF2B5EF4-FFF2-40B4-BE49-F238E27FC236}">
                <a16:creationId xmlns:a16="http://schemas.microsoft.com/office/drawing/2014/main" id="{5FA89FFB-F2A5-5E26-453D-EC7F3BEF1847}"/>
              </a:ext>
            </a:extLst>
          </p:cNvPr>
          <p:cNvPicPr>
            <a:picLocks noChangeAspect="1"/>
          </p:cNvPicPr>
          <p:nvPr/>
        </p:nvPicPr>
        <p:blipFill rotWithShape="1">
          <a:blip r:embed="rId3"/>
          <a:srcRect l="6003" t="12485" r="7389" b="36209"/>
          <a:stretch>
            <a:fillRect/>
          </a:stretch>
        </p:blipFill>
        <p:spPr>
          <a:xfrm>
            <a:off x="6600389" y="5464258"/>
            <a:ext cx="1613000" cy="1273357"/>
          </a:xfrm>
          <a:prstGeom prst="rect">
            <a:avLst/>
          </a:prstGeom>
        </p:spPr>
      </p:pic>
      <p:pic>
        <p:nvPicPr>
          <p:cNvPr id="22" name="図 21" descr="画像">
            <a:extLst>
              <a:ext uri="{FF2B5EF4-FFF2-40B4-BE49-F238E27FC236}">
                <a16:creationId xmlns:a16="http://schemas.microsoft.com/office/drawing/2014/main" id="{0CE689E8-F3D2-24FA-7874-6D651BBF1B12}"/>
              </a:ext>
            </a:extLst>
          </p:cNvPr>
          <p:cNvPicPr>
            <a:picLocks noChangeAspect="1"/>
          </p:cNvPicPr>
          <p:nvPr/>
        </p:nvPicPr>
        <p:blipFill>
          <a:blip r:embed="rId4"/>
          <a:srcRect t="17592" b="15670"/>
          <a:stretch>
            <a:fillRect/>
          </a:stretch>
        </p:blipFill>
        <p:spPr>
          <a:xfrm>
            <a:off x="10622128" y="5464258"/>
            <a:ext cx="1431644" cy="1273358"/>
          </a:xfrm>
          <a:prstGeom prst="rect">
            <a:avLst/>
          </a:prstGeom>
        </p:spPr>
      </p:pic>
      <p:pic>
        <p:nvPicPr>
          <p:cNvPr id="23" name="図 22" descr="画像">
            <a:extLst>
              <a:ext uri="{FF2B5EF4-FFF2-40B4-BE49-F238E27FC236}">
                <a16:creationId xmlns:a16="http://schemas.microsoft.com/office/drawing/2014/main" id="{D154A6EC-05A4-CD67-8B49-869BBF785453}"/>
              </a:ext>
            </a:extLst>
          </p:cNvPr>
          <p:cNvPicPr>
            <a:picLocks noChangeAspect="1"/>
          </p:cNvPicPr>
          <p:nvPr/>
        </p:nvPicPr>
        <p:blipFill>
          <a:blip r:embed="rId5"/>
          <a:srcRect l="20075" t="27409" r="8915" b="20154"/>
          <a:stretch>
            <a:fillRect/>
          </a:stretch>
        </p:blipFill>
        <p:spPr>
          <a:xfrm>
            <a:off x="9093036" y="994519"/>
            <a:ext cx="2823957" cy="1569661"/>
          </a:xfrm>
          <a:prstGeom prst="rect">
            <a:avLst/>
          </a:prstGeom>
        </p:spPr>
      </p:pic>
      <p:sp>
        <p:nvSpPr>
          <p:cNvPr id="5" name="テキスト ボックス 4">
            <a:extLst>
              <a:ext uri="{FF2B5EF4-FFF2-40B4-BE49-F238E27FC236}">
                <a16:creationId xmlns:a16="http://schemas.microsoft.com/office/drawing/2014/main" id="{D192FF48-D6EA-31B8-1D60-195F2E4AFCCA}"/>
              </a:ext>
            </a:extLst>
          </p:cNvPr>
          <p:cNvSpPr txBox="1"/>
          <p:nvPr/>
        </p:nvSpPr>
        <p:spPr>
          <a:xfrm>
            <a:off x="9364400" y="2556432"/>
            <a:ext cx="2271008" cy="338554"/>
          </a:xfrm>
          <a:prstGeom prst="rect">
            <a:avLst/>
          </a:prstGeom>
          <a:noFill/>
        </p:spPr>
        <p:txBody>
          <a:bodyPr wrap="square">
            <a:spAutoFit/>
          </a:bodyPr>
          <a:lstStyle/>
          <a:p>
            <a:r>
              <a:rPr lang="en" altLang="ja-JP" sz="1600" dirty="0">
                <a:solidFill>
                  <a:prstClr val="black"/>
                </a:solidFill>
              </a:rPr>
              <a:t>Fig2. FRP test </a:t>
            </a:r>
            <a:r>
              <a:rPr lang="en" altLang="ja-JP" sz="1600" dirty="0" err="1">
                <a:solidFill>
                  <a:prstClr val="black"/>
                </a:solidFill>
              </a:rPr>
              <a:t>pece</a:t>
            </a:r>
            <a:endParaRPr lang="ja-JP" altLang="en-US" sz="1600"/>
          </a:p>
        </p:txBody>
      </p:sp>
      <p:sp>
        <p:nvSpPr>
          <p:cNvPr id="6" name="テキスト ボックス 5">
            <a:extLst>
              <a:ext uri="{FF2B5EF4-FFF2-40B4-BE49-F238E27FC236}">
                <a16:creationId xmlns:a16="http://schemas.microsoft.com/office/drawing/2014/main" id="{6B36AD99-1C2B-E309-1908-5182C4C2EE5B}"/>
              </a:ext>
            </a:extLst>
          </p:cNvPr>
          <p:cNvSpPr txBox="1"/>
          <p:nvPr/>
        </p:nvSpPr>
        <p:spPr>
          <a:xfrm>
            <a:off x="8350610" y="5571304"/>
            <a:ext cx="2271008" cy="830997"/>
          </a:xfrm>
          <a:prstGeom prst="rect">
            <a:avLst/>
          </a:prstGeom>
          <a:noFill/>
        </p:spPr>
        <p:txBody>
          <a:bodyPr wrap="square">
            <a:spAutoFit/>
          </a:bodyPr>
          <a:lstStyle/>
          <a:p>
            <a:r>
              <a:rPr lang="ja-JP" altLang="en-US" sz="1600">
                <a:solidFill>
                  <a:prstClr val="black"/>
                </a:solidFill>
              </a:rPr>
              <a:t>←</a:t>
            </a:r>
            <a:r>
              <a:rPr lang="en" altLang="ja-JP" sz="1600" dirty="0">
                <a:solidFill>
                  <a:prstClr val="black"/>
                </a:solidFill>
              </a:rPr>
              <a:t>Fig3. </a:t>
            </a:r>
            <a:r>
              <a:rPr lang="en" altLang="ja-JP" sz="1600" dirty="0" err="1">
                <a:solidFill>
                  <a:prstClr val="black"/>
                </a:solidFill>
              </a:rPr>
              <a:t>VaRTM</a:t>
            </a:r>
            <a:r>
              <a:rPr lang="en" altLang="ja-JP" sz="1600" dirty="0">
                <a:solidFill>
                  <a:prstClr val="black"/>
                </a:solidFill>
              </a:rPr>
              <a:t> tests</a:t>
            </a:r>
          </a:p>
          <a:p>
            <a:endParaRPr lang="en" altLang="ja-JP" sz="1600" dirty="0">
              <a:solidFill>
                <a:prstClr val="black"/>
              </a:solidFill>
            </a:endParaRPr>
          </a:p>
          <a:p>
            <a:r>
              <a:rPr lang="en" altLang="ja-JP" sz="1600" dirty="0">
                <a:solidFill>
                  <a:prstClr val="black"/>
                </a:solidFill>
              </a:rPr>
              <a:t>Fig4. CFRP test tray</a:t>
            </a:r>
            <a:r>
              <a:rPr lang="ja-JP" altLang="en-US" sz="1600">
                <a:solidFill>
                  <a:prstClr val="black"/>
                </a:solidFill>
              </a:rPr>
              <a:t>→</a:t>
            </a:r>
            <a:endParaRPr lang="ja-JP" altLang="en-US" sz="1600"/>
          </a:p>
        </p:txBody>
      </p:sp>
    </p:spTree>
    <p:extLst>
      <p:ext uri="{BB962C8B-B14F-4D97-AF65-F5344CB8AC3E}">
        <p14:creationId xmlns:p14="http://schemas.microsoft.com/office/powerpoint/2010/main" val="1987892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A038C-7482-BA44-59E1-5F39EAD02E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DA8F85-FA4A-2EEF-5BC2-0267106CB9AD}"/>
              </a:ext>
            </a:extLst>
          </p:cNvPr>
          <p:cNvSpPr>
            <a:spLocks noGrp="1"/>
          </p:cNvSpPr>
          <p:nvPr>
            <p:ph type="title"/>
          </p:nvPr>
        </p:nvSpPr>
        <p:spPr>
          <a:xfrm>
            <a:off x="1475995" y="52684"/>
            <a:ext cx="8776369" cy="1231171"/>
          </a:xfrm>
        </p:spPr>
        <p:txBody>
          <a:bodyPr>
            <a:normAutofit/>
          </a:bodyPr>
          <a:lstStyle/>
          <a:p>
            <a:r>
              <a:rPr lang="en-US" altLang="en-US" dirty="0"/>
              <a:t>Aerodynamics</a:t>
            </a:r>
            <a:endParaRPr kumimoji="1" lang="ja-JP" altLang="en-US" dirty="0"/>
          </a:p>
        </p:txBody>
      </p:sp>
      <p:sp>
        <p:nvSpPr>
          <p:cNvPr id="3" name="コンテンツ プレースホルダー 2">
            <a:extLst>
              <a:ext uri="{FF2B5EF4-FFF2-40B4-BE49-F238E27FC236}">
                <a16:creationId xmlns:a16="http://schemas.microsoft.com/office/drawing/2014/main" id="{72819C9B-963C-0A06-3F62-123EBACB651B}"/>
              </a:ext>
            </a:extLst>
          </p:cNvPr>
          <p:cNvSpPr>
            <a:spLocks noGrp="1"/>
          </p:cNvSpPr>
          <p:nvPr>
            <p:ph idx="1"/>
          </p:nvPr>
        </p:nvSpPr>
        <p:spPr>
          <a:xfrm flipV="1">
            <a:off x="11610109" y="6176963"/>
            <a:ext cx="1930400" cy="94528"/>
          </a:xfrm>
        </p:spPr>
        <p:txBody>
          <a:bodyPr>
            <a:normAutofit fontScale="25000" lnSpcReduction="20000"/>
          </a:bodyPr>
          <a:lstStyle/>
          <a:p>
            <a:pPr marL="0" indent="0">
              <a:buNone/>
            </a:pPr>
            <a:r>
              <a:rPr kumimoji="1" lang="en-US" altLang="ja-JP" dirty="0"/>
              <a:t> </a:t>
            </a:r>
            <a:endParaRPr kumimoji="1" lang="ja-JP" altLang="en-US" dirty="0"/>
          </a:p>
        </p:txBody>
      </p:sp>
      <p:sp>
        <p:nvSpPr>
          <p:cNvPr id="5" name="テキスト ボックス 4">
            <a:extLst>
              <a:ext uri="{FF2B5EF4-FFF2-40B4-BE49-F238E27FC236}">
                <a16:creationId xmlns:a16="http://schemas.microsoft.com/office/drawing/2014/main" id="{59F2A97C-ADDB-41E1-E673-326A6CF4B689}"/>
              </a:ext>
            </a:extLst>
          </p:cNvPr>
          <p:cNvSpPr txBox="1"/>
          <p:nvPr/>
        </p:nvSpPr>
        <p:spPr>
          <a:xfrm>
            <a:off x="563130" y="4169915"/>
            <a:ext cx="5896649" cy="923330"/>
          </a:xfrm>
          <a:prstGeom prst="rect">
            <a:avLst/>
          </a:prstGeom>
          <a:noFill/>
        </p:spPr>
        <p:txBody>
          <a:bodyPr wrap="square" rtlCol="0">
            <a:spAutoFit/>
          </a:bodyPr>
          <a:lstStyle/>
          <a:p>
            <a:r>
              <a:rPr lang="en-US" altLang="ja-JP" dirty="0">
                <a:latin typeface="+mn-ea"/>
              </a:rPr>
              <a:t>The plan is to manufacture wings with different numbers of layers on the inside and outside. This will allow for more </a:t>
            </a:r>
            <a:r>
              <a:rPr lang="en-US" altLang="ja-JP" dirty="0" err="1">
                <a:latin typeface="+mn-ea"/>
              </a:rPr>
              <a:t>Df</a:t>
            </a:r>
            <a:r>
              <a:rPr lang="en-US" altLang="ja-JP" dirty="0">
                <a:latin typeface="+mn-ea"/>
              </a:rPr>
              <a:t> while still adhering to regulations.</a:t>
            </a:r>
          </a:p>
        </p:txBody>
      </p:sp>
      <p:sp>
        <p:nvSpPr>
          <p:cNvPr id="14" name="テキスト ボックス 13">
            <a:extLst>
              <a:ext uri="{FF2B5EF4-FFF2-40B4-BE49-F238E27FC236}">
                <a16:creationId xmlns:a16="http://schemas.microsoft.com/office/drawing/2014/main" id="{565BE60D-3EE4-651F-BEAD-9173A07EA13F}"/>
              </a:ext>
            </a:extLst>
          </p:cNvPr>
          <p:cNvSpPr txBox="1"/>
          <p:nvPr/>
        </p:nvSpPr>
        <p:spPr>
          <a:xfrm>
            <a:off x="614215" y="2862053"/>
            <a:ext cx="5896650" cy="1200329"/>
          </a:xfrm>
          <a:prstGeom prst="rect">
            <a:avLst/>
          </a:prstGeom>
          <a:noFill/>
        </p:spPr>
        <p:txBody>
          <a:bodyPr wrap="square">
            <a:spAutoFit/>
          </a:bodyPr>
          <a:lstStyle/>
          <a:p>
            <a:r>
              <a:rPr lang="en-US" altLang="ja-JP" dirty="0">
                <a:latin typeface="+mn-ea"/>
              </a:rPr>
              <a:t>- Designed to maximize drag while increasing </a:t>
            </a:r>
            <a:r>
              <a:rPr lang="en-US" altLang="ja-JP" dirty="0" err="1">
                <a:latin typeface="+mn-ea"/>
              </a:rPr>
              <a:t>Df</a:t>
            </a:r>
            <a:r>
              <a:rPr lang="en-US" altLang="ja-JP" dirty="0">
                <a:latin typeface="+mn-ea"/>
              </a:rPr>
              <a:t>.</a:t>
            </a:r>
          </a:p>
          <a:p>
            <a:r>
              <a:rPr lang="en-US" altLang="ja-JP" dirty="0">
                <a:latin typeface="+mn-ea"/>
              </a:rPr>
              <a:t>- Considering that the machine's drive wheels are the rear wheels, a </a:t>
            </a:r>
            <a:r>
              <a:rPr lang="en-US" altLang="ja-JP" dirty="0" err="1">
                <a:latin typeface="+mn-ea"/>
              </a:rPr>
              <a:t>rear:front</a:t>
            </a:r>
            <a:r>
              <a:rPr lang="en-US" altLang="ja-JP" dirty="0">
                <a:latin typeface="+mn-ea"/>
              </a:rPr>
              <a:t> ratio of </a:t>
            </a:r>
            <a:r>
              <a:rPr lang="en-US" altLang="ja-JP" dirty="0">
                <a:solidFill>
                  <a:srgbClr val="FF0000"/>
                </a:solidFill>
                <a:latin typeface="+mn-ea"/>
              </a:rPr>
              <a:t>4:6</a:t>
            </a:r>
            <a:r>
              <a:rPr lang="en-US" altLang="ja-JP" dirty="0">
                <a:latin typeface="+mn-ea"/>
              </a:rPr>
              <a:t> was used as a guideline to maximize rear </a:t>
            </a:r>
            <a:r>
              <a:rPr lang="en-US" altLang="ja-JP" dirty="0" err="1">
                <a:latin typeface="+mn-ea"/>
              </a:rPr>
              <a:t>Df</a:t>
            </a:r>
            <a:r>
              <a:rPr lang="en-US" altLang="ja-JP" dirty="0">
                <a:latin typeface="+mn-ea"/>
              </a:rPr>
              <a:t>. </a:t>
            </a:r>
          </a:p>
        </p:txBody>
      </p:sp>
      <p:sp>
        <p:nvSpPr>
          <p:cNvPr id="16" name="テキスト ボックス 15">
            <a:extLst>
              <a:ext uri="{FF2B5EF4-FFF2-40B4-BE49-F238E27FC236}">
                <a16:creationId xmlns:a16="http://schemas.microsoft.com/office/drawing/2014/main" id="{FD49C06F-9498-843D-C574-E1C5BD256549}"/>
              </a:ext>
            </a:extLst>
          </p:cNvPr>
          <p:cNvSpPr txBox="1"/>
          <p:nvPr/>
        </p:nvSpPr>
        <p:spPr>
          <a:xfrm>
            <a:off x="563129" y="1720584"/>
            <a:ext cx="5896649" cy="1200329"/>
          </a:xfrm>
          <a:prstGeom prst="rect">
            <a:avLst/>
          </a:prstGeom>
          <a:noFill/>
        </p:spPr>
        <p:txBody>
          <a:bodyPr wrap="square">
            <a:spAutoFit/>
          </a:bodyPr>
          <a:lstStyle/>
          <a:p>
            <a:r>
              <a:rPr lang="en-US" altLang="ja-JP" dirty="0">
                <a:latin typeface="+mn-ea"/>
              </a:rPr>
              <a:t>&lt;Target Values&gt;</a:t>
            </a:r>
          </a:p>
          <a:p>
            <a:r>
              <a:rPr lang="en-US" altLang="ja-JP" dirty="0">
                <a:latin typeface="+mn-ea"/>
              </a:rPr>
              <a:t>Under the conditions of a span length of 1m and a wind speed of 11m/s (= 39.6km/s),</a:t>
            </a:r>
          </a:p>
          <a:p>
            <a:r>
              <a:rPr lang="en-US" altLang="ja-JP" dirty="0">
                <a:latin typeface="+mn-ea"/>
              </a:rPr>
              <a:t>Down force (</a:t>
            </a:r>
            <a:r>
              <a:rPr lang="en-US" altLang="ja-JP" dirty="0" err="1">
                <a:latin typeface="+mn-ea"/>
              </a:rPr>
              <a:t>Df</a:t>
            </a:r>
            <a:r>
              <a:rPr lang="en-US" altLang="ja-JP" dirty="0">
                <a:latin typeface="+mn-ea"/>
              </a:rPr>
              <a:t>): </a:t>
            </a:r>
            <a:r>
              <a:rPr lang="en-US" altLang="ja-JP" dirty="0">
                <a:solidFill>
                  <a:srgbClr val="FF0000"/>
                </a:solidFill>
                <a:latin typeface="+mn-ea"/>
              </a:rPr>
              <a:t>130</a:t>
            </a:r>
            <a:r>
              <a:rPr lang="en-US" altLang="ja-JP" dirty="0">
                <a:latin typeface="+mn-ea"/>
              </a:rPr>
              <a:t>N or higher</a:t>
            </a:r>
          </a:p>
        </p:txBody>
      </p:sp>
      <p:sp>
        <p:nvSpPr>
          <p:cNvPr id="17" name="正方形/長方形 16">
            <a:extLst>
              <a:ext uri="{FF2B5EF4-FFF2-40B4-BE49-F238E27FC236}">
                <a16:creationId xmlns:a16="http://schemas.microsoft.com/office/drawing/2014/main" id="{2C7B614A-6502-A758-54B1-55E7C7AC8CB5}"/>
              </a:ext>
            </a:extLst>
          </p:cNvPr>
          <p:cNvSpPr/>
          <p:nvPr/>
        </p:nvSpPr>
        <p:spPr>
          <a:xfrm>
            <a:off x="460332" y="1704029"/>
            <a:ext cx="6102247" cy="2332951"/>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EB54494E-225B-3DA6-1C15-FD68DD9D602F}"/>
              </a:ext>
            </a:extLst>
          </p:cNvPr>
          <p:cNvSpPr/>
          <p:nvPr/>
        </p:nvSpPr>
        <p:spPr>
          <a:xfrm>
            <a:off x="460332" y="4171318"/>
            <a:ext cx="6155919" cy="2267515"/>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5" name="図 34" descr="オレンジ, 座る, 水, 探す が含まれている画像&#10;&#10;AI 生成コンテンツは誤りを含む可能性があります。">
            <a:extLst>
              <a:ext uri="{FF2B5EF4-FFF2-40B4-BE49-F238E27FC236}">
                <a16:creationId xmlns:a16="http://schemas.microsoft.com/office/drawing/2014/main" id="{86C3EE28-3668-6EB5-FA3A-03D9CC1C3EFA}"/>
              </a:ext>
            </a:extLst>
          </p:cNvPr>
          <p:cNvPicPr>
            <a:picLocks noChangeAspect="1"/>
          </p:cNvPicPr>
          <p:nvPr/>
        </p:nvPicPr>
        <p:blipFill>
          <a:blip r:embed="rId2"/>
          <a:stretch>
            <a:fillRect/>
          </a:stretch>
        </p:blipFill>
        <p:spPr>
          <a:xfrm>
            <a:off x="6919658" y="4825083"/>
            <a:ext cx="2627699" cy="1345829"/>
          </a:xfrm>
          <a:prstGeom prst="rect">
            <a:avLst/>
          </a:prstGeom>
        </p:spPr>
      </p:pic>
      <p:sp>
        <p:nvSpPr>
          <p:cNvPr id="4" name="テキスト ボックス 3">
            <a:extLst>
              <a:ext uri="{FF2B5EF4-FFF2-40B4-BE49-F238E27FC236}">
                <a16:creationId xmlns:a16="http://schemas.microsoft.com/office/drawing/2014/main" id="{EAE1967D-9C37-9F69-E42D-87A2076A90B7}"/>
              </a:ext>
            </a:extLst>
          </p:cNvPr>
          <p:cNvSpPr txBox="1"/>
          <p:nvPr/>
        </p:nvSpPr>
        <p:spPr>
          <a:xfrm>
            <a:off x="460332" y="1261457"/>
            <a:ext cx="1707519" cy="461665"/>
          </a:xfrm>
          <a:prstGeom prst="rect">
            <a:avLst/>
          </a:prstGeom>
          <a:noFill/>
        </p:spPr>
        <p:txBody>
          <a:bodyPr wrap="none" rtlCol="0">
            <a:spAutoFit/>
          </a:bodyPr>
          <a:lstStyle/>
          <a:p>
            <a:r>
              <a:rPr kumimoji="1" lang="en-US" altLang="ja-JP" sz="2400" b="1" dirty="0" err="1"/>
              <a:t>Frontwing</a:t>
            </a:r>
            <a:endParaRPr kumimoji="1" lang="ja-JP" altLang="en-US" sz="2400" b="1" dirty="0"/>
          </a:p>
        </p:txBody>
      </p:sp>
      <p:pic>
        <p:nvPicPr>
          <p:cNvPr id="6" name="図 5">
            <a:extLst>
              <a:ext uri="{FF2B5EF4-FFF2-40B4-BE49-F238E27FC236}">
                <a16:creationId xmlns:a16="http://schemas.microsoft.com/office/drawing/2014/main" id="{19B756DA-5440-0079-9561-5CBEB6771D36}"/>
              </a:ext>
            </a:extLst>
          </p:cNvPr>
          <p:cNvPicPr>
            <a:picLocks noChangeAspect="1"/>
          </p:cNvPicPr>
          <p:nvPr/>
        </p:nvPicPr>
        <p:blipFill>
          <a:blip r:embed="rId3"/>
          <a:stretch>
            <a:fillRect/>
          </a:stretch>
        </p:blipFill>
        <p:spPr>
          <a:xfrm>
            <a:off x="583362" y="5171986"/>
            <a:ext cx="2349148" cy="1181261"/>
          </a:xfrm>
          <a:prstGeom prst="rect">
            <a:avLst/>
          </a:prstGeom>
        </p:spPr>
      </p:pic>
      <p:sp>
        <p:nvSpPr>
          <p:cNvPr id="7" name="テキスト ボックス 6">
            <a:extLst>
              <a:ext uri="{FF2B5EF4-FFF2-40B4-BE49-F238E27FC236}">
                <a16:creationId xmlns:a16="http://schemas.microsoft.com/office/drawing/2014/main" id="{8EBEB880-D4F8-55A2-047A-D531FF4D020A}"/>
              </a:ext>
            </a:extLst>
          </p:cNvPr>
          <p:cNvSpPr txBox="1"/>
          <p:nvPr/>
        </p:nvSpPr>
        <p:spPr>
          <a:xfrm>
            <a:off x="2932509" y="5016245"/>
            <a:ext cx="3650299" cy="1477328"/>
          </a:xfrm>
          <a:prstGeom prst="rect">
            <a:avLst/>
          </a:prstGeom>
          <a:noFill/>
        </p:spPr>
        <p:txBody>
          <a:bodyPr wrap="square" rtlCol="0">
            <a:spAutoFit/>
          </a:bodyPr>
          <a:lstStyle/>
          <a:p>
            <a:r>
              <a:rPr kumimoji="1" lang="ja-JP" altLang="en-US" dirty="0"/>
              <a:t>←</a:t>
            </a:r>
            <a:r>
              <a:rPr kumimoji="1" lang="en-US" altLang="ja-JP" dirty="0"/>
              <a:t>I</a:t>
            </a:r>
            <a:r>
              <a:rPr lang="en-US" altLang="ja-JP" dirty="0"/>
              <a:t>llustrative diagram. The regulations only apply to the wing in front of the tires, so it is possible to add an extra wing further inside from there.</a:t>
            </a:r>
            <a:endParaRPr kumimoji="1" lang="ja-JP" altLang="en-US" dirty="0"/>
          </a:p>
        </p:txBody>
      </p:sp>
      <p:sp>
        <p:nvSpPr>
          <p:cNvPr id="8" name="正方形/長方形 7">
            <a:extLst>
              <a:ext uri="{FF2B5EF4-FFF2-40B4-BE49-F238E27FC236}">
                <a16:creationId xmlns:a16="http://schemas.microsoft.com/office/drawing/2014/main" id="{9985D7F9-66A8-FF00-ED12-AF9E77484DDA}"/>
              </a:ext>
            </a:extLst>
          </p:cNvPr>
          <p:cNvSpPr/>
          <p:nvPr/>
        </p:nvSpPr>
        <p:spPr>
          <a:xfrm>
            <a:off x="6763186" y="1346309"/>
            <a:ext cx="5274736" cy="5092523"/>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9CE53DC-3239-4751-5CBB-F6033A6EF507}"/>
              </a:ext>
            </a:extLst>
          </p:cNvPr>
          <p:cNvSpPr txBox="1"/>
          <p:nvPr/>
        </p:nvSpPr>
        <p:spPr>
          <a:xfrm>
            <a:off x="6816858" y="1346309"/>
            <a:ext cx="5274736" cy="3416320"/>
          </a:xfrm>
          <a:prstGeom prst="rect">
            <a:avLst/>
          </a:prstGeom>
          <a:noFill/>
        </p:spPr>
        <p:txBody>
          <a:bodyPr wrap="square" rtlCol="0">
            <a:spAutoFit/>
          </a:bodyPr>
          <a:lstStyle/>
          <a:p>
            <a:r>
              <a:rPr lang="en-US" altLang="ja-JP" dirty="0"/>
              <a:t>For the analysis, 2D and 3D analyses were performed using Ansys, and </a:t>
            </a:r>
            <a:r>
              <a:rPr lang="en-US" altLang="ja-JP" dirty="0" err="1"/>
              <a:t>Df</a:t>
            </a:r>
            <a:r>
              <a:rPr lang="en-US" altLang="ja-JP" dirty="0"/>
              <a:t> and drag values ​​were measured under conditions of a span length of 1m and a wind speed of 11m/s. Based on these values, the wing position was determined by repeatedly performing analyses, aiming to achieve a </a:t>
            </a:r>
            <a:r>
              <a:rPr lang="en-US" altLang="ja-JP" dirty="0" err="1"/>
              <a:t>Df</a:t>
            </a:r>
            <a:r>
              <a:rPr lang="en-US" altLang="ja-JP" dirty="0"/>
              <a:t> value of 130N while minimizing the drag value as much as </a:t>
            </a:r>
            <a:r>
              <a:rPr lang="en-US" altLang="ja-JP" dirty="0" err="1"/>
              <a:t>possible.In</a:t>
            </a:r>
            <a:r>
              <a:rPr lang="en-US" altLang="ja-JP" dirty="0"/>
              <a:t> addition, for the 3D analysis, the airflow around the wing was observed using SolidWorks' </a:t>
            </a:r>
            <a:r>
              <a:rPr lang="en-US" altLang="ja-JP" dirty="0" err="1"/>
              <a:t>FlowSimulation</a:t>
            </a:r>
            <a:r>
              <a:rPr lang="en-US" altLang="ja-JP" dirty="0"/>
              <a:t> function, separate from Ansys.</a:t>
            </a:r>
            <a:endParaRPr lang="en-US" altLang="ja-JP" dirty="0">
              <a:latin typeface="游ゴシック" panose="020B0400000000000000" pitchFamily="50" charset="-128"/>
            </a:endParaRPr>
          </a:p>
        </p:txBody>
      </p:sp>
      <p:pic>
        <p:nvPicPr>
          <p:cNvPr id="11" name="図 10">
            <a:extLst>
              <a:ext uri="{FF2B5EF4-FFF2-40B4-BE49-F238E27FC236}">
                <a16:creationId xmlns:a16="http://schemas.microsoft.com/office/drawing/2014/main" id="{511F5FDB-9ACC-8E70-9F8E-58FC803ACD4B}"/>
              </a:ext>
            </a:extLst>
          </p:cNvPr>
          <p:cNvPicPr>
            <a:picLocks noChangeAspect="1"/>
          </p:cNvPicPr>
          <p:nvPr/>
        </p:nvPicPr>
        <p:blipFill>
          <a:blip r:embed="rId4"/>
          <a:stretch>
            <a:fillRect/>
          </a:stretch>
        </p:blipFill>
        <p:spPr>
          <a:xfrm>
            <a:off x="10016142" y="4762629"/>
            <a:ext cx="1848716" cy="1347824"/>
          </a:xfrm>
          <a:prstGeom prst="rect">
            <a:avLst/>
          </a:prstGeom>
        </p:spPr>
      </p:pic>
    </p:spTree>
    <p:extLst>
      <p:ext uri="{BB962C8B-B14F-4D97-AF65-F5344CB8AC3E}">
        <p14:creationId xmlns:p14="http://schemas.microsoft.com/office/powerpoint/2010/main" val="1164847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0D541-7889-EE21-88CB-8751BD368F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2FA6E5-3B01-8DF5-A1EE-0EA5D16FFDCF}"/>
              </a:ext>
            </a:extLst>
          </p:cNvPr>
          <p:cNvSpPr>
            <a:spLocks noGrp="1"/>
          </p:cNvSpPr>
          <p:nvPr>
            <p:ph type="title"/>
          </p:nvPr>
        </p:nvSpPr>
        <p:spPr/>
        <p:txBody>
          <a:bodyPr/>
          <a:lstStyle/>
          <a:p>
            <a:r>
              <a:rPr lang="en-US" altLang="en-US" dirty="0"/>
              <a:t>Aerodynamics</a:t>
            </a:r>
            <a:endParaRPr kumimoji="1" lang="ja-JP" altLang="en-US" dirty="0"/>
          </a:p>
        </p:txBody>
      </p:sp>
      <p:pic>
        <p:nvPicPr>
          <p:cNvPr id="4" name="図 3" descr="グラフ が含まれている画像&#10;&#10;AI 生成コンテンツは誤りを含む可能性があります。">
            <a:extLst>
              <a:ext uri="{FF2B5EF4-FFF2-40B4-BE49-F238E27FC236}">
                <a16:creationId xmlns:a16="http://schemas.microsoft.com/office/drawing/2014/main" id="{66A53E16-2FBF-D546-765F-5E0BAE1F6DE6}"/>
              </a:ext>
            </a:extLst>
          </p:cNvPr>
          <p:cNvPicPr>
            <a:picLocks noChangeAspect="1"/>
          </p:cNvPicPr>
          <p:nvPr/>
        </p:nvPicPr>
        <p:blipFill>
          <a:blip r:embed="rId2"/>
          <a:stretch>
            <a:fillRect/>
          </a:stretch>
        </p:blipFill>
        <p:spPr>
          <a:xfrm>
            <a:off x="7303182" y="1256391"/>
            <a:ext cx="4853482" cy="1693594"/>
          </a:xfrm>
          <a:prstGeom prst="rect">
            <a:avLst/>
          </a:prstGeom>
        </p:spPr>
      </p:pic>
      <p:pic>
        <p:nvPicPr>
          <p:cNvPr id="5" name="図 4" descr="ダイアグラム&#10;&#10;AI 生成コンテンツは誤りを含む可能性があります。">
            <a:extLst>
              <a:ext uri="{FF2B5EF4-FFF2-40B4-BE49-F238E27FC236}">
                <a16:creationId xmlns:a16="http://schemas.microsoft.com/office/drawing/2014/main" id="{51B321C8-912B-5304-FE8E-026610AAC5FA}"/>
              </a:ext>
            </a:extLst>
          </p:cNvPr>
          <p:cNvPicPr>
            <a:picLocks noChangeAspect="1"/>
          </p:cNvPicPr>
          <p:nvPr/>
        </p:nvPicPr>
        <p:blipFill>
          <a:blip r:embed="rId3"/>
          <a:stretch>
            <a:fillRect/>
          </a:stretch>
        </p:blipFill>
        <p:spPr>
          <a:xfrm>
            <a:off x="3277967" y="1278233"/>
            <a:ext cx="3970738" cy="1712773"/>
          </a:xfrm>
          <a:prstGeom prst="rect">
            <a:avLst/>
          </a:prstGeom>
        </p:spPr>
      </p:pic>
      <p:pic>
        <p:nvPicPr>
          <p:cNvPr id="6" name="図 5">
            <a:extLst>
              <a:ext uri="{FF2B5EF4-FFF2-40B4-BE49-F238E27FC236}">
                <a16:creationId xmlns:a16="http://schemas.microsoft.com/office/drawing/2014/main" id="{A10C68AE-8FAA-774D-D474-64F60F29AB84}"/>
              </a:ext>
            </a:extLst>
          </p:cNvPr>
          <p:cNvPicPr>
            <a:picLocks noChangeAspect="1"/>
          </p:cNvPicPr>
          <p:nvPr/>
        </p:nvPicPr>
        <p:blipFill>
          <a:blip r:embed="rId4"/>
          <a:stretch>
            <a:fillRect/>
          </a:stretch>
        </p:blipFill>
        <p:spPr>
          <a:xfrm>
            <a:off x="0" y="1256391"/>
            <a:ext cx="3223491" cy="2172609"/>
          </a:xfrm>
          <a:prstGeom prst="rect">
            <a:avLst/>
          </a:prstGeom>
        </p:spPr>
      </p:pic>
      <p:sp>
        <p:nvSpPr>
          <p:cNvPr id="7" name="正方形/長方形 6">
            <a:extLst>
              <a:ext uri="{FF2B5EF4-FFF2-40B4-BE49-F238E27FC236}">
                <a16:creationId xmlns:a16="http://schemas.microsoft.com/office/drawing/2014/main" id="{51AC0D2F-FB2E-159D-FC8E-133E3AE502C9}"/>
              </a:ext>
            </a:extLst>
          </p:cNvPr>
          <p:cNvSpPr/>
          <p:nvPr/>
        </p:nvSpPr>
        <p:spPr>
          <a:xfrm>
            <a:off x="146859" y="3850469"/>
            <a:ext cx="6880565" cy="1769163"/>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610844B-33DF-8646-6BDD-68DA5B82022B}"/>
              </a:ext>
            </a:extLst>
          </p:cNvPr>
          <p:cNvSpPr txBox="1"/>
          <p:nvPr/>
        </p:nvSpPr>
        <p:spPr>
          <a:xfrm>
            <a:off x="3856241" y="3032177"/>
            <a:ext cx="2911374" cy="369332"/>
          </a:xfrm>
          <a:prstGeom prst="rect">
            <a:avLst/>
          </a:prstGeom>
          <a:noFill/>
        </p:spPr>
        <p:txBody>
          <a:bodyPr wrap="none" rtlCol="0">
            <a:spAutoFit/>
          </a:bodyPr>
          <a:lstStyle/>
          <a:p>
            <a:r>
              <a:rPr lang="en-US" altLang="ja-JP" dirty="0" err="1">
                <a:ea typeface="ＭＳ Ｐゴシック" panose="020B0600070205080204" pitchFamily="50" charset="-128"/>
              </a:rPr>
              <a:t>Df</a:t>
            </a:r>
            <a:r>
              <a:rPr lang="ja-JP" altLang="en-US" dirty="0">
                <a:ea typeface="ＭＳ Ｐゴシック" panose="020B0600070205080204" pitchFamily="50" charset="-128"/>
              </a:rPr>
              <a:t>：</a:t>
            </a:r>
            <a:r>
              <a:rPr lang="en-US" altLang="ja-JP" dirty="0">
                <a:ea typeface="ＭＳ Ｐゴシック" panose="020B0600070205080204" pitchFamily="50" charset="-128"/>
              </a:rPr>
              <a:t>129.08N</a:t>
            </a:r>
            <a:r>
              <a:rPr lang="ja-JP" altLang="en-US" dirty="0">
                <a:ea typeface="ＭＳ Ｐゴシック" panose="020B0600070205080204" pitchFamily="50" charset="-128"/>
              </a:rPr>
              <a:t>　</a:t>
            </a:r>
            <a:r>
              <a:rPr lang="en-US" altLang="ja-JP" dirty="0">
                <a:ea typeface="ＭＳ Ｐゴシック" panose="020B0600070205080204" pitchFamily="50" charset="-128"/>
              </a:rPr>
              <a:t>drag</a:t>
            </a:r>
            <a:r>
              <a:rPr lang="ja-JP" altLang="en-US" dirty="0">
                <a:ea typeface="ＭＳ Ｐゴシック" panose="020B0600070205080204" pitchFamily="50" charset="-128"/>
              </a:rPr>
              <a:t>：</a:t>
            </a:r>
            <a:r>
              <a:rPr lang="en-US" altLang="ja-JP" dirty="0">
                <a:ea typeface="ＭＳ Ｐゴシック" panose="020B0600070205080204" pitchFamily="50" charset="-128"/>
              </a:rPr>
              <a:t>23.00N</a:t>
            </a:r>
          </a:p>
        </p:txBody>
      </p:sp>
      <p:sp>
        <p:nvSpPr>
          <p:cNvPr id="9" name="正方形/長方形 8">
            <a:extLst>
              <a:ext uri="{FF2B5EF4-FFF2-40B4-BE49-F238E27FC236}">
                <a16:creationId xmlns:a16="http://schemas.microsoft.com/office/drawing/2014/main" id="{080D230C-0703-3AB4-6B7F-9D28011E23F0}"/>
              </a:ext>
            </a:extLst>
          </p:cNvPr>
          <p:cNvSpPr/>
          <p:nvPr/>
        </p:nvSpPr>
        <p:spPr>
          <a:xfrm>
            <a:off x="3302463" y="1278232"/>
            <a:ext cx="3946242" cy="21507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0" name="正方形/長方形 9">
            <a:extLst>
              <a:ext uri="{FF2B5EF4-FFF2-40B4-BE49-F238E27FC236}">
                <a16:creationId xmlns:a16="http://schemas.microsoft.com/office/drawing/2014/main" id="{BB45CF5B-3B6D-BCFC-0C54-32433BEC6E7A}"/>
              </a:ext>
            </a:extLst>
          </p:cNvPr>
          <p:cNvSpPr/>
          <p:nvPr/>
        </p:nvSpPr>
        <p:spPr>
          <a:xfrm>
            <a:off x="7303182" y="1278233"/>
            <a:ext cx="4853482" cy="2150766"/>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46FC812-5EC9-9065-0835-B95821C66F33}"/>
              </a:ext>
            </a:extLst>
          </p:cNvPr>
          <p:cNvSpPr txBox="1"/>
          <p:nvPr/>
        </p:nvSpPr>
        <p:spPr>
          <a:xfrm>
            <a:off x="8416903" y="3004826"/>
            <a:ext cx="2911374" cy="369332"/>
          </a:xfrm>
          <a:prstGeom prst="rect">
            <a:avLst/>
          </a:prstGeom>
          <a:noFill/>
        </p:spPr>
        <p:txBody>
          <a:bodyPr wrap="none" rtlCol="0">
            <a:spAutoFit/>
          </a:bodyPr>
          <a:lstStyle/>
          <a:p>
            <a:r>
              <a:rPr lang="en-US" altLang="ja-JP" dirty="0" err="1">
                <a:ea typeface="ＭＳ Ｐゴシック" panose="020B0600070205080204" pitchFamily="50" charset="-128"/>
              </a:rPr>
              <a:t>Df</a:t>
            </a:r>
            <a:r>
              <a:rPr lang="ja-JP" altLang="en-US" dirty="0">
                <a:ea typeface="ＭＳ Ｐゴシック" panose="020B0600070205080204" pitchFamily="50" charset="-128"/>
              </a:rPr>
              <a:t>：</a:t>
            </a:r>
            <a:r>
              <a:rPr lang="en-US" altLang="ja-JP" dirty="0">
                <a:ea typeface="ＭＳ Ｐゴシック" panose="020B0600070205080204" pitchFamily="50" charset="-128"/>
              </a:rPr>
              <a:t>110.76N</a:t>
            </a:r>
            <a:r>
              <a:rPr lang="ja-JP" altLang="en-US" dirty="0">
                <a:ea typeface="ＭＳ Ｐゴシック" panose="020B0600070205080204" pitchFamily="50" charset="-128"/>
              </a:rPr>
              <a:t>　</a:t>
            </a:r>
            <a:r>
              <a:rPr lang="en-US" altLang="ja-JP" dirty="0">
                <a:ea typeface="ＭＳ Ｐゴシック" panose="020B0600070205080204" pitchFamily="50" charset="-128"/>
              </a:rPr>
              <a:t>drag</a:t>
            </a:r>
            <a:r>
              <a:rPr lang="ja-JP" altLang="en-US" dirty="0">
                <a:ea typeface="ＭＳ Ｐゴシック" panose="020B0600070205080204" pitchFamily="50" charset="-128"/>
              </a:rPr>
              <a:t>：</a:t>
            </a:r>
            <a:r>
              <a:rPr lang="en-US" altLang="ja-JP" dirty="0">
                <a:ea typeface="ＭＳ Ｐゴシック" panose="020B0600070205080204" pitchFamily="50" charset="-128"/>
              </a:rPr>
              <a:t>20.83N</a:t>
            </a:r>
          </a:p>
        </p:txBody>
      </p:sp>
      <p:sp>
        <p:nvSpPr>
          <p:cNvPr id="12" name="テキスト ボックス 11">
            <a:extLst>
              <a:ext uri="{FF2B5EF4-FFF2-40B4-BE49-F238E27FC236}">
                <a16:creationId xmlns:a16="http://schemas.microsoft.com/office/drawing/2014/main" id="{5C3C08F4-0FB1-56BC-A6DC-0BC0DAA094CF}"/>
              </a:ext>
            </a:extLst>
          </p:cNvPr>
          <p:cNvSpPr txBox="1"/>
          <p:nvPr/>
        </p:nvSpPr>
        <p:spPr>
          <a:xfrm>
            <a:off x="3321315" y="3021629"/>
            <a:ext cx="415498" cy="369332"/>
          </a:xfrm>
          <a:prstGeom prst="rect">
            <a:avLst/>
          </a:prstGeom>
          <a:noFill/>
        </p:spPr>
        <p:txBody>
          <a:bodyPr wrap="none" rtlCol="0">
            <a:spAutoFit/>
          </a:bodyPr>
          <a:lstStyle/>
          <a:p>
            <a:r>
              <a:rPr kumimoji="1" lang="ja-JP" altLang="en-US" dirty="0">
                <a:solidFill>
                  <a:srgbClr val="FF0000"/>
                </a:solidFill>
              </a:rPr>
              <a:t>➀</a:t>
            </a:r>
          </a:p>
        </p:txBody>
      </p:sp>
      <p:sp>
        <p:nvSpPr>
          <p:cNvPr id="13" name="テキスト ボックス 12">
            <a:extLst>
              <a:ext uri="{FF2B5EF4-FFF2-40B4-BE49-F238E27FC236}">
                <a16:creationId xmlns:a16="http://schemas.microsoft.com/office/drawing/2014/main" id="{65CE901F-D25C-9733-15D9-00168D0F57E3}"/>
              </a:ext>
            </a:extLst>
          </p:cNvPr>
          <p:cNvSpPr txBox="1"/>
          <p:nvPr/>
        </p:nvSpPr>
        <p:spPr>
          <a:xfrm>
            <a:off x="148391" y="2958740"/>
            <a:ext cx="415498" cy="369332"/>
          </a:xfrm>
          <a:prstGeom prst="rect">
            <a:avLst/>
          </a:prstGeom>
          <a:noFill/>
        </p:spPr>
        <p:txBody>
          <a:bodyPr wrap="none" rtlCol="0">
            <a:spAutoFit/>
          </a:bodyPr>
          <a:lstStyle/>
          <a:p>
            <a:r>
              <a:rPr kumimoji="1" lang="ja-JP" altLang="en-US" dirty="0">
                <a:solidFill>
                  <a:srgbClr val="00B0F0"/>
                </a:solidFill>
              </a:rPr>
              <a:t>②</a:t>
            </a:r>
          </a:p>
        </p:txBody>
      </p:sp>
      <p:sp>
        <p:nvSpPr>
          <p:cNvPr id="14" name="テキスト ボックス 13">
            <a:extLst>
              <a:ext uri="{FF2B5EF4-FFF2-40B4-BE49-F238E27FC236}">
                <a16:creationId xmlns:a16="http://schemas.microsoft.com/office/drawing/2014/main" id="{BF5B52F0-5620-F8B0-B0DD-1A0F1884DB29}"/>
              </a:ext>
            </a:extLst>
          </p:cNvPr>
          <p:cNvSpPr txBox="1"/>
          <p:nvPr/>
        </p:nvSpPr>
        <p:spPr>
          <a:xfrm>
            <a:off x="7324475" y="2997841"/>
            <a:ext cx="415498" cy="369332"/>
          </a:xfrm>
          <a:prstGeom prst="rect">
            <a:avLst/>
          </a:prstGeom>
          <a:noFill/>
        </p:spPr>
        <p:txBody>
          <a:bodyPr wrap="none" rtlCol="0">
            <a:spAutoFit/>
          </a:bodyPr>
          <a:lstStyle/>
          <a:p>
            <a:r>
              <a:rPr kumimoji="1" lang="ja-JP" altLang="en-US" dirty="0">
                <a:solidFill>
                  <a:srgbClr val="00B0F0"/>
                </a:solidFill>
              </a:rPr>
              <a:t>②</a:t>
            </a:r>
          </a:p>
        </p:txBody>
      </p:sp>
      <p:sp>
        <p:nvSpPr>
          <p:cNvPr id="15" name="テキスト ボックス 14">
            <a:extLst>
              <a:ext uri="{FF2B5EF4-FFF2-40B4-BE49-F238E27FC236}">
                <a16:creationId xmlns:a16="http://schemas.microsoft.com/office/drawing/2014/main" id="{17EFC336-8FDE-8B8E-2FE7-B21B492D5D3E}"/>
              </a:ext>
            </a:extLst>
          </p:cNvPr>
          <p:cNvSpPr txBox="1"/>
          <p:nvPr/>
        </p:nvSpPr>
        <p:spPr>
          <a:xfrm>
            <a:off x="2071173" y="1278232"/>
            <a:ext cx="415498" cy="369332"/>
          </a:xfrm>
          <a:prstGeom prst="rect">
            <a:avLst/>
          </a:prstGeom>
          <a:noFill/>
        </p:spPr>
        <p:txBody>
          <a:bodyPr wrap="none" rtlCol="0">
            <a:spAutoFit/>
          </a:bodyPr>
          <a:lstStyle/>
          <a:p>
            <a:r>
              <a:rPr kumimoji="1" lang="ja-JP" altLang="en-US" dirty="0">
                <a:solidFill>
                  <a:srgbClr val="FF0000"/>
                </a:solidFill>
              </a:rPr>
              <a:t>➀</a:t>
            </a:r>
          </a:p>
        </p:txBody>
      </p:sp>
      <p:cxnSp>
        <p:nvCxnSpPr>
          <p:cNvPr id="20" name="直線矢印コネクタ 19">
            <a:extLst>
              <a:ext uri="{FF2B5EF4-FFF2-40B4-BE49-F238E27FC236}">
                <a16:creationId xmlns:a16="http://schemas.microsoft.com/office/drawing/2014/main" id="{85FDF5E0-47F5-5D7F-DFC5-2AC4BA002F92}"/>
              </a:ext>
            </a:extLst>
          </p:cNvPr>
          <p:cNvCxnSpPr>
            <a:cxnSpLocks/>
          </p:cNvCxnSpPr>
          <p:nvPr/>
        </p:nvCxnSpPr>
        <p:spPr>
          <a:xfrm flipH="1">
            <a:off x="1288620" y="1587500"/>
            <a:ext cx="828739" cy="3926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直線矢印コネクタ 21">
            <a:extLst>
              <a:ext uri="{FF2B5EF4-FFF2-40B4-BE49-F238E27FC236}">
                <a16:creationId xmlns:a16="http://schemas.microsoft.com/office/drawing/2014/main" id="{BC27CD98-0953-F42D-93A7-61DD6D509AEC}"/>
              </a:ext>
            </a:extLst>
          </p:cNvPr>
          <p:cNvCxnSpPr>
            <a:cxnSpLocks/>
            <a:stCxn id="15" idx="2"/>
          </p:cNvCxnSpPr>
          <p:nvPr/>
        </p:nvCxnSpPr>
        <p:spPr>
          <a:xfrm>
            <a:off x="2278922" y="1647564"/>
            <a:ext cx="46186" cy="56113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直線矢印コネクタ 22">
            <a:extLst>
              <a:ext uri="{FF2B5EF4-FFF2-40B4-BE49-F238E27FC236}">
                <a16:creationId xmlns:a16="http://schemas.microsoft.com/office/drawing/2014/main" id="{2C48FA33-E980-D0F3-CAC4-A3D07F75116F}"/>
              </a:ext>
            </a:extLst>
          </p:cNvPr>
          <p:cNvCxnSpPr>
            <a:cxnSpLocks/>
            <a:stCxn id="13" idx="0"/>
          </p:cNvCxnSpPr>
          <p:nvPr/>
        </p:nvCxnSpPr>
        <p:spPr>
          <a:xfrm flipV="1">
            <a:off x="356140" y="2504305"/>
            <a:ext cx="232245" cy="454435"/>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直線矢印コネクタ 23">
            <a:extLst>
              <a:ext uri="{FF2B5EF4-FFF2-40B4-BE49-F238E27FC236}">
                <a16:creationId xmlns:a16="http://schemas.microsoft.com/office/drawing/2014/main" id="{5033F292-CCF1-92C9-4DB4-5A54815F8FA7}"/>
              </a:ext>
            </a:extLst>
          </p:cNvPr>
          <p:cNvCxnSpPr>
            <a:cxnSpLocks/>
            <a:stCxn id="13" idx="3"/>
          </p:cNvCxnSpPr>
          <p:nvPr/>
        </p:nvCxnSpPr>
        <p:spPr>
          <a:xfrm flipV="1">
            <a:off x="563889" y="3021629"/>
            <a:ext cx="1811011" cy="121777"/>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77841206-7925-86F6-66D6-48BD03E7B938}"/>
              </a:ext>
            </a:extLst>
          </p:cNvPr>
          <p:cNvSpPr txBox="1"/>
          <p:nvPr/>
        </p:nvSpPr>
        <p:spPr>
          <a:xfrm>
            <a:off x="220761" y="3866500"/>
            <a:ext cx="6738927" cy="1754326"/>
          </a:xfrm>
          <a:prstGeom prst="rect">
            <a:avLst/>
          </a:prstGeom>
          <a:noFill/>
        </p:spPr>
        <p:txBody>
          <a:bodyPr wrap="square" rtlCol="0">
            <a:spAutoFit/>
          </a:bodyPr>
          <a:lstStyle/>
          <a:p>
            <a:r>
              <a:rPr lang="en-US" altLang="ja-JP" dirty="0">
                <a:latin typeface="+mn-ea"/>
              </a:rPr>
              <a:t>The airfoil is basically the s1223, which can generate a large downforce at a low Reynolds number. Only the first wing in front of the tire (①) and the inner wing (②) was changed to the e423 (which is not specialized for ground effect, but is excellent in general aerodynamic performance, such as preventing an increase in drag).</a:t>
            </a:r>
            <a:endParaRPr lang="en-US" altLang="ja-JP" dirty="0">
              <a:latin typeface="ＭＳ Ｐゴシック" panose="020B0600070205080204" pitchFamily="50" charset="-128"/>
              <a:ea typeface="ＭＳ Ｐゴシック" panose="020B0600070205080204" pitchFamily="50" charset="-128"/>
            </a:endParaRPr>
          </a:p>
        </p:txBody>
      </p:sp>
      <p:sp>
        <p:nvSpPr>
          <p:cNvPr id="37" name="テキスト ボックス 36">
            <a:extLst>
              <a:ext uri="{FF2B5EF4-FFF2-40B4-BE49-F238E27FC236}">
                <a16:creationId xmlns:a16="http://schemas.microsoft.com/office/drawing/2014/main" id="{20669227-0F67-1727-A4BF-8775AF8264A7}"/>
              </a:ext>
            </a:extLst>
          </p:cNvPr>
          <p:cNvSpPr txBox="1"/>
          <p:nvPr/>
        </p:nvSpPr>
        <p:spPr>
          <a:xfrm>
            <a:off x="1084998" y="3421200"/>
            <a:ext cx="1053494" cy="369332"/>
          </a:xfrm>
          <a:prstGeom prst="rect">
            <a:avLst/>
          </a:prstGeom>
          <a:noFill/>
        </p:spPr>
        <p:txBody>
          <a:bodyPr wrap="none" rtlCol="0">
            <a:spAutoFit/>
          </a:bodyPr>
          <a:lstStyle/>
          <a:p>
            <a:r>
              <a:rPr lang="en-US" altLang="ja-JP" dirty="0"/>
              <a:t>Figure</a:t>
            </a:r>
            <a:r>
              <a:rPr lang="ja-JP" altLang="en-US" dirty="0"/>
              <a:t> </a:t>
            </a:r>
            <a:r>
              <a:rPr kumimoji="1" lang="en-US" altLang="ja-JP" dirty="0"/>
              <a:t>1</a:t>
            </a:r>
            <a:endParaRPr kumimoji="1" lang="ja-JP" altLang="en-US" dirty="0"/>
          </a:p>
        </p:txBody>
      </p:sp>
      <p:sp>
        <p:nvSpPr>
          <p:cNvPr id="38" name="テキスト ボックス 37">
            <a:extLst>
              <a:ext uri="{FF2B5EF4-FFF2-40B4-BE49-F238E27FC236}">
                <a16:creationId xmlns:a16="http://schemas.microsoft.com/office/drawing/2014/main" id="{EE9255F8-FF33-7D0D-5E90-08D352928D7B}"/>
              </a:ext>
            </a:extLst>
          </p:cNvPr>
          <p:cNvSpPr txBox="1"/>
          <p:nvPr/>
        </p:nvSpPr>
        <p:spPr>
          <a:xfrm>
            <a:off x="4745706" y="3412475"/>
            <a:ext cx="1053494" cy="369332"/>
          </a:xfrm>
          <a:prstGeom prst="rect">
            <a:avLst/>
          </a:prstGeom>
          <a:noFill/>
        </p:spPr>
        <p:txBody>
          <a:bodyPr wrap="none" rtlCol="0">
            <a:spAutoFit/>
          </a:bodyPr>
          <a:lstStyle/>
          <a:p>
            <a:r>
              <a:rPr lang="en-US" altLang="ja-JP" dirty="0"/>
              <a:t>Figure</a:t>
            </a:r>
            <a:r>
              <a:rPr lang="ja-JP" altLang="en-US" dirty="0"/>
              <a:t> </a:t>
            </a:r>
            <a:r>
              <a:rPr lang="en-US" altLang="ja-JP" dirty="0"/>
              <a:t>2</a:t>
            </a:r>
            <a:endParaRPr kumimoji="1" lang="ja-JP" altLang="en-US" dirty="0"/>
          </a:p>
        </p:txBody>
      </p:sp>
      <p:sp>
        <p:nvSpPr>
          <p:cNvPr id="39" name="テキスト ボックス 38">
            <a:extLst>
              <a:ext uri="{FF2B5EF4-FFF2-40B4-BE49-F238E27FC236}">
                <a16:creationId xmlns:a16="http://schemas.microsoft.com/office/drawing/2014/main" id="{797672BA-C332-6061-BB16-1E35A2C8016B}"/>
              </a:ext>
            </a:extLst>
          </p:cNvPr>
          <p:cNvSpPr txBox="1"/>
          <p:nvPr/>
        </p:nvSpPr>
        <p:spPr>
          <a:xfrm>
            <a:off x="9203176" y="3403986"/>
            <a:ext cx="1053494" cy="369332"/>
          </a:xfrm>
          <a:prstGeom prst="rect">
            <a:avLst/>
          </a:prstGeom>
          <a:noFill/>
        </p:spPr>
        <p:txBody>
          <a:bodyPr wrap="none" rtlCol="0">
            <a:spAutoFit/>
          </a:bodyPr>
          <a:lstStyle/>
          <a:p>
            <a:r>
              <a:rPr lang="en-US" altLang="ja-JP" dirty="0"/>
              <a:t>Figure</a:t>
            </a:r>
            <a:r>
              <a:rPr lang="ja-JP" altLang="en-US" dirty="0"/>
              <a:t> </a:t>
            </a:r>
            <a:r>
              <a:rPr lang="en-US" altLang="ja-JP" dirty="0"/>
              <a:t>3</a:t>
            </a:r>
            <a:endParaRPr kumimoji="1" lang="ja-JP" altLang="en-US" dirty="0"/>
          </a:p>
        </p:txBody>
      </p:sp>
      <p:sp>
        <p:nvSpPr>
          <p:cNvPr id="41" name="テキスト ボックス 40">
            <a:extLst>
              <a:ext uri="{FF2B5EF4-FFF2-40B4-BE49-F238E27FC236}">
                <a16:creationId xmlns:a16="http://schemas.microsoft.com/office/drawing/2014/main" id="{54DBFB6C-BC04-0C95-4FC3-E759E2039AA8}"/>
              </a:ext>
            </a:extLst>
          </p:cNvPr>
          <p:cNvSpPr txBox="1"/>
          <p:nvPr/>
        </p:nvSpPr>
        <p:spPr>
          <a:xfrm>
            <a:off x="7186746" y="4668796"/>
            <a:ext cx="4969918" cy="923330"/>
          </a:xfrm>
          <a:prstGeom prst="rect">
            <a:avLst/>
          </a:prstGeom>
          <a:noFill/>
        </p:spPr>
        <p:txBody>
          <a:bodyPr wrap="square" rtlCol="0">
            <a:spAutoFit/>
          </a:bodyPr>
          <a:lstStyle/>
          <a:p>
            <a:r>
              <a:rPr lang="en-US" altLang="ja-JP" dirty="0">
                <a:latin typeface="+mn-ea"/>
              </a:rPr>
              <a:t>Adjust the positions based on the </a:t>
            </a:r>
            <a:r>
              <a:rPr lang="en-US" altLang="ja-JP" dirty="0" err="1">
                <a:latin typeface="+mn-ea"/>
              </a:rPr>
              <a:t>Df</a:t>
            </a:r>
            <a:r>
              <a:rPr lang="en-US" altLang="ja-JP" dirty="0">
                <a:latin typeface="+mn-ea"/>
              </a:rPr>
              <a:t> and drag values ​​obtained from the analysis. The final positions are shown in the table above. </a:t>
            </a:r>
          </a:p>
        </p:txBody>
      </p:sp>
      <p:sp>
        <p:nvSpPr>
          <p:cNvPr id="42" name="正方形/長方形 41">
            <a:extLst>
              <a:ext uri="{FF2B5EF4-FFF2-40B4-BE49-F238E27FC236}">
                <a16:creationId xmlns:a16="http://schemas.microsoft.com/office/drawing/2014/main" id="{28048FCF-C88D-C945-9848-90D1614A4242}"/>
              </a:ext>
            </a:extLst>
          </p:cNvPr>
          <p:cNvSpPr/>
          <p:nvPr/>
        </p:nvSpPr>
        <p:spPr>
          <a:xfrm>
            <a:off x="7186746" y="3845463"/>
            <a:ext cx="4853482" cy="1769163"/>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6FD8D235-2F53-74FC-6CEA-302D48321C6E}"/>
              </a:ext>
            </a:extLst>
          </p:cNvPr>
          <p:cNvSpPr/>
          <p:nvPr/>
        </p:nvSpPr>
        <p:spPr>
          <a:xfrm>
            <a:off x="7186746" y="3845463"/>
            <a:ext cx="4853482" cy="824367"/>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D959E64F-8B97-79DE-4DDA-0A5206837B75}"/>
              </a:ext>
            </a:extLst>
          </p:cNvPr>
          <p:cNvSpPr txBox="1"/>
          <p:nvPr/>
        </p:nvSpPr>
        <p:spPr>
          <a:xfrm>
            <a:off x="158784" y="5657671"/>
            <a:ext cx="6880565" cy="923330"/>
          </a:xfrm>
          <a:prstGeom prst="rect">
            <a:avLst/>
          </a:prstGeom>
          <a:noFill/>
        </p:spPr>
        <p:txBody>
          <a:bodyPr wrap="square" rtlCol="0">
            <a:spAutoFit/>
          </a:bodyPr>
          <a:lstStyle/>
          <a:p>
            <a:r>
              <a:rPr lang="en-US" altLang="ja-JP" dirty="0">
                <a:latin typeface="+mn-ea"/>
              </a:rPr>
              <a:t>As shown in Figure 1, strength is ensured by adding ribs to the inside. In addition, the part under the FB is constructed of a flat plate to avoid frame during a collision..</a:t>
            </a:r>
            <a:endParaRPr kumimoji="1" lang="ja-JP" altLang="en-US" dirty="0">
              <a:latin typeface="+mn-ea"/>
            </a:endParaRPr>
          </a:p>
        </p:txBody>
      </p:sp>
      <p:sp>
        <p:nvSpPr>
          <p:cNvPr id="46" name="正方形/長方形 45">
            <a:extLst>
              <a:ext uri="{FF2B5EF4-FFF2-40B4-BE49-F238E27FC236}">
                <a16:creationId xmlns:a16="http://schemas.microsoft.com/office/drawing/2014/main" id="{0CB72FD9-F589-155E-81F2-A6EC64D01DB6}"/>
              </a:ext>
            </a:extLst>
          </p:cNvPr>
          <p:cNvSpPr/>
          <p:nvPr/>
        </p:nvSpPr>
        <p:spPr>
          <a:xfrm>
            <a:off x="146858" y="5720122"/>
            <a:ext cx="6880565" cy="828519"/>
          </a:xfrm>
          <a:prstGeom prst="rect">
            <a:avLst/>
          </a:prstGeom>
          <a:noFill/>
          <a:ln>
            <a:solidFill>
              <a:srgbClr val="436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FAD3B7EC-3AAA-9EE2-1AC4-2F7742D5A59A}"/>
              </a:ext>
            </a:extLst>
          </p:cNvPr>
          <p:cNvSpPr txBox="1"/>
          <p:nvPr/>
        </p:nvSpPr>
        <p:spPr>
          <a:xfrm>
            <a:off x="7208654" y="5672715"/>
            <a:ext cx="4782942" cy="923330"/>
          </a:xfrm>
          <a:prstGeom prst="rect">
            <a:avLst/>
          </a:prstGeom>
          <a:noFill/>
        </p:spPr>
        <p:txBody>
          <a:bodyPr wrap="square" rtlCol="0">
            <a:spAutoFit/>
          </a:bodyPr>
          <a:lstStyle/>
          <a:p>
            <a:r>
              <a:rPr lang="en-US" altLang="ja-JP" dirty="0"/>
              <a:t>Under the conditions of a span length of 1m and a wind speed of 11m/s,</a:t>
            </a:r>
          </a:p>
          <a:p>
            <a:r>
              <a:rPr lang="en-US" altLang="ja-JP" dirty="0" err="1"/>
              <a:t>Df</a:t>
            </a:r>
            <a:r>
              <a:rPr lang="en-US" altLang="ja-JP" dirty="0"/>
              <a:t>: -122.N, drag: </a:t>
            </a:r>
            <a:r>
              <a:rPr lang="en" altLang="ja-JP" dirty="0"/>
              <a:t>23.7183 </a:t>
            </a:r>
            <a:r>
              <a:rPr lang="en-US" altLang="ja-JP" dirty="0"/>
              <a:t>N was obtained.</a:t>
            </a:r>
            <a:endParaRPr kumimoji="1" lang="ja-JP" altLang="en-US" dirty="0"/>
          </a:p>
        </p:txBody>
      </p:sp>
      <p:pic>
        <p:nvPicPr>
          <p:cNvPr id="16" name="図 15">
            <a:extLst>
              <a:ext uri="{FF2B5EF4-FFF2-40B4-BE49-F238E27FC236}">
                <a16:creationId xmlns:a16="http://schemas.microsoft.com/office/drawing/2014/main" id="{2CAACE30-EB45-F0EE-9DC7-A60A1EB25003}"/>
              </a:ext>
            </a:extLst>
          </p:cNvPr>
          <p:cNvPicPr preferRelativeResize="0">
            <a:picLocks/>
          </p:cNvPicPr>
          <p:nvPr/>
        </p:nvPicPr>
        <p:blipFill>
          <a:blip r:embed="rId5"/>
          <a:stretch>
            <a:fillRect/>
          </a:stretch>
        </p:blipFill>
        <p:spPr>
          <a:xfrm>
            <a:off x="7196961" y="3848711"/>
            <a:ext cx="4834800" cy="817200"/>
          </a:xfrm>
          <a:prstGeom prst="rect">
            <a:avLst/>
          </a:prstGeom>
        </p:spPr>
      </p:pic>
    </p:spTree>
    <p:extLst>
      <p:ext uri="{BB962C8B-B14F-4D97-AF65-F5344CB8AC3E}">
        <p14:creationId xmlns:p14="http://schemas.microsoft.com/office/powerpoint/2010/main" val="3424177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116AE-BBBE-BD1E-48D1-FA6B439B43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70816C-D6EA-3730-1D17-733F341CD74B}"/>
              </a:ext>
            </a:extLst>
          </p:cNvPr>
          <p:cNvSpPr>
            <a:spLocks noGrp="1"/>
          </p:cNvSpPr>
          <p:nvPr>
            <p:ph type="title"/>
          </p:nvPr>
        </p:nvSpPr>
        <p:spPr/>
        <p:txBody>
          <a:bodyPr/>
          <a:lstStyle/>
          <a:p>
            <a:r>
              <a:rPr lang="en-US" altLang="en-US" dirty="0"/>
              <a:t>Aerodynamics</a:t>
            </a:r>
            <a:endParaRPr kumimoji="1" lang="ja-JP" altLang="en-US" dirty="0"/>
          </a:p>
        </p:txBody>
      </p:sp>
      <p:sp>
        <p:nvSpPr>
          <p:cNvPr id="7" name="テキスト ボックス 6">
            <a:extLst>
              <a:ext uri="{FF2B5EF4-FFF2-40B4-BE49-F238E27FC236}">
                <a16:creationId xmlns:a16="http://schemas.microsoft.com/office/drawing/2014/main" id="{D8515D37-477D-34BF-C48B-46A4797D32FF}"/>
              </a:ext>
            </a:extLst>
          </p:cNvPr>
          <p:cNvSpPr txBox="1"/>
          <p:nvPr/>
        </p:nvSpPr>
        <p:spPr>
          <a:xfrm>
            <a:off x="138228" y="976742"/>
            <a:ext cx="2807855" cy="461665"/>
          </a:xfrm>
          <a:prstGeom prst="rect">
            <a:avLst/>
          </a:prstGeom>
          <a:noFill/>
        </p:spPr>
        <p:txBody>
          <a:bodyPr wrap="square" rtlCol="0">
            <a:spAutoFit/>
          </a:bodyPr>
          <a:lstStyle/>
          <a:p>
            <a:r>
              <a:rPr kumimoji="1" lang="en-US" altLang="ja-JP" sz="2400" b="1" dirty="0">
                <a:latin typeface="游ゴシック" panose="020B0400000000000000" pitchFamily="50" charset="-128"/>
                <a:ea typeface="游ゴシック" panose="020B0400000000000000" pitchFamily="50" charset="-128"/>
              </a:rPr>
              <a:t>Rear Wing</a:t>
            </a:r>
            <a:endParaRPr kumimoji="1" lang="ja-JP" altLang="en-US" sz="2400" b="1" dirty="0">
              <a:latin typeface="游ゴシック" panose="020B0400000000000000" pitchFamily="50" charset="-128"/>
              <a:ea typeface="游ゴシック" panose="020B0400000000000000" pitchFamily="50" charset="-128"/>
            </a:endParaRPr>
          </a:p>
        </p:txBody>
      </p:sp>
      <p:sp>
        <p:nvSpPr>
          <p:cNvPr id="8" name="テキスト ボックス 7">
            <a:extLst>
              <a:ext uri="{FF2B5EF4-FFF2-40B4-BE49-F238E27FC236}">
                <a16:creationId xmlns:a16="http://schemas.microsoft.com/office/drawing/2014/main" id="{8F1BB135-EBF4-BB07-336F-9899F1C83303}"/>
              </a:ext>
            </a:extLst>
          </p:cNvPr>
          <p:cNvSpPr txBox="1"/>
          <p:nvPr/>
        </p:nvSpPr>
        <p:spPr>
          <a:xfrm>
            <a:off x="1856908" y="1034717"/>
            <a:ext cx="4909923" cy="338554"/>
          </a:xfrm>
          <a:prstGeom prst="rect">
            <a:avLst/>
          </a:prstGeom>
          <a:noFill/>
        </p:spPr>
        <p:txBody>
          <a:bodyPr wrap="square" rtlCol="0">
            <a:spAutoFit/>
          </a:bodyPr>
          <a:lstStyle/>
          <a:p>
            <a:r>
              <a:rPr lang="en-US" altLang="ja-JP" sz="1600" dirty="0">
                <a:latin typeface="游ゴシック" panose="020B0400000000000000" pitchFamily="50" charset="-128"/>
                <a:ea typeface="游ゴシック" panose="020B0400000000000000" pitchFamily="50" charset="-128"/>
              </a:rPr>
              <a:t>First, the design process is outlined below.</a:t>
            </a:r>
            <a:endParaRPr kumimoji="1" lang="ja-JP" altLang="en-US" sz="1600" dirty="0">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588D0BA3-C132-51D2-03A7-5F69576DCD83}"/>
              </a:ext>
            </a:extLst>
          </p:cNvPr>
          <p:cNvSpPr txBox="1"/>
          <p:nvPr/>
        </p:nvSpPr>
        <p:spPr>
          <a:xfrm>
            <a:off x="138228" y="1493012"/>
            <a:ext cx="5865409" cy="830997"/>
          </a:xfrm>
          <a:prstGeom prst="rect">
            <a:avLst/>
          </a:prstGeom>
          <a:noFill/>
          <a:ln>
            <a:solidFill>
              <a:srgbClr val="4E95D9"/>
            </a:solidFill>
          </a:ln>
        </p:spPr>
        <p:txBody>
          <a:bodyPr wrap="square" rtlCol="0">
            <a:spAutoFit/>
          </a:bodyPr>
          <a:lstStyle/>
          <a:p>
            <a:r>
              <a:rPr kumimoji="1" lang="ja-JP" altLang="en-US" sz="1600" dirty="0">
                <a:latin typeface="游ゴシック" panose="020B0400000000000000" pitchFamily="50" charset="-128"/>
                <a:ea typeface="游ゴシック" panose="020B0400000000000000" pitchFamily="50" charset="-128"/>
              </a:rPr>
              <a:t>１．</a:t>
            </a:r>
            <a:r>
              <a:rPr lang="en-US" altLang="ja-JP" sz="1600" dirty="0">
                <a:latin typeface="游ゴシック" panose="020B0400000000000000" pitchFamily="50" charset="-128"/>
                <a:ea typeface="游ゴシック" panose="020B0400000000000000" pitchFamily="50" charset="-128"/>
              </a:rPr>
              <a:t>Selection of Airfoil and Determination of Angle of Attack</a:t>
            </a:r>
          </a:p>
          <a:p>
            <a:r>
              <a:rPr lang="ja-JP" altLang="en-US" sz="1600" dirty="0">
                <a:latin typeface="游ゴシック" panose="020B0400000000000000" pitchFamily="50" charset="-128"/>
                <a:ea typeface="游ゴシック" panose="020B0400000000000000" pitchFamily="50" charset="-128"/>
              </a:rPr>
              <a:t>２．</a:t>
            </a:r>
            <a:r>
              <a:rPr lang="en-US" altLang="ja-JP" sz="1600" dirty="0">
                <a:latin typeface="游ゴシック" panose="020B0400000000000000" pitchFamily="50" charset="-128"/>
                <a:ea typeface="游ゴシック" panose="020B0400000000000000" pitchFamily="50" charset="-128"/>
              </a:rPr>
              <a:t> Determining Slot Gaps and Overlaps</a:t>
            </a:r>
          </a:p>
          <a:p>
            <a:r>
              <a:rPr lang="ja-JP" altLang="en-US" sz="1600" dirty="0">
                <a:latin typeface="游ゴシック" panose="020B0400000000000000" pitchFamily="50" charset="-128"/>
                <a:ea typeface="游ゴシック" panose="020B0400000000000000" pitchFamily="50" charset="-128"/>
              </a:rPr>
              <a:t>３．</a:t>
            </a:r>
            <a:r>
              <a:rPr lang="en-US" altLang="ja-JP" sz="1600" dirty="0">
                <a:latin typeface="游ゴシック" panose="020B0400000000000000" pitchFamily="50" charset="-128"/>
                <a:ea typeface="游ゴシック" panose="020B0400000000000000" pitchFamily="50" charset="-128"/>
              </a:rPr>
              <a:t> 3D Modeling</a:t>
            </a:r>
          </a:p>
        </p:txBody>
      </p:sp>
      <p:sp>
        <p:nvSpPr>
          <p:cNvPr id="5" name="四角形: 角を丸くする 4">
            <a:extLst>
              <a:ext uri="{FF2B5EF4-FFF2-40B4-BE49-F238E27FC236}">
                <a16:creationId xmlns:a16="http://schemas.microsoft.com/office/drawing/2014/main" id="{044D7BA9-389B-F0D9-288E-E7603CFC8261}"/>
              </a:ext>
            </a:extLst>
          </p:cNvPr>
          <p:cNvSpPr/>
          <p:nvPr/>
        </p:nvSpPr>
        <p:spPr>
          <a:xfrm>
            <a:off x="30656" y="2551814"/>
            <a:ext cx="6736175" cy="4274473"/>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6F01E3B3-AF0D-BADC-9AB6-ACEA55586F3E}"/>
              </a:ext>
            </a:extLst>
          </p:cNvPr>
          <p:cNvSpPr txBox="1"/>
          <p:nvPr/>
        </p:nvSpPr>
        <p:spPr>
          <a:xfrm>
            <a:off x="192651" y="2652025"/>
            <a:ext cx="6500170" cy="4093428"/>
          </a:xfrm>
          <a:prstGeom prst="rect">
            <a:avLst/>
          </a:prstGeom>
          <a:noFill/>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１</a:t>
            </a:r>
            <a:r>
              <a:rPr lang="en-US" altLang="ja-JP" b="1" dirty="0">
                <a:latin typeface="游ゴシック" panose="020B0400000000000000" pitchFamily="50" charset="-128"/>
                <a:ea typeface="游ゴシック" panose="020B0400000000000000" pitchFamily="50" charset="-128"/>
              </a:rPr>
              <a:t>.</a:t>
            </a:r>
            <a:r>
              <a:rPr lang="ja-JP" altLang="en-US" b="1" dirty="0">
                <a:latin typeface="游ゴシック" panose="020B0400000000000000" pitchFamily="50" charset="-128"/>
                <a:ea typeface="游ゴシック" panose="020B0400000000000000" pitchFamily="50" charset="-128"/>
              </a:rPr>
              <a:t> </a:t>
            </a:r>
            <a:r>
              <a:rPr lang="en-US" altLang="ja-JP" b="1" dirty="0">
                <a:latin typeface="游ゴシック" panose="020B0400000000000000" pitchFamily="50" charset="-128"/>
                <a:ea typeface="游ゴシック" panose="020B0400000000000000" pitchFamily="50" charset="-128"/>
              </a:rPr>
              <a:t>Selection of Airfoil Shapes and Determination of Angle of Attack</a:t>
            </a:r>
          </a:p>
          <a:p>
            <a:r>
              <a:rPr lang="en-US" altLang="ja-JP" sz="1600" dirty="0">
                <a:latin typeface="游ゴシック" panose="020B0400000000000000" pitchFamily="50" charset="-128"/>
                <a:ea typeface="游ゴシック" panose="020B0400000000000000" pitchFamily="50" charset="-128"/>
              </a:rPr>
              <a:t>First, the design was based exclusively on the S1223 material, which has a high lift coefficient and delivers excellent performance in the low Reynolds number range. </a:t>
            </a:r>
          </a:p>
          <a:p>
            <a:endParaRPr lang="en-US" altLang="ja-JP" sz="1600" dirty="0">
              <a:latin typeface="游ゴシック" panose="020B0400000000000000" pitchFamily="50" charset="-128"/>
              <a:ea typeface="游ゴシック" panose="020B0400000000000000" pitchFamily="50" charset="-128"/>
            </a:endParaRPr>
          </a:p>
          <a:p>
            <a:r>
              <a:rPr lang="en-US" altLang="ja-JP" sz="1600" dirty="0">
                <a:latin typeface="游ゴシック" panose="020B0400000000000000" pitchFamily="50" charset="-128"/>
                <a:ea typeface="游ゴシック" panose="020B0400000000000000" pitchFamily="50" charset="-128"/>
              </a:rPr>
              <a:t>We designed a three-bladed multi-element wing, assuming a span of 1000 mm. After repeatedly performing 2D analysis in Ansys while varying the angle of attack, we found that settings of </a:t>
            </a:r>
          </a:p>
          <a:p>
            <a:r>
              <a:rPr lang="en-US" altLang="ja-JP" sz="1600" dirty="0">
                <a:latin typeface="游ゴシック" panose="020B0400000000000000" pitchFamily="50" charset="-128"/>
                <a:ea typeface="游ゴシック" panose="020B0400000000000000" pitchFamily="50" charset="-128"/>
              </a:rPr>
              <a:t>0°, 30°, and  50° resulted in the lowest drag.</a:t>
            </a:r>
          </a:p>
          <a:p>
            <a:r>
              <a:rPr lang="en-US" altLang="ja-JP" sz="1600" dirty="0">
                <a:latin typeface="游ゴシック" panose="020B0400000000000000" pitchFamily="50" charset="-128"/>
                <a:ea typeface="游ゴシック" panose="020B0400000000000000" pitchFamily="50" charset="-128"/>
              </a:rPr>
              <a:t>Therefore, we decided to use these angles.</a:t>
            </a:r>
          </a:p>
          <a:p>
            <a:endParaRPr lang="en-US" altLang="ja-JP" sz="1600" dirty="0">
              <a:latin typeface="游ゴシック" panose="020B0400000000000000" pitchFamily="50" charset="-128"/>
              <a:ea typeface="游ゴシック" panose="020B0400000000000000" pitchFamily="50" charset="-128"/>
            </a:endParaRPr>
          </a:p>
          <a:p>
            <a:r>
              <a:rPr lang="en-US" altLang="ja-JP" sz="1600" dirty="0">
                <a:latin typeface="游ゴシック" panose="020B0400000000000000" pitchFamily="50" charset="-128"/>
                <a:ea typeface="游ゴシック" panose="020B0400000000000000" pitchFamily="50" charset="-128"/>
              </a:rPr>
              <a:t>Furthermore, considering the structural loads caused by large negative pitching moments and the instability of downforce, we decided to replace the S1223 main wing with the S1223 RTL, which features an upward-curved trailing edge.</a:t>
            </a:r>
          </a:p>
        </p:txBody>
      </p:sp>
      <p:sp>
        <p:nvSpPr>
          <p:cNvPr id="6" name="四角形: 角を丸くする 5">
            <a:extLst>
              <a:ext uri="{FF2B5EF4-FFF2-40B4-BE49-F238E27FC236}">
                <a16:creationId xmlns:a16="http://schemas.microsoft.com/office/drawing/2014/main" id="{6D4BE3C0-7384-4EE6-E3B1-AEA2DB37514C}"/>
              </a:ext>
            </a:extLst>
          </p:cNvPr>
          <p:cNvSpPr/>
          <p:nvPr/>
        </p:nvSpPr>
        <p:spPr>
          <a:xfrm>
            <a:off x="6849809" y="3994017"/>
            <a:ext cx="5227939" cy="2832270"/>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latin typeface="游ゴシック" panose="020B0400000000000000" pitchFamily="50" charset="-128"/>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D100BA18-219B-36C4-ECF2-E1DCC27C0C2D}"/>
              </a:ext>
            </a:extLst>
          </p:cNvPr>
          <p:cNvSpPr txBox="1"/>
          <p:nvPr/>
        </p:nvSpPr>
        <p:spPr>
          <a:xfrm>
            <a:off x="7051833" y="3994017"/>
            <a:ext cx="5058979" cy="2800767"/>
          </a:xfrm>
          <a:prstGeom prst="rect">
            <a:avLst/>
          </a:prstGeom>
          <a:noFill/>
        </p:spPr>
        <p:txBody>
          <a:bodyPr wrap="square" rtlCol="0">
            <a:spAutoFit/>
          </a:bodyPr>
          <a:lstStyle/>
          <a:p>
            <a:r>
              <a:rPr lang="en-US" altLang="ja-JP" sz="1600" dirty="0">
                <a:latin typeface="游ゴシック" panose="020B0400000000000000" pitchFamily="50" charset="-128"/>
                <a:ea typeface="游ゴシック" panose="020B0400000000000000" pitchFamily="50" charset="-128"/>
              </a:rPr>
              <a:t>We also decided to incorporate an upper wing to generate downforce. </a:t>
            </a:r>
          </a:p>
          <a:p>
            <a:r>
              <a:rPr lang="en-US" altLang="ja-JP" sz="1600" dirty="0">
                <a:latin typeface="游ゴシック" panose="020B0400000000000000" pitchFamily="50" charset="-128"/>
                <a:ea typeface="游ゴシック" panose="020B0400000000000000" pitchFamily="50" charset="-128"/>
              </a:rPr>
              <a:t>However, since the first wing of the upper wing design tended to stall easily, we opted for the E423.</a:t>
            </a:r>
          </a:p>
          <a:p>
            <a:endParaRPr lang="en-US" altLang="ja-JP" sz="1600" dirty="0">
              <a:latin typeface="游ゴシック" panose="020B0400000000000000" pitchFamily="50" charset="-128"/>
              <a:ea typeface="游ゴシック" panose="020B0400000000000000" pitchFamily="50" charset="-128"/>
            </a:endParaRPr>
          </a:p>
          <a:p>
            <a:r>
              <a:rPr lang="en-US" altLang="ja-JP" sz="1600" dirty="0">
                <a:latin typeface="游ゴシック" panose="020B0400000000000000" pitchFamily="50" charset="-128"/>
                <a:ea typeface="游ゴシック" panose="020B0400000000000000" pitchFamily="50" charset="-128"/>
              </a:rPr>
              <a:t>We considered the NACA M3 as well, but because the angle of attack on the second wing was small, we didn’t observe a significant difference in stall or drag.</a:t>
            </a:r>
          </a:p>
          <a:p>
            <a:r>
              <a:rPr lang="en-US" altLang="ja-JP" sz="1600" dirty="0">
                <a:latin typeface="游ゴシック" panose="020B0400000000000000" pitchFamily="50" charset="-128"/>
                <a:ea typeface="游ゴシック" panose="020B0400000000000000" pitchFamily="50" charset="-128"/>
              </a:rPr>
              <a:t>Therefore, we chose the E423, which is better suited for generating downforce.</a:t>
            </a:r>
            <a:endParaRPr kumimoji="1" lang="en-US" altLang="ja-JP" sz="1600" dirty="0">
              <a:latin typeface="游ゴシック" panose="020B0400000000000000" pitchFamily="50" charset="-128"/>
              <a:ea typeface="游ゴシック" panose="020B0400000000000000" pitchFamily="50" charset="-128"/>
            </a:endParaRP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932D9B95-6EDE-2F59-F03C-23E8BA39342E}"/>
                  </a:ext>
                </a:extLst>
              </p:cNvPr>
              <p:cNvSpPr txBox="1"/>
              <p:nvPr/>
            </p:nvSpPr>
            <p:spPr>
              <a:xfrm>
                <a:off x="6999018" y="2081158"/>
                <a:ext cx="4694218" cy="712631"/>
              </a:xfrm>
              <a:prstGeom prst="rect">
                <a:avLst/>
              </a:prstGeom>
              <a:noFill/>
              <a:ln>
                <a:solidFill>
                  <a:srgbClr val="4E95D9"/>
                </a:solidFill>
              </a:ln>
            </p:spPr>
            <p:txBody>
              <a:bodyPr wrap="square" rtlCol="0">
                <a:spAutoFit/>
              </a:bodyPr>
              <a:lstStyle/>
              <a:p>
                <a:r>
                  <a:rPr lang="en-US" altLang="ja-JP" sz="2800" b="1" dirty="0">
                    <a:latin typeface="游ゴシック" panose="020B0400000000000000" pitchFamily="50" charset="-128"/>
                    <a:ea typeface="游ゴシック" panose="020B0400000000000000" pitchFamily="50" charset="-128"/>
                  </a:rPr>
                  <a:t>M = </a:t>
                </a:r>
                <a14:m>
                  <m:oMath xmlns:m="http://schemas.openxmlformats.org/officeDocument/2006/math">
                    <m:f>
                      <m:fPr>
                        <m:ctrlPr>
                          <a:rPr lang="en-US" altLang="ja-JP" sz="2800" b="1" i="1" smtClean="0">
                            <a:latin typeface="Cambria Math" panose="02040503050406030204" pitchFamily="18" charset="0"/>
                          </a:rPr>
                        </m:ctrlPr>
                      </m:fPr>
                      <m:num>
                        <m:r>
                          <a:rPr lang="en-US" altLang="ja-JP" sz="2800" b="1" i="1" smtClean="0">
                            <a:latin typeface="Cambria Math" panose="02040503050406030204" pitchFamily="18" charset="0"/>
                          </a:rPr>
                          <m:t>𝟏</m:t>
                        </m:r>
                      </m:num>
                      <m:den>
                        <m:r>
                          <a:rPr lang="en-US" altLang="ja-JP" sz="2800" b="1" i="1" smtClean="0">
                            <a:latin typeface="Cambria Math" panose="02040503050406030204" pitchFamily="18" charset="0"/>
                          </a:rPr>
                          <m:t>𝟐</m:t>
                        </m:r>
                      </m:den>
                    </m:f>
                    <m:r>
                      <a:rPr lang="ja-JP" altLang="en-US" sz="2800" b="1" i="1" smtClean="0">
                        <a:latin typeface="Cambria Math" panose="02040503050406030204" pitchFamily="18" charset="0"/>
                      </a:rPr>
                      <m:t>𝝆</m:t>
                    </m:r>
                    <m:sSup>
                      <m:sSupPr>
                        <m:ctrlPr>
                          <a:rPr lang="en-US" altLang="ja-JP" sz="2800" b="1" i="1" smtClean="0">
                            <a:latin typeface="Cambria Math" panose="02040503050406030204" pitchFamily="18" charset="0"/>
                          </a:rPr>
                        </m:ctrlPr>
                      </m:sSupPr>
                      <m:e>
                        <m:r>
                          <a:rPr lang="ja-JP" altLang="en-US" sz="2800" b="1" i="1" smtClean="0">
                            <a:latin typeface="Cambria Math" panose="02040503050406030204" pitchFamily="18" charset="0"/>
                          </a:rPr>
                          <m:t>𝝊</m:t>
                        </m:r>
                      </m:e>
                      <m:sup>
                        <m:r>
                          <a:rPr lang="en-US" altLang="ja-JP" sz="2800" b="1" i="1" smtClean="0">
                            <a:latin typeface="Cambria Math" panose="02040503050406030204" pitchFamily="18" charset="0"/>
                          </a:rPr>
                          <m:t>𝟐</m:t>
                        </m:r>
                      </m:sup>
                    </m:sSup>
                  </m:oMath>
                </a14:m>
                <a:r>
                  <a:rPr kumimoji="1" lang="ja-JP" altLang="en-US" sz="2800" b="1" dirty="0">
                    <a:latin typeface="游ゴシック" panose="020B0400000000000000" pitchFamily="50" charset="-128"/>
                    <a:ea typeface="游ゴシック" panose="020B0400000000000000" pitchFamily="50" charset="-128"/>
                  </a:rPr>
                  <a:t>・</a:t>
                </a:r>
                <a:r>
                  <a:rPr kumimoji="1" lang="en-US" altLang="ja-JP" sz="2800" b="1" dirty="0">
                    <a:latin typeface="游ゴシック" panose="020B0400000000000000" pitchFamily="50" charset="-128"/>
                    <a:ea typeface="游ゴシック" panose="020B0400000000000000" pitchFamily="50" charset="-128"/>
                  </a:rPr>
                  <a:t>S</a:t>
                </a:r>
                <a:r>
                  <a:rPr kumimoji="1" lang="ja-JP" altLang="en-US" sz="2800" b="1" dirty="0">
                    <a:latin typeface="游ゴシック" panose="020B0400000000000000" pitchFamily="50" charset="-128"/>
                    <a:ea typeface="游ゴシック" panose="020B0400000000000000" pitchFamily="50" charset="-128"/>
                  </a:rPr>
                  <a:t>・</a:t>
                </a:r>
                <a:r>
                  <a:rPr kumimoji="1" lang="en-US" altLang="ja-JP" sz="2800" b="1" dirty="0">
                    <a:latin typeface="游ゴシック" panose="020B0400000000000000" pitchFamily="50" charset="-128"/>
                    <a:ea typeface="游ゴシック" panose="020B0400000000000000" pitchFamily="50" charset="-128"/>
                  </a:rPr>
                  <a:t>c</a:t>
                </a:r>
                <a:r>
                  <a:rPr kumimoji="1" lang="ja-JP" altLang="en-US" sz="2800" b="1" dirty="0">
                    <a:latin typeface="游ゴシック" panose="020B0400000000000000" pitchFamily="50" charset="-128"/>
                    <a:ea typeface="游ゴシック" panose="020B0400000000000000" pitchFamily="50" charset="-128"/>
                  </a:rPr>
                  <a:t>・</a:t>
                </a:r>
                <a:r>
                  <a:rPr kumimoji="1" lang="en-US" altLang="ja-JP" sz="2800" b="1" dirty="0">
                    <a:latin typeface="游ゴシック" panose="020B0400000000000000" pitchFamily="50" charset="-128"/>
                    <a:ea typeface="游ゴシック" panose="020B0400000000000000" pitchFamily="50" charset="-128"/>
                  </a:rPr>
                  <a:t>Cm   (1)</a:t>
                </a:r>
                <a:endParaRPr kumimoji="1" lang="ja-JP" altLang="en-US" sz="2800" b="1" dirty="0">
                  <a:latin typeface="游ゴシック" panose="020B0400000000000000" pitchFamily="50" charset="-128"/>
                  <a:ea typeface="游ゴシック" panose="020B0400000000000000" pitchFamily="50" charset="-128"/>
                </a:endParaRPr>
              </a:p>
            </p:txBody>
          </p:sp>
        </mc:Choice>
        <mc:Fallback xmlns="">
          <p:sp>
            <p:nvSpPr>
              <p:cNvPr id="3" name="テキスト ボックス 2">
                <a:extLst>
                  <a:ext uri="{FF2B5EF4-FFF2-40B4-BE49-F238E27FC236}">
                    <a16:creationId xmlns:a16="http://schemas.microsoft.com/office/drawing/2014/main" id="{932D9B95-6EDE-2F59-F03C-23E8BA39342E}"/>
                  </a:ext>
                </a:extLst>
              </p:cNvPr>
              <p:cNvSpPr txBox="1">
                <a:spLocks noRot="1" noChangeAspect="1" noMove="1" noResize="1" noEditPoints="1" noAdjustHandles="1" noChangeArrowheads="1" noChangeShapeType="1" noTextEdit="1"/>
              </p:cNvSpPr>
              <p:nvPr/>
            </p:nvSpPr>
            <p:spPr>
              <a:xfrm>
                <a:off x="6999018" y="2081158"/>
                <a:ext cx="4694218" cy="712631"/>
              </a:xfrm>
              <a:prstGeom prst="rect">
                <a:avLst/>
              </a:prstGeom>
              <a:blipFill>
                <a:blip r:embed="rId2"/>
                <a:stretch>
                  <a:fillRect l="-2461" r="-1943" b="-10084"/>
                </a:stretch>
              </a:blipFill>
              <a:ln>
                <a:solidFill>
                  <a:srgbClr val="4E95D9"/>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AA0744CE-1C70-A769-42E0-5662E45CB6AC}"/>
                  </a:ext>
                </a:extLst>
              </p:cNvPr>
              <p:cNvSpPr txBox="1"/>
              <p:nvPr/>
            </p:nvSpPr>
            <p:spPr>
              <a:xfrm>
                <a:off x="7478347" y="2777061"/>
                <a:ext cx="3887883" cy="1185453"/>
              </a:xfrm>
              <a:prstGeom prst="rect">
                <a:avLst/>
              </a:prstGeom>
              <a:noFill/>
            </p:spPr>
            <p:txBody>
              <a:bodyPr wrap="square" rtlCol="0">
                <a:spAutoFit/>
              </a:bodyPr>
              <a:lstStyle/>
              <a:p>
                <a14:m>
                  <m:oMath xmlns:m="http://schemas.openxmlformats.org/officeDocument/2006/math">
                    <m:f>
                      <m:fPr>
                        <m:ctrlPr>
                          <a:rPr lang="en-US" altLang="ja-JP" sz="1600" b="1" i="1">
                            <a:latin typeface="Cambria Math" panose="02040503050406030204" pitchFamily="18" charset="0"/>
                          </a:rPr>
                        </m:ctrlPr>
                      </m:fPr>
                      <m:num>
                        <m:r>
                          <a:rPr lang="en-US" altLang="ja-JP" sz="1600" b="1" i="1">
                            <a:latin typeface="Cambria Math" panose="02040503050406030204" pitchFamily="18" charset="0"/>
                          </a:rPr>
                          <m:t>𝟏</m:t>
                        </m:r>
                      </m:num>
                      <m:den>
                        <m:r>
                          <a:rPr lang="en-US" altLang="ja-JP" sz="1600" b="1" i="1">
                            <a:latin typeface="Cambria Math" panose="02040503050406030204" pitchFamily="18" charset="0"/>
                          </a:rPr>
                          <m:t>𝟐</m:t>
                        </m:r>
                      </m:den>
                    </m:f>
                    <m:r>
                      <a:rPr lang="ja-JP" altLang="en-US" sz="1600" b="1" i="1">
                        <a:latin typeface="Cambria Math" panose="02040503050406030204" pitchFamily="18" charset="0"/>
                      </a:rPr>
                      <m:t>𝝆</m:t>
                    </m:r>
                    <m:sSup>
                      <m:sSupPr>
                        <m:ctrlPr>
                          <a:rPr lang="en-US" altLang="ja-JP" sz="1600" b="1" i="1">
                            <a:latin typeface="Cambria Math" panose="02040503050406030204" pitchFamily="18" charset="0"/>
                          </a:rPr>
                        </m:ctrlPr>
                      </m:sSupPr>
                      <m:e>
                        <m:r>
                          <a:rPr lang="ja-JP" altLang="en-US" sz="1600" b="1" i="1">
                            <a:latin typeface="Cambria Math" panose="02040503050406030204" pitchFamily="18" charset="0"/>
                          </a:rPr>
                          <m:t>𝝊</m:t>
                        </m:r>
                      </m:e>
                      <m:sup>
                        <m:r>
                          <a:rPr lang="en-US" altLang="ja-JP" sz="1600" b="1" i="1">
                            <a:latin typeface="Cambria Math" panose="02040503050406030204" pitchFamily="18" charset="0"/>
                          </a:rPr>
                          <m:t>𝟐</m:t>
                        </m:r>
                      </m:sup>
                    </m:sSup>
                  </m:oMath>
                </a14:m>
                <a:r>
                  <a:rPr kumimoji="1" lang="ja-JP" altLang="en-US" sz="1600" b="1" dirty="0">
                    <a:latin typeface="游ゴシック" panose="020B0400000000000000" pitchFamily="50" charset="-128"/>
                    <a:ea typeface="游ゴシック" panose="020B0400000000000000" pitchFamily="50" charset="-128"/>
                  </a:rPr>
                  <a:t>：</a:t>
                </a:r>
                <a:r>
                  <a:rPr lang="en-US" altLang="ja-JP" sz="1600" b="1" dirty="0">
                    <a:latin typeface="游ゴシック" panose="020B0400000000000000" pitchFamily="50" charset="-128"/>
                    <a:ea typeface="游ゴシック" panose="020B0400000000000000" pitchFamily="50" charset="-128"/>
                  </a:rPr>
                  <a:t>Dynamic pressure (N/m)</a:t>
                </a:r>
              </a:p>
              <a:p>
                <a:r>
                  <a:rPr lang="en-US" altLang="ja-JP" sz="1600" b="1" dirty="0">
                    <a:latin typeface="游ゴシック" panose="020B0400000000000000" pitchFamily="50" charset="-128"/>
                    <a:ea typeface="游ゴシック" panose="020B0400000000000000" pitchFamily="50" charset="-128"/>
                  </a:rPr>
                  <a:t>S</a:t>
                </a:r>
                <a:r>
                  <a:rPr lang="ja-JP" altLang="en-US" sz="1600" b="1" dirty="0">
                    <a:latin typeface="游ゴシック" panose="020B0400000000000000" pitchFamily="50" charset="-128"/>
                    <a:ea typeface="游ゴシック" panose="020B0400000000000000" pitchFamily="50" charset="-128"/>
                  </a:rPr>
                  <a:t>：</a:t>
                </a:r>
                <a:r>
                  <a:rPr lang="en-US" altLang="ja-JP" sz="1600" b="1" dirty="0">
                    <a:latin typeface="游ゴシック" panose="020B0400000000000000" pitchFamily="50" charset="-128"/>
                    <a:ea typeface="游ゴシック" panose="020B0400000000000000" pitchFamily="50" charset="-128"/>
                  </a:rPr>
                  <a:t>Representative area (m²)</a:t>
                </a:r>
              </a:p>
              <a:p>
                <a:r>
                  <a:rPr kumimoji="1" lang="en-US" altLang="ja-JP" sz="1600" b="1" dirty="0">
                    <a:latin typeface="游ゴシック" panose="020B0400000000000000" pitchFamily="50" charset="-128"/>
                    <a:ea typeface="游ゴシック" panose="020B0400000000000000" pitchFamily="50" charset="-128"/>
                  </a:rPr>
                  <a:t>C</a:t>
                </a:r>
                <a:r>
                  <a:rPr kumimoji="1" lang="ja-JP" altLang="en-US" sz="1600" b="1" dirty="0">
                    <a:latin typeface="游ゴシック" panose="020B0400000000000000" pitchFamily="50" charset="-128"/>
                    <a:ea typeface="游ゴシック" panose="020B0400000000000000" pitchFamily="50" charset="-128"/>
                  </a:rPr>
                  <a:t>：</a:t>
                </a:r>
                <a:r>
                  <a:rPr lang="en-US" altLang="ja-JP" sz="1600" b="1" dirty="0">
                    <a:latin typeface="游ゴシック" panose="020B0400000000000000" pitchFamily="50" charset="-128"/>
                    <a:ea typeface="游ゴシック" panose="020B0400000000000000" pitchFamily="50" charset="-128"/>
                  </a:rPr>
                  <a:t>Wingspan (m)</a:t>
                </a:r>
              </a:p>
              <a:p>
                <a:r>
                  <a:rPr lang="en-US" altLang="ja-JP" sz="1600" b="1" dirty="0">
                    <a:latin typeface="游ゴシック" panose="020B0400000000000000" pitchFamily="50" charset="-128"/>
                    <a:ea typeface="游ゴシック" panose="020B0400000000000000" pitchFamily="50" charset="-128"/>
                  </a:rPr>
                  <a:t>Cm</a:t>
                </a:r>
                <a:r>
                  <a:rPr lang="ja-JP" altLang="en-US" sz="1600" b="1" dirty="0">
                    <a:latin typeface="游ゴシック" panose="020B0400000000000000" pitchFamily="50" charset="-128"/>
                    <a:ea typeface="游ゴシック" panose="020B0400000000000000" pitchFamily="50" charset="-128"/>
                  </a:rPr>
                  <a:t>：</a:t>
                </a:r>
                <a:r>
                  <a:rPr lang="en-US" altLang="ja-JP" sz="1600" b="1" dirty="0">
                    <a:latin typeface="游ゴシック" panose="020B0400000000000000" pitchFamily="50" charset="-128"/>
                    <a:ea typeface="游ゴシック" panose="020B0400000000000000" pitchFamily="50" charset="-128"/>
                  </a:rPr>
                  <a:t> Pitching moment coefficient</a:t>
                </a:r>
                <a:endParaRPr kumimoji="1" lang="ja-JP" altLang="en-US" sz="1600" b="1" dirty="0">
                  <a:latin typeface="游ゴシック" panose="020B0400000000000000" pitchFamily="50" charset="-128"/>
                  <a:ea typeface="游ゴシック" panose="020B0400000000000000" pitchFamily="50" charset="-128"/>
                </a:endParaRPr>
              </a:p>
            </p:txBody>
          </p:sp>
        </mc:Choice>
        <mc:Fallback xmlns="">
          <p:sp>
            <p:nvSpPr>
              <p:cNvPr id="17" name="テキスト ボックス 16">
                <a:extLst>
                  <a:ext uri="{FF2B5EF4-FFF2-40B4-BE49-F238E27FC236}">
                    <a16:creationId xmlns:a16="http://schemas.microsoft.com/office/drawing/2014/main" id="{AA0744CE-1C70-A769-42E0-5662E45CB6AC}"/>
                  </a:ext>
                </a:extLst>
              </p:cNvPr>
              <p:cNvSpPr txBox="1">
                <a:spLocks noRot="1" noChangeAspect="1" noMove="1" noResize="1" noEditPoints="1" noAdjustHandles="1" noChangeArrowheads="1" noChangeShapeType="1" noTextEdit="1"/>
              </p:cNvSpPr>
              <p:nvPr/>
            </p:nvSpPr>
            <p:spPr>
              <a:xfrm>
                <a:off x="7478347" y="2777061"/>
                <a:ext cx="3887883" cy="1185453"/>
              </a:xfrm>
              <a:prstGeom prst="rect">
                <a:avLst/>
              </a:prstGeom>
              <a:blipFill>
                <a:blip r:embed="rId3"/>
                <a:stretch>
                  <a:fillRect l="-940" b="-5670"/>
                </a:stretch>
              </a:blipFill>
            </p:spPr>
            <p:txBody>
              <a:bodyPr/>
              <a:lstStyle/>
              <a:p>
                <a:r>
                  <a:rPr lang="ja-JP" altLang="en-US">
                    <a:noFill/>
                  </a:rPr>
                  <a:t> </a:t>
                </a:r>
              </a:p>
            </p:txBody>
          </p:sp>
        </mc:Fallback>
      </mc:AlternateContent>
      <p:sp>
        <p:nvSpPr>
          <p:cNvPr id="15" name="テキスト ボックス 14">
            <a:extLst>
              <a:ext uri="{FF2B5EF4-FFF2-40B4-BE49-F238E27FC236}">
                <a16:creationId xmlns:a16="http://schemas.microsoft.com/office/drawing/2014/main" id="{801B810B-DFD3-9584-9413-0BD66F376E56}"/>
              </a:ext>
            </a:extLst>
          </p:cNvPr>
          <p:cNvSpPr txBox="1"/>
          <p:nvPr/>
        </p:nvSpPr>
        <p:spPr>
          <a:xfrm>
            <a:off x="6188365" y="960384"/>
            <a:ext cx="5957772" cy="1077218"/>
          </a:xfrm>
          <a:prstGeom prst="rect">
            <a:avLst/>
          </a:prstGeom>
          <a:noFill/>
          <a:ln>
            <a:solidFill>
              <a:srgbClr val="4E95D9"/>
            </a:solidFill>
          </a:ln>
        </p:spPr>
        <p:txBody>
          <a:bodyPr wrap="square">
            <a:spAutoFit/>
          </a:bodyPr>
          <a:lstStyle/>
          <a:p>
            <a:r>
              <a:rPr lang="ja-JP" altLang="en-US" sz="1600" dirty="0">
                <a:latin typeface="游ゴシック" panose="020B0400000000000000" pitchFamily="50" charset="-128"/>
                <a:ea typeface="游ゴシック" panose="020B0400000000000000" pitchFamily="50" charset="-128"/>
              </a:rPr>
              <a:t>This reduced the pitching moment coefficient from approximately -0.24 to approximately -0.10, which reduced the pitching moment by about 58%, thereby ensuring structural and dynamic stability.</a:t>
            </a:r>
            <a:r>
              <a:rPr lang="en-US" altLang="ja-JP" sz="1600" dirty="0">
                <a:latin typeface="游ゴシック" panose="020B0400000000000000" pitchFamily="50" charset="-128"/>
                <a:ea typeface="游ゴシック" panose="020B0400000000000000" pitchFamily="50" charset="-128"/>
              </a:rPr>
              <a:t>(</a:t>
            </a:r>
            <a:r>
              <a:rPr lang="ja-JP" altLang="en-US" sz="1600" dirty="0">
                <a:latin typeface="游ゴシック" panose="020B0400000000000000" pitchFamily="50" charset="-128"/>
              </a:rPr>
              <a:t>based on Equation (1)</a:t>
            </a:r>
            <a:r>
              <a:rPr lang="en-US" altLang="ja-JP" sz="1600" dirty="0">
                <a:latin typeface="游ゴシック" panose="020B0400000000000000" pitchFamily="50" charset="-128"/>
              </a:rPr>
              <a:t>)</a:t>
            </a:r>
            <a:endParaRPr lang="ja-JP" altLang="en-US" sz="16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761487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6B8D-1B65-5F62-51BE-D79D634BAE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C2D481-8C47-2DED-871D-F539D31469DB}"/>
              </a:ext>
            </a:extLst>
          </p:cNvPr>
          <p:cNvSpPr>
            <a:spLocks noGrp="1"/>
          </p:cNvSpPr>
          <p:nvPr>
            <p:ph type="title"/>
          </p:nvPr>
        </p:nvSpPr>
        <p:spPr/>
        <p:txBody>
          <a:bodyPr/>
          <a:lstStyle/>
          <a:p>
            <a:r>
              <a:rPr lang="en-US" altLang="en-US" dirty="0"/>
              <a:t>Aerodynamics</a:t>
            </a:r>
            <a:endParaRPr kumimoji="1" lang="ja-JP" altLang="en-US" dirty="0"/>
          </a:p>
        </p:txBody>
      </p:sp>
      <p:sp>
        <p:nvSpPr>
          <p:cNvPr id="4" name="テキスト ボックス 3">
            <a:extLst>
              <a:ext uri="{FF2B5EF4-FFF2-40B4-BE49-F238E27FC236}">
                <a16:creationId xmlns:a16="http://schemas.microsoft.com/office/drawing/2014/main" id="{CBEFF77D-229B-5BD0-CEC2-A0B21632B4C2}"/>
              </a:ext>
            </a:extLst>
          </p:cNvPr>
          <p:cNvSpPr txBox="1"/>
          <p:nvPr/>
        </p:nvSpPr>
        <p:spPr>
          <a:xfrm>
            <a:off x="85298" y="974353"/>
            <a:ext cx="6974722" cy="1846659"/>
          </a:xfrm>
          <a:prstGeom prst="rect">
            <a:avLst/>
          </a:prstGeom>
          <a:noFill/>
          <a:ln>
            <a:solidFill>
              <a:srgbClr val="4E95D9"/>
            </a:solidFill>
          </a:ln>
        </p:spPr>
        <p:txBody>
          <a:bodyPr wrap="square" rtlCol="0">
            <a:spAutoFit/>
          </a:bodyPr>
          <a:lstStyle/>
          <a:p>
            <a:r>
              <a:rPr kumimoji="1" lang="ja-JP" altLang="en-US" b="1" dirty="0">
                <a:latin typeface="游ゴシック" panose="020B0400000000000000" pitchFamily="50" charset="-128"/>
                <a:ea typeface="游ゴシック" panose="020B0400000000000000" pitchFamily="50" charset="-128"/>
              </a:rPr>
              <a:t>２</a:t>
            </a:r>
            <a:r>
              <a:rPr lang="en-US" altLang="ja-JP" b="1" dirty="0">
                <a:latin typeface="游ゴシック" panose="020B0400000000000000" pitchFamily="50" charset="-128"/>
                <a:ea typeface="游ゴシック" panose="020B0400000000000000" pitchFamily="50" charset="-128"/>
              </a:rPr>
              <a:t>.</a:t>
            </a:r>
            <a:r>
              <a:rPr lang="ja-JP" altLang="en-US" b="1" dirty="0">
                <a:latin typeface="游ゴシック" panose="020B0400000000000000" pitchFamily="50" charset="-128"/>
                <a:ea typeface="游ゴシック" panose="020B0400000000000000" pitchFamily="50" charset="-128"/>
              </a:rPr>
              <a:t> </a:t>
            </a:r>
            <a:r>
              <a:rPr lang="en-US" altLang="ja-JP" b="1" dirty="0">
                <a:latin typeface="游ゴシック" panose="020B0400000000000000" pitchFamily="50" charset="-128"/>
              </a:rPr>
              <a:t>Determining Slot Gaps and Overlaps</a:t>
            </a:r>
          </a:p>
          <a:p>
            <a:r>
              <a:rPr lang="en-US" altLang="ja-JP" sz="1600" dirty="0">
                <a:latin typeface="游ゴシック" panose="020B0400000000000000" pitchFamily="50" charset="-128"/>
              </a:rPr>
              <a:t>After determining the airfoil and angle of attack, we performed repeated 2D analyses in Ansys, making changes only to the slot gap and overlap.</a:t>
            </a:r>
          </a:p>
          <a:p>
            <a:endParaRPr lang="en-US" altLang="ja-JP" sz="1600" dirty="0">
              <a:latin typeface="游ゴシック" panose="020B0400000000000000" pitchFamily="50" charset="-128"/>
            </a:endParaRPr>
          </a:p>
          <a:p>
            <a:r>
              <a:rPr lang="en-US" altLang="ja-JP" sz="1600" dirty="0">
                <a:latin typeface="游ゴシック" panose="020B0400000000000000" pitchFamily="50" charset="-128"/>
              </a:rPr>
              <a:t>Focusing on reducing drag, the airfoil, slot gap, and overlap values ultimately adopted are shown in Figure 1.</a:t>
            </a:r>
          </a:p>
          <a:p>
            <a:r>
              <a:rPr lang="en-US" altLang="ja-JP" sz="1600" dirty="0">
                <a:latin typeface="游ゴシック" panose="020B0400000000000000" pitchFamily="50" charset="-128"/>
              </a:rPr>
              <a:t>The final 2D analysis results are shown in Figure 2.</a:t>
            </a:r>
            <a:endParaRPr kumimoji="1" lang="ja-JP" altLang="en-US" sz="1600" dirty="0">
              <a:latin typeface="游ゴシック" panose="020B0400000000000000" pitchFamily="50" charset="-128"/>
              <a:ea typeface="游ゴシック" panose="020B0400000000000000" pitchFamily="50" charset="-128"/>
            </a:endParaRPr>
          </a:p>
        </p:txBody>
      </p:sp>
      <p:sp>
        <p:nvSpPr>
          <p:cNvPr id="6" name="テキスト ボックス 5">
            <a:extLst>
              <a:ext uri="{FF2B5EF4-FFF2-40B4-BE49-F238E27FC236}">
                <a16:creationId xmlns:a16="http://schemas.microsoft.com/office/drawing/2014/main" id="{24ECD5F1-2D57-9312-F0A1-2A182BA3BCD0}"/>
              </a:ext>
            </a:extLst>
          </p:cNvPr>
          <p:cNvSpPr txBox="1"/>
          <p:nvPr/>
        </p:nvSpPr>
        <p:spPr>
          <a:xfrm>
            <a:off x="7166104" y="1000526"/>
            <a:ext cx="4936831" cy="1815882"/>
          </a:xfrm>
          <a:prstGeom prst="rect">
            <a:avLst/>
          </a:prstGeom>
          <a:noFill/>
          <a:ln>
            <a:solidFill>
              <a:srgbClr val="4E95D9"/>
            </a:solidFill>
          </a:ln>
        </p:spPr>
        <p:txBody>
          <a:bodyPr wrap="square" rtlCol="0">
            <a:spAutoFit/>
          </a:bodyPr>
          <a:lstStyle/>
          <a:p>
            <a:r>
              <a:rPr kumimoji="1" lang="ja-JP" altLang="en-US" sz="1600" b="1" dirty="0">
                <a:latin typeface="游ゴシック" panose="020B0400000000000000" pitchFamily="50" charset="-128"/>
                <a:ea typeface="游ゴシック" panose="020B0400000000000000" pitchFamily="50" charset="-128"/>
              </a:rPr>
              <a:t>３</a:t>
            </a:r>
            <a:r>
              <a:rPr lang="en-US" altLang="ja-JP" sz="1600" b="1" dirty="0">
                <a:latin typeface="游ゴシック" panose="020B0400000000000000" pitchFamily="50" charset="-128"/>
                <a:ea typeface="游ゴシック" panose="020B0400000000000000" pitchFamily="50" charset="-128"/>
              </a:rPr>
              <a:t>.</a:t>
            </a:r>
            <a:r>
              <a:rPr lang="ja-JP" altLang="en-US" sz="1600" b="1" dirty="0">
                <a:latin typeface="游ゴシック" panose="020B0400000000000000" pitchFamily="50" charset="-128"/>
                <a:ea typeface="游ゴシック" panose="020B0400000000000000" pitchFamily="50" charset="-128"/>
              </a:rPr>
              <a:t> </a:t>
            </a:r>
            <a:r>
              <a:rPr lang="en-US" altLang="ja-JP" sz="1600" b="1" dirty="0">
                <a:latin typeface="游ゴシック" panose="020B0400000000000000" pitchFamily="50" charset="-128"/>
              </a:rPr>
              <a:t>3D Modeling </a:t>
            </a:r>
          </a:p>
          <a:p>
            <a:r>
              <a:rPr lang="en-US" altLang="ja-JP" sz="1600" dirty="0">
                <a:latin typeface="游ゴシック" panose="020B0400000000000000" pitchFamily="50" charset="-128"/>
              </a:rPr>
              <a:t>We created a 3D model based on the results of the 2D analysis. </a:t>
            </a:r>
          </a:p>
          <a:p>
            <a:r>
              <a:rPr lang="en-US" altLang="ja-JP" sz="1600" dirty="0">
                <a:latin typeface="游ゴシック" panose="020B0400000000000000" pitchFamily="50" charset="-128"/>
              </a:rPr>
              <a:t>Considering the tread width of 1,335 mm, the tire width of approximately 200 mm, the weight, and manufacturing tolerances, the span length was determined to be 1,040 mm.</a:t>
            </a:r>
          </a:p>
        </p:txBody>
      </p:sp>
      <p:sp>
        <p:nvSpPr>
          <p:cNvPr id="11" name="テキスト ボックス 10">
            <a:extLst>
              <a:ext uri="{FF2B5EF4-FFF2-40B4-BE49-F238E27FC236}">
                <a16:creationId xmlns:a16="http://schemas.microsoft.com/office/drawing/2014/main" id="{51E99F7A-0656-75B4-EBEA-EC42DB5E394A}"/>
              </a:ext>
            </a:extLst>
          </p:cNvPr>
          <p:cNvSpPr txBox="1"/>
          <p:nvPr/>
        </p:nvSpPr>
        <p:spPr>
          <a:xfrm>
            <a:off x="80451" y="5845003"/>
            <a:ext cx="6096000" cy="923330"/>
          </a:xfrm>
          <a:prstGeom prst="rect">
            <a:avLst/>
          </a:prstGeom>
          <a:noFill/>
          <a:ln>
            <a:solidFill>
              <a:schemeClr val="tx1"/>
            </a:solidFill>
          </a:ln>
        </p:spPr>
        <p:txBody>
          <a:bodyPr wrap="square" rtlCol="0">
            <a:spAutoFit/>
          </a:bodyPr>
          <a:lstStyle/>
          <a:p>
            <a:r>
              <a:rPr kumimoji="1" lang="en-US" altLang="ja-JP" dirty="0">
                <a:latin typeface="游ゴシック" panose="020B0400000000000000" pitchFamily="50" charset="-128"/>
                <a:ea typeface="游ゴシック" panose="020B0400000000000000" pitchFamily="50" charset="-128"/>
              </a:rPr>
              <a:t>Wind speed 40km/h </a:t>
            </a:r>
          </a:p>
          <a:p>
            <a:r>
              <a:rPr kumimoji="1" lang="en-US" altLang="ja-JP" dirty="0">
                <a:latin typeface="游ゴシック" panose="020B0400000000000000" pitchFamily="50" charset="-128"/>
                <a:ea typeface="游ゴシック" panose="020B0400000000000000" pitchFamily="50" charset="-128"/>
              </a:rPr>
              <a:t>down force : 159N  drag : 4.9N</a:t>
            </a:r>
            <a:r>
              <a:rPr lang="en-US" altLang="ja-JP" dirty="0">
                <a:latin typeface="游ゴシック" panose="020B0400000000000000" pitchFamily="50" charset="-128"/>
                <a:ea typeface="游ゴシック" panose="020B0400000000000000" pitchFamily="50" charset="-128"/>
              </a:rPr>
              <a:t> (Span length: 1000 mm)</a:t>
            </a:r>
            <a:endParaRPr kumimoji="1" lang="en-US" altLang="ja-JP" dirty="0">
              <a:latin typeface="游ゴシック" panose="020B0400000000000000" pitchFamily="50" charset="-128"/>
              <a:ea typeface="游ゴシック" panose="020B0400000000000000" pitchFamily="50" charset="-128"/>
            </a:endParaRPr>
          </a:p>
          <a:p>
            <a:r>
              <a:rPr kumimoji="1" lang="ja-JP" altLang="en-US" dirty="0">
                <a:latin typeface="游ゴシック" panose="020B0400000000000000" pitchFamily="50" charset="-128"/>
                <a:ea typeface="游ゴシック" panose="020B0400000000000000" pitchFamily="50" charset="-128"/>
              </a:rPr>
              <a:t>＊</a:t>
            </a:r>
            <a:r>
              <a:rPr kumimoji="1" lang="en-US" altLang="ja-JP" dirty="0">
                <a:latin typeface="游ゴシック" panose="020B0400000000000000" pitchFamily="50" charset="-128"/>
                <a:ea typeface="游ゴシック" panose="020B0400000000000000" pitchFamily="50" charset="-128"/>
              </a:rPr>
              <a:t>the image is inverted vertically for analysis purposes.</a:t>
            </a:r>
            <a:endParaRPr kumimoji="1" lang="ja-JP" altLang="en-US" dirty="0">
              <a:latin typeface="游ゴシック" panose="020B0400000000000000" pitchFamily="50" charset="-128"/>
              <a:ea typeface="游ゴシック" panose="020B0400000000000000" pitchFamily="50" charset="-128"/>
            </a:endParaRPr>
          </a:p>
        </p:txBody>
      </p:sp>
      <p:pic>
        <p:nvPicPr>
          <p:cNvPr id="5" name="図 4">
            <a:extLst>
              <a:ext uri="{FF2B5EF4-FFF2-40B4-BE49-F238E27FC236}">
                <a16:creationId xmlns:a16="http://schemas.microsoft.com/office/drawing/2014/main" id="{B4A2D38A-C383-9E83-E964-C25441552A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4203" y="5305343"/>
            <a:ext cx="2097319" cy="1484150"/>
          </a:xfrm>
          <a:prstGeom prst="rect">
            <a:avLst/>
          </a:prstGeom>
        </p:spPr>
      </p:pic>
      <p:pic>
        <p:nvPicPr>
          <p:cNvPr id="7" name="図 6">
            <a:extLst>
              <a:ext uri="{FF2B5EF4-FFF2-40B4-BE49-F238E27FC236}">
                <a16:creationId xmlns:a16="http://schemas.microsoft.com/office/drawing/2014/main" id="{75CA0C58-2854-99C9-BCEC-E04A573A9D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5854" y="3484057"/>
            <a:ext cx="2274392" cy="1218856"/>
          </a:xfrm>
          <a:prstGeom prst="rect">
            <a:avLst/>
          </a:prstGeom>
        </p:spPr>
      </p:pic>
      <p:sp>
        <p:nvSpPr>
          <p:cNvPr id="17" name="テキスト ボックス 16">
            <a:extLst>
              <a:ext uri="{FF2B5EF4-FFF2-40B4-BE49-F238E27FC236}">
                <a16:creationId xmlns:a16="http://schemas.microsoft.com/office/drawing/2014/main" id="{0F620A0A-D366-DB5C-5DEF-51122E214651}"/>
              </a:ext>
            </a:extLst>
          </p:cNvPr>
          <p:cNvSpPr txBox="1"/>
          <p:nvPr/>
        </p:nvSpPr>
        <p:spPr>
          <a:xfrm>
            <a:off x="2356557" y="5514767"/>
            <a:ext cx="1047160" cy="338554"/>
          </a:xfrm>
          <a:prstGeom prst="rect">
            <a:avLst/>
          </a:prstGeom>
          <a:noFill/>
        </p:spPr>
        <p:txBody>
          <a:bodyPr wrap="square" rtlCol="0">
            <a:spAutoFit/>
          </a:bodyPr>
          <a:lstStyle/>
          <a:p>
            <a:r>
              <a:rPr lang="en-US" altLang="ja-JP" sz="1600" b="1" dirty="0">
                <a:latin typeface="游ゴシック" panose="020B0400000000000000" pitchFamily="50" charset="-128"/>
              </a:rPr>
              <a:t>Figure 1</a:t>
            </a:r>
            <a:endParaRPr kumimoji="1" lang="ja-JP" altLang="en-US" sz="1600" b="1" dirty="0">
              <a:latin typeface="游ゴシック" panose="020B0400000000000000" pitchFamily="50" charset="-128"/>
              <a:ea typeface="游ゴシック" panose="020B0400000000000000" pitchFamily="50" charset="-128"/>
            </a:endParaRPr>
          </a:p>
        </p:txBody>
      </p:sp>
      <p:sp>
        <p:nvSpPr>
          <p:cNvPr id="18" name="テキスト ボックス 17">
            <a:extLst>
              <a:ext uri="{FF2B5EF4-FFF2-40B4-BE49-F238E27FC236}">
                <a16:creationId xmlns:a16="http://schemas.microsoft.com/office/drawing/2014/main" id="{390A8E53-7862-E2C8-B838-0A6BB37731EB}"/>
              </a:ext>
            </a:extLst>
          </p:cNvPr>
          <p:cNvSpPr txBox="1"/>
          <p:nvPr/>
        </p:nvSpPr>
        <p:spPr>
          <a:xfrm>
            <a:off x="6369055" y="4702913"/>
            <a:ext cx="987989" cy="338554"/>
          </a:xfrm>
          <a:prstGeom prst="rect">
            <a:avLst/>
          </a:prstGeom>
          <a:noFill/>
        </p:spPr>
        <p:txBody>
          <a:bodyPr wrap="square" rtlCol="0">
            <a:spAutoFit/>
          </a:bodyPr>
          <a:lstStyle/>
          <a:p>
            <a:r>
              <a:rPr lang="en-US" altLang="ja-JP" sz="1600" b="1" dirty="0">
                <a:latin typeface="游ゴシック" panose="020B0400000000000000" pitchFamily="50" charset="-128"/>
              </a:rPr>
              <a:t>Figure 2</a:t>
            </a:r>
            <a:endParaRPr kumimoji="1" lang="ja-JP" altLang="en-US" sz="1600" b="1" dirty="0">
              <a:latin typeface="游ゴシック" panose="020B0400000000000000" pitchFamily="50" charset="-128"/>
              <a:ea typeface="游ゴシック" panose="020B0400000000000000" pitchFamily="50" charset="-128"/>
            </a:endParaRPr>
          </a:p>
        </p:txBody>
      </p:sp>
      <p:pic>
        <p:nvPicPr>
          <p:cNvPr id="20" name="図 19">
            <a:extLst>
              <a:ext uri="{FF2B5EF4-FFF2-40B4-BE49-F238E27FC236}">
                <a16:creationId xmlns:a16="http://schemas.microsoft.com/office/drawing/2014/main" id="{86E3022C-3346-B4CA-E39A-D8E8DADCE2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76171" y="5305343"/>
            <a:ext cx="1852794" cy="1484150"/>
          </a:xfrm>
          <a:prstGeom prst="rect">
            <a:avLst/>
          </a:prstGeom>
        </p:spPr>
      </p:pic>
      <p:pic>
        <p:nvPicPr>
          <p:cNvPr id="22" name="図 21">
            <a:extLst>
              <a:ext uri="{FF2B5EF4-FFF2-40B4-BE49-F238E27FC236}">
                <a16:creationId xmlns:a16="http://schemas.microsoft.com/office/drawing/2014/main" id="{A8F1C5A3-6C80-523F-EACA-10066DBF73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63614" y="5262518"/>
            <a:ext cx="1539321" cy="1566810"/>
          </a:xfrm>
          <a:prstGeom prst="rect">
            <a:avLst/>
          </a:prstGeom>
        </p:spPr>
      </p:pic>
      <p:sp>
        <p:nvSpPr>
          <p:cNvPr id="23" name="テキスト ボックス 22">
            <a:extLst>
              <a:ext uri="{FF2B5EF4-FFF2-40B4-BE49-F238E27FC236}">
                <a16:creationId xmlns:a16="http://schemas.microsoft.com/office/drawing/2014/main" id="{B11AD367-F574-BA2E-F18F-E9A849F3E1EB}"/>
              </a:ext>
            </a:extLst>
          </p:cNvPr>
          <p:cNvSpPr txBox="1"/>
          <p:nvPr/>
        </p:nvSpPr>
        <p:spPr>
          <a:xfrm>
            <a:off x="9227042" y="5474620"/>
            <a:ext cx="1163951" cy="338554"/>
          </a:xfrm>
          <a:prstGeom prst="rect">
            <a:avLst/>
          </a:prstGeom>
          <a:noFill/>
          <a:ln>
            <a:solidFill>
              <a:schemeClr val="tx1"/>
            </a:solidFill>
          </a:ln>
        </p:spPr>
        <p:txBody>
          <a:bodyPr wrap="square" rtlCol="0">
            <a:spAutoFit/>
          </a:bodyPr>
          <a:lstStyle/>
          <a:p>
            <a:r>
              <a:rPr lang="en-US" altLang="ja-JP" sz="1600" dirty="0">
                <a:latin typeface="游ゴシック" panose="020B0400000000000000" pitchFamily="50" charset="-128"/>
                <a:ea typeface="游ゴシック" panose="020B0400000000000000" pitchFamily="50" charset="-128"/>
              </a:rPr>
              <a:t>Swanneck</a:t>
            </a:r>
            <a:endParaRPr kumimoji="1" lang="ja-JP" altLang="en-US" sz="1600" dirty="0">
              <a:latin typeface="游ゴシック" panose="020B0400000000000000" pitchFamily="50" charset="-128"/>
              <a:ea typeface="游ゴシック" panose="020B0400000000000000" pitchFamily="50" charset="-128"/>
            </a:endParaRPr>
          </a:p>
        </p:txBody>
      </p:sp>
      <p:pic>
        <p:nvPicPr>
          <p:cNvPr id="29" name="図 28">
            <a:extLst>
              <a:ext uri="{FF2B5EF4-FFF2-40B4-BE49-F238E27FC236}">
                <a16:creationId xmlns:a16="http://schemas.microsoft.com/office/drawing/2014/main" id="{6710699F-7E5C-9201-16BC-CDD8F3A396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065" y="2850822"/>
            <a:ext cx="5582145" cy="2663517"/>
          </a:xfrm>
          <a:prstGeom prst="rect">
            <a:avLst/>
          </a:prstGeom>
        </p:spPr>
      </p:pic>
      <p:sp>
        <p:nvSpPr>
          <p:cNvPr id="30" name="テキスト ボックス 29">
            <a:extLst>
              <a:ext uri="{FF2B5EF4-FFF2-40B4-BE49-F238E27FC236}">
                <a16:creationId xmlns:a16="http://schemas.microsoft.com/office/drawing/2014/main" id="{0D8A50B1-7A88-B85E-FA9E-7FE09F9B9E05}"/>
              </a:ext>
            </a:extLst>
          </p:cNvPr>
          <p:cNvSpPr txBox="1"/>
          <p:nvPr/>
        </p:nvSpPr>
        <p:spPr>
          <a:xfrm>
            <a:off x="9809018" y="5876646"/>
            <a:ext cx="581975" cy="338554"/>
          </a:xfrm>
          <a:prstGeom prst="rect">
            <a:avLst/>
          </a:prstGeom>
          <a:noFill/>
          <a:ln>
            <a:solidFill>
              <a:schemeClr val="tx1"/>
            </a:solidFill>
          </a:ln>
        </p:spPr>
        <p:txBody>
          <a:bodyPr wrap="square" rtlCol="0">
            <a:spAutoFit/>
          </a:bodyPr>
          <a:lstStyle/>
          <a:p>
            <a:r>
              <a:rPr kumimoji="1" lang="en-US" altLang="ja-JP" sz="1600" dirty="0">
                <a:latin typeface="游ゴシック" panose="020B0400000000000000" pitchFamily="50" charset="-128"/>
                <a:ea typeface="游ゴシック" panose="020B0400000000000000" pitchFamily="50" charset="-128"/>
              </a:rPr>
              <a:t>stay</a:t>
            </a:r>
            <a:endParaRPr kumimoji="1" lang="ja-JP" altLang="en-US" sz="1600" dirty="0">
              <a:latin typeface="游ゴシック" panose="020B0400000000000000" pitchFamily="50" charset="-128"/>
              <a:ea typeface="游ゴシック" panose="020B0400000000000000" pitchFamily="50" charset="-128"/>
            </a:endParaRPr>
          </a:p>
        </p:txBody>
      </p:sp>
      <p:cxnSp>
        <p:nvCxnSpPr>
          <p:cNvPr id="32" name="直線矢印コネクタ 31">
            <a:extLst>
              <a:ext uri="{FF2B5EF4-FFF2-40B4-BE49-F238E27FC236}">
                <a16:creationId xmlns:a16="http://schemas.microsoft.com/office/drawing/2014/main" id="{2D0111D1-3C2B-1035-A644-3DFCDA23AD4A}"/>
              </a:ext>
            </a:extLst>
          </p:cNvPr>
          <p:cNvCxnSpPr>
            <a:cxnSpLocks/>
          </p:cNvCxnSpPr>
          <p:nvPr/>
        </p:nvCxnSpPr>
        <p:spPr>
          <a:xfrm flipH="1">
            <a:off x="9706585" y="6215200"/>
            <a:ext cx="223203" cy="2812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直線矢印コネクタ 32">
            <a:extLst>
              <a:ext uri="{FF2B5EF4-FFF2-40B4-BE49-F238E27FC236}">
                <a16:creationId xmlns:a16="http://schemas.microsoft.com/office/drawing/2014/main" id="{54D974E4-AA1A-E6DE-F946-7A49BAA6EB87}"/>
              </a:ext>
            </a:extLst>
          </p:cNvPr>
          <p:cNvCxnSpPr>
            <a:cxnSpLocks/>
            <a:stCxn id="30" idx="3"/>
          </p:cNvCxnSpPr>
          <p:nvPr/>
        </p:nvCxnSpPr>
        <p:spPr>
          <a:xfrm>
            <a:off x="10390993" y="6045923"/>
            <a:ext cx="505607" cy="200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直線矢印コネクタ 45">
            <a:extLst>
              <a:ext uri="{FF2B5EF4-FFF2-40B4-BE49-F238E27FC236}">
                <a16:creationId xmlns:a16="http://schemas.microsoft.com/office/drawing/2014/main" id="{579CD698-BEA2-9257-45D1-98CFB1AB5C8A}"/>
              </a:ext>
            </a:extLst>
          </p:cNvPr>
          <p:cNvCxnSpPr>
            <a:cxnSpLocks/>
            <a:stCxn id="23" idx="1"/>
          </p:cNvCxnSpPr>
          <p:nvPr/>
        </p:nvCxnSpPr>
        <p:spPr>
          <a:xfrm flipH="1" flipV="1">
            <a:off x="9061267" y="5613254"/>
            <a:ext cx="165775" cy="306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テキスト ボックス 11">
            <a:extLst>
              <a:ext uri="{FF2B5EF4-FFF2-40B4-BE49-F238E27FC236}">
                <a16:creationId xmlns:a16="http://schemas.microsoft.com/office/drawing/2014/main" id="{8BF6C305-C35A-43F5-57E7-FCAD51DA2E1F}"/>
              </a:ext>
            </a:extLst>
          </p:cNvPr>
          <p:cNvSpPr txBox="1"/>
          <p:nvPr/>
        </p:nvSpPr>
        <p:spPr>
          <a:xfrm>
            <a:off x="8054891" y="2883369"/>
            <a:ext cx="4048044" cy="2308324"/>
          </a:xfrm>
          <a:prstGeom prst="rect">
            <a:avLst/>
          </a:prstGeom>
          <a:noFill/>
          <a:ln>
            <a:solidFill>
              <a:srgbClr val="4E95D9"/>
            </a:solidFill>
          </a:ln>
        </p:spPr>
        <p:txBody>
          <a:bodyPr wrap="square">
            <a:spAutoFit/>
          </a:bodyPr>
          <a:lstStyle/>
          <a:p>
            <a:r>
              <a:rPr lang="en-US" altLang="ja-JP" sz="1600" dirty="0">
                <a:latin typeface="游ゴシック" panose="020B0400000000000000" pitchFamily="50" charset="-128"/>
              </a:rPr>
              <a:t>We also examined the placement of the struts and other components. The design was intended to create a geometrically rigid structure by forming a triangular configuration with the swan neck and struts when viewed from the side, and by arranging the struts in a V-shape when viewed from the rear.</a:t>
            </a:r>
          </a:p>
          <a:p>
            <a:r>
              <a:rPr lang="en-US" altLang="ja-JP" sz="1600" dirty="0">
                <a:latin typeface="游ゴシック" panose="020B0400000000000000" pitchFamily="50" charset="-128"/>
              </a:rPr>
              <a:t>(Please refer to the images below.)</a:t>
            </a:r>
            <a:endParaRPr lang="ja-JP" altLang="en-US" sz="16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23596373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14494</TotalTime>
  <Words>2644</Words>
  <Application>Microsoft Macintosh PowerPoint</Application>
  <PresentationFormat>ワイド画面</PresentationFormat>
  <Paragraphs>209</Paragraphs>
  <Slides>11</Slides>
  <Notes>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ＭＳ Ｐゴシック</vt:lpstr>
      <vt:lpstr>游ゴシック</vt:lpstr>
      <vt:lpstr>Arial</vt:lpstr>
      <vt:lpstr>Cambria Math</vt:lpstr>
      <vt:lpstr>Office テーマ</vt:lpstr>
      <vt:lpstr>Aerodynamics</vt:lpstr>
      <vt:lpstr>Aerodynamics</vt:lpstr>
      <vt:lpstr>Aerodynamics</vt:lpstr>
      <vt:lpstr>Aerodynamics</vt:lpstr>
      <vt:lpstr>Aerodynamics</vt:lpstr>
      <vt:lpstr>Aerodynamics</vt:lpstr>
      <vt:lpstr>Aerodynamics</vt:lpstr>
      <vt:lpstr>Aerodynamics</vt:lpstr>
      <vt:lpstr>Aerodynamics</vt:lpstr>
      <vt:lpstr>Aerodynamics</vt:lpstr>
      <vt:lpstr>Aerodynamics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2026年度方針</dc:title>
  <dc:creator>ayato niwa</dc:creator>
  <cp:lastModifiedBy>皆川　草太</cp:lastModifiedBy>
  <cp:revision>160</cp:revision>
  <dcterms:created xsi:type="dcterms:W3CDTF">2025-09-17T16:33:16Z</dcterms:created>
  <dcterms:modified xsi:type="dcterms:W3CDTF">2026-05-10T04:32:31Z</dcterms:modified>
</cp:coreProperties>
</file>