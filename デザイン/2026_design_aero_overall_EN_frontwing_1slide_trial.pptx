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3"/>
  </p:notesMasterIdLst>
  <p:sldIdLst>
    <p:sldId id="285" r:id="rId7"/>
    <p:sldId id="289" r:id="rId11"/>
    <p:sldId id="290" r:id="rId12"/>
    <p:sldId id="292" r:id="rId8"/>
    <p:sldId id="29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日本語" id="{7E8CFB1E-C4F0-1148-908E-F4801D9547F3}">
          <p14:sldIdLst>
            <p14:sldId id="288"/>
            <p14:sldId id="286"/>
            <p14:sldId id="270"/>
            <p14:sldId id="278"/>
            <p14:sldId id="291"/>
          </p14:sldIdLst>
        </p14:section>
        <p14:section name="EN" id="{EB0C38CE-F824-5E4A-B23C-87ECA49620C7}">
          <p14:sldIdLst>
            <p14:sldId id="285"/>
            <p14:sldId id="287"/>
            <p14:sldId id="279"/>
            <p14:sldId id="280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FFFFFF"/>
    <a:srgbClr val="C1C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C9B91-B561-4166-AD25-6483392F9263}" v="17" dt="2026-04-30T06:16:14.0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3415" autoAdjust="0"/>
  </p:normalViewPr>
  <p:slideViewPr>
    <p:cSldViewPr snapToGrid="0">
      <p:cViewPr varScale="1">
        <p:scale>
          <a:sx n="112" d="100"/>
          <a:sy n="112" d="100"/>
        </p:scale>
        <p:origin x="57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" Type="http://schemas.openxmlformats.org/officeDocument/2006/relationships/slide" Target="slides/slide1.xml"/><Relationship Id="rId8" Type="http://schemas.openxmlformats.org/officeDocument/2006/relationships/slide" Target="slides/slide4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40AB8-B2D8-4875-BFBD-64ED3DE7DD4A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00B1F-E3FE-4F0F-B1E1-4E5B8CEC7A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42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71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50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0852-B087-B829-4D2C-68BB0C4BF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2B28595-85ED-46FF-DC2B-F16E27635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F0B80FE-4AC8-45BC-1944-A72D26F330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ECF9C-9076-C62C-CA04-ED16BEB1B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F00B1F-E3FE-4F0F-B1E1-4E5B8CEC7A7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18757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平行四辺形 11">
            <a:extLst>
              <a:ext uri="{FF2B5EF4-FFF2-40B4-BE49-F238E27FC236}">
                <a16:creationId xmlns:a16="http://schemas.microsoft.com/office/drawing/2014/main" id="{880DCD45-62DE-1242-2145-FEFE4D68530C}"/>
              </a:ext>
            </a:extLst>
          </p:cNvPr>
          <p:cNvSpPr/>
          <p:nvPr userDrawn="1"/>
        </p:nvSpPr>
        <p:spPr>
          <a:xfrm>
            <a:off x="-4410" y="-5758"/>
            <a:ext cx="6551514" cy="6863758"/>
          </a:xfrm>
          <a:custGeom>
            <a:avLst/>
            <a:gdLst>
              <a:gd name="csX0" fmla="*/ 0 w 8674100"/>
              <a:gd name="csY0" fmla="*/ 6831912 h 6831912"/>
              <a:gd name="csX1" fmla="*/ 2084826 w 8674100"/>
              <a:gd name="csY1" fmla="*/ 0 h 6831912"/>
              <a:gd name="csX2" fmla="*/ 8674100 w 8674100"/>
              <a:gd name="csY2" fmla="*/ 0 h 6831912"/>
              <a:gd name="csX3" fmla="*/ 6589274 w 8674100"/>
              <a:gd name="csY3" fmla="*/ 6831912 h 6831912"/>
              <a:gd name="csX4" fmla="*/ 0 w 8674100"/>
              <a:gd name="csY4" fmla="*/ 6831912 h 6831912"/>
              <a:gd name="csX0" fmla="*/ 0 w 8674100"/>
              <a:gd name="csY0" fmla="*/ 6831912 h 6831912"/>
              <a:gd name="csX1" fmla="*/ 54858 w 8674100"/>
              <a:gd name="csY1" fmla="*/ 36576 h 6831912"/>
              <a:gd name="csX2" fmla="*/ 8674100 w 8674100"/>
              <a:gd name="csY2" fmla="*/ 0 h 6831912"/>
              <a:gd name="csX3" fmla="*/ 6589274 w 8674100"/>
              <a:gd name="csY3" fmla="*/ 6831912 h 6831912"/>
              <a:gd name="csX4" fmla="*/ 0 w 8674100"/>
              <a:gd name="csY4" fmla="*/ 6831912 h 6831912"/>
              <a:gd name="csX0" fmla="*/ 4409 w 8678509"/>
              <a:gd name="csY0" fmla="*/ 6837669 h 6837669"/>
              <a:gd name="csX1" fmla="*/ 0 w 8678509"/>
              <a:gd name="csY1" fmla="*/ 0 h 6837669"/>
              <a:gd name="csX2" fmla="*/ 8678509 w 8678509"/>
              <a:gd name="csY2" fmla="*/ 5757 h 6837669"/>
              <a:gd name="csX3" fmla="*/ 6593683 w 8678509"/>
              <a:gd name="csY3" fmla="*/ 6837669 h 6837669"/>
              <a:gd name="csX4" fmla="*/ 4409 w 8678509"/>
              <a:gd name="csY4" fmla="*/ 6837669 h 6837669"/>
              <a:gd name="csX0" fmla="*/ 4409 w 6593683"/>
              <a:gd name="csY0" fmla="*/ 6844612 h 6844612"/>
              <a:gd name="csX1" fmla="*/ 0 w 6593683"/>
              <a:gd name="csY1" fmla="*/ 6943 h 6844612"/>
              <a:gd name="csX2" fmla="*/ 2239609 w 6593683"/>
              <a:gd name="csY2" fmla="*/ 0 h 6844612"/>
              <a:gd name="csX3" fmla="*/ 6593683 w 6593683"/>
              <a:gd name="csY3" fmla="*/ 6844612 h 6844612"/>
              <a:gd name="csX4" fmla="*/ 4409 w 6593683"/>
              <a:gd name="csY4" fmla="*/ 6844612 h 6844612"/>
              <a:gd name="csX0" fmla="*/ 4409 w 6593683"/>
              <a:gd name="csY0" fmla="*/ 6837669 h 6837669"/>
              <a:gd name="csX1" fmla="*/ 0 w 6593683"/>
              <a:gd name="csY1" fmla="*/ 0 h 6837669"/>
              <a:gd name="csX2" fmla="*/ 2531709 w 6593683"/>
              <a:gd name="csY2" fmla="*/ 5757 h 6837669"/>
              <a:gd name="csX3" fmla="*/ 6593683 w 6593683"/>
              <a:gd name="csY3" fmla="*/ 6837669 h 6837669"/>
              <a:gd name="csX4" fmla="*/ 4409 w 6593683"/>
              <a:gd name="csY4" fmla="*/ 6837669 h 6837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6593683" h="6837669">
                <a:moveTo>
                  <a:pt x="4409" y="6837669"/>
                </a:moveTo>
                <a:cubicBezTo>
                  <a:pt x="2939" y="4558446"/>
                  <a:pt x="1470" y="2279223"/>
                  <a:pt x="0" y="0"/>
                </a:cubicBezTo>
                <a:lnTo>
                  <a:pt x="2531709" y="5757"/>
                </a:lnTo>
                <a:lnTo>
                  <a:pt x="6593683" y="6837669"/>
                </a:lnTo>
                <a:lnTo>
                  <a:pt x="4409" y="6837669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F7A82D-79BF-364F-2C82-FDD9A2D93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58342" y="6196874"/>
            <a:ext cx="2743200" cy="365125"/>
          </a:xfrm>
        </p:spPr>
        <p:txBody>
          <a:bodyPr/>
          <a:lstStyle>
            <a:lvl1pPr>
              <a:defRPr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defRPr>
            </a:lvl1pPr>
          </a:lstStyle>
          <a:p>
            <a:fld id="{4264D060-8133-4A46-91C4-B3F3520A110D}" type="datetimeFigureOut">
              <a:rPr lang="ja-JP" altLang="en-US" smtClean="0"/>
              <a:pPr/>
              <a:t>2026/5/10</a:t>
            </a:fld>
            <a:endParaRPr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E48FD72-980E-F036-FFA4-BCAB48E1ACAD}"/>
              </a:ext>
            </a:extLst>
          </p:cNvPr>
          <p:cNvSpPr/>
          <p:nvPr userDrawn="1"/>
        </p:nvSpPr>
        <p:spPr>
          <a:xfrm>
            <a:off x="0" y="2048256"/>
            <a:ext cx="12191998" cy="2743169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6E0E0E2E-7307-34D8-F3CF-16A2F2ACC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054" y="2634058"/>
            <a:ext cx="8674100" cy="1589882"/>
          </a:xfrm>
        </p:spPr>
        <p:txBody>
          <a:bodyPr>
            <a:normAutofit/>
          </a:bodyPr>
          <a:lstStyle>
            <a:lvl1pPr algn="l">
              <a:defRPr sz="7200" u="none">
                <a:latin typeface="+mn-lt"/>
                <a:ea typeface="ＭＳ Ｐゴシック" panose="020B0600070205080204" pitchFamily="50" charset="-128"/>
              </a:defRPr>
            </a:lvl1pPr>
          </a:lstStyle>
          <a:p>
            <a:endParaRPr kumimoji="1" lang="ja-JP" altLang="en-US" dirty="0"/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6E85D4F5-6112-EA53-504F-67F2AD0E7195}"/>
              </a:ext>
            </a:extLst>
          </p:cNvPr>
          <p:cNvCxnSpPr>
            <a:cxnSpLocks/>
          </p:cNvCxnSpPr>
          <p:nvPr userDrawn="1"/>
        </p:nvCxnSpPr>
        <p:spPr>
          <a:xfrm>
            <a:off x="0" y="6587753"/>
            <a:ext cx="9134856" cy="0"/>
          </a:xfrm>
          <a:prstGeom prst="line">
            <a:avLst/>
          </a:prstGeom>
          <a:ln w="88900"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0B468095-D4AE-0978-A021-6BDDEC250032}"/>
              </a:ext>
            </a:extLst>
          </p:cNvPr>
          <p:cNvSpPr/>
          <p:nvPr userDrawn="1"/>
        </p:nvSpPr>
        <p:spPr>
          <a:xfrm>
            <a:off x="434648" y="0"/>
            <a:ext cx="1190947" cy="6858000"/>
          </a:xfrm>
          <a:prstGeom prst="rect">
            <a:avLst/>
          </a:prstGeom>
          <a:gradFill flip="none" rotWithShape="1">
            <a:gsLst>
              <a:gs pos="0">
                <a:srgbClr val="4E95D9">
                  <a:shade val="30000"/>
                  <a:satMod val="115000"/>
                </a:srgbClr>
              </a:gs>
              <a:gs pos="50000">
                <a:srgbClr val="4E95D9">
                  <a:shade val="67500"/>
                  <a:satMod val="115000"/>
                </a:srgbClr>
              </a:gs>
              <a:gs pos="100000">
                <a:srgbClr val="4E95D9">
                  <a:shade val="100000"/>
                  <a:satMod val="115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8F5888E-CB54-C2D9-87BE-F37A84A7D6A4}"/>
              </a:ext>
            </a:extLst>
          </p:cNvPr>
          <p:cNvCxnSpPr>
            <a:cxnSpLocks/>
          </p:cNvCxnSpPr>
          <p:nvPr userDrawn="1"/>
        </p:nvCxnSpPr>
        <p:spPr>
          <a:xfrm flipV="1">
            <a:off x="567395" y="68262"/>
            <a:ext cx="0" cy="6721475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1526D9B5-B2EC-4A75-10D9-150236BDF2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134856" y="6196874"/>
            <a:ext cx="3057144" cy="63504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89246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A8ABCE5-FD79-A293-0E0B-36DF3B2E8E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7" y="1977002"/>
            <a:ext cx="7054915" cy="401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88328C3-0F1E-D011-2ABE-1A4D0404B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654" y="174233"/>
            <a:ext cx="10831033" cy="2058987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8800" b="0"/>
            </a:lvl1pPr>
          </a:lstStyle>
          <a:p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26F101F-53F6-AE5D-E149-E8132C10D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3163" y="2270467"/>
            <a:ext cx="4745662" cy="3623449"/>
          </a:xfr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2400" b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5DC95E1-7BEF-84C5-44E0-1974511F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68D1FB-AAA9-9FCE-A1D1-41E5ED5F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E98E9F8-1F95-3B6F-DDF8-4681FA184A66}"/>
              </a:ext>
            </a:extLst>
          </p:cNvPr>
          <p:cNvGrpSpPr/>
          <p:nvPr userDrawn="1"/>
        </p:nvGrpSpPr>
        <p:grpSpPr>
          <a:xfrm>
            <a:off x="310150" y="170701"/>
            <a:ext cx="11910823" cy="1638855"/>
            <a:chOff x="310150" y="170701"/>
            <a:chExt cx="11910823" cy="1638855"/>
          </a:xfrm>
        </p:grpSpPr>
        <p:sp>
          <p:nvSpPr>
            <p:cNvPr id="6" name="矢印: 山形 5">
              <a:extLst>
                <a:ext uri="{FF2B5EF4-FFF2-40B4-BE49-F238E27FC236}">
                  <a16:creationId xmlns:a16="http://schemas.microsoft.com/office/drawing/2014/main" id="{E9AD0AB5-63B3-3922-411C-D512337B0D18}"/>
                </a:ext>
              </a:extLst>
            </p:cNvPr>
            <p:cNvSpPr/>
            <p:nvPr userDrawn="1"/>
          </p:nvSpPr>
          <p:spPr>
            <a:xfrm>
              <a:off x="335550" y="174233"/>
              <a:ext cx="625094" cy="1570593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矢印: 山形 9">
              <a:extLst>
                <a:ext uri="{FF2B5EF4-FFF2-40B4-BE49-F238E27FC236}">
                  <a16:creationId xmlns:a16="http://schemas.microsoft.com/office/drawing/2014/main" id="{0BCBCE41-45B2-4C67-68CA-0F1933F4FC9B}"/>
                </a:ext>
              </a:extLst>
            </p:cNvPr>
            <p:cNvSpPr/>
            <p:nvPr userDrawn="1"/>
          </p:nvSpPr>
          <p:spPr>
            <a:xfrm>
              <a:off x="838200" y="170701"/>
              <a:ext cx="625095" cy="1570593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正方形/長方形 9">
              <a:extLst>
                <a:ext uri="{FF2B5EF4-FFF2-40B4-BE49-F238E27FC236}">
                  <a16:creationId xmlns:a16="http://schemas.microsoft.com/office/drawing/2014/main" id="{960975AB-87DD-F2E8-0182-585369DBCB30}"/>
                </a:ext>
              </a:extLst>
            </p:cNvPr>
            <p:cNvSpPr/>
            <p:nvPr userDrawn="1"/>
          </p:nvSpPr>
          <p:spPr>
            <a:xfrm>
              <a:off x="310150" y="1723771"/>
              <a:ext cx="11910823" cy="85785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19380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19380 w 10653522"/>
                <a:gd name="csY4" fmla="*/ 0 h 86149"/>
                <a:gd name="csX0" fmla="*/ 3831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38312 w 10653522"/>
                <a:gd name="csY4" fmla="*/ 0 h 86149"/>
                <a:gd name="csX0" fmla="*/ 297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29792 w 10653522"/>
                <a:gd name="csY4" fmla="*/ 0 h 86149"/>
                <a:gd name="csX0" fmla="*/ 34051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34051 w 10653522"/>
                <a:gd name="csY4" fmla="*/ 0 h 86149"/>
                <a:gd name="csX0" fmla="*/ 29791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29791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29791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29791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499DDB8-C9E6-90C0-847E-FD877AF3BBAF}"/>
              </a:ext>
            </a:extLst>
          </p:cNvPr>
          <p:cNvCxnSpPr>
            <a:cxnSpLocks/>
          </p:cNvCxnSpPr>
          <p:nvPr userDrawn="1"/>
        </p:nvCxnSpPr>
        <p:spPr>
          <a:xfrm>
            <a:off x="0" y="6587753"/>
            <a:ext cx="9134856" cy="0"/>
          </a:xfrm>
          <a:prstGeom prst="line">
            <a:avLst/>
          </a:prstGeom>
          <a:ln w="88900">
            <a:solidFill>
              <a:schemeClr val="tx2">
                <a:lumMod val="90000"/>
                <a:lumOff val="1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図 10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293A54-73D3-537E-2F55-77DFD159CA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134856" y="6196874"/>
            <a:ext cx="3057144" cy="63504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8292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313C4F-A02D-8487-45FE-957A23F0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297" y="192516"/>
            <a:ext cx="10515600" cy="885115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D7E764-4DF6-F388-08C6-76CE3E6DE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538"/>
            <a:ext cx="10515600" cy="4860425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3D254-3D26-B0B7-05A9-0CD07BDCA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259216"/>
            <a:ext cx="2743200" cy="365125"/>
          </a:xfrm>
        </p:spPr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1E50FB-9FC6-432E-88D6-31B00177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5566"/>
            <a:ext cx="4114800" cy="36512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8EE75C-07CE-3D57-97C3-61D15FEF0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263449"/>
            <a:ext cx="2743200" cy="365125"/>
          </a:xfrm>
        </p:spPr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61305D1-7424-F6CB-1CD2-6D480F6FB9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9615424" y="6370215"/>
            <a:ext cx="2195576" cy="456072"/>
          </a:xfrm>
          <a:prstGeom prst="rect">
            <a:avLst/>
          </a:prstGeom>
        </p:spPr>
      </p:pic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E03DE539-91EE-7D0C-0350-947895DF8FD2}"/>
              </a:ext>
            </a:extLst>
          </p:cNvPr>
          <p:cNvGrpSpPr/>
          <p:nvPr userDrawn="1"/>
        </p:nvGrpSpPr>
        <p:grpSpPr>
          <a:xfrm>
            <a:off x="287545" y="171398"/>
            <a:ext cx="11904455" cy="862995"/>
            <a:chOff x="287545" y="37322"/>
            <a:chExt cx="11904455" cy="862995"/>
          </a:xfrm>
        </p:grpSpPr>
        <p:sp>
          <p:nvSpPr>
            <p:cNvPr id="11" name="矢印: 山形 10">
              <a:extLst>
                <a:ext uri="{FF2B5EF4-FFF2-40B4-BE49-F238E27FC236}">
                  <a16:creationId xmlns:a16="http://schemas.microsoft.com/office/drawing/2014/main" id="{94E647D0-4C16-DB34-B099-38EE5B03BBE9}"/>
                </a:ext>
              </a:extLst>
            </p:cNvPr>
            <p:cNvSpPr/>
            <p:nvPr userDrawn="1"/>
          </p:nvSpPr>
          <p:spPr>
            <a:xfrm>
              <a:off x="335550" y="37322"/>
              <a:ext cx="437389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矢印: 山形 11">
              <a:extLst>
                <a:ext uri="{FF2B5EF4-FFF2-40B4-BE49-F238E27FC236}">
                  <a16:creationId xmlns:a16="http://schemas.microsoft.com/office/drawing/2014/main" id="{419BCB27-4240-F057-249E-D9A650B2CED6}"/>
                </a:ext>
              </a:extLst>
            </p:cNvPr>
            <p:cNvSpPr/>
            <p:nvPr userDrawn="1"/>
          </p:nvSpPr>
          <p:spPr>
            <a:xfrm>
              <a:off x="619505" y="37322"/>
              <a:ext cx="437390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正方形/長方形 9">
              <a:extLst>
                <a:ext uri="{FF2B5EF4-FFF2-40B4-BE49-F238E27FC236}">
                  <a16:creationId xmlns:a16="http://schemas.microsoft.com/office/drawing/2014/main" id="{16888E1B-68AC-75C5-9A27-1195EF40D7FD}"/>
                </a:ext>
              </a:extLst>
            </p:cNvPr>
            <p:cNvSpPr/>
            <p:nvPr userDrawn="1"/>
          </p:nvSpPr>
          <p:spPr>
            <a:xfrm>
              <a:off x="287545" y="815897"/>
              <a:ext cx="11904455" cy="84420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439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992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43992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43992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E0F4DAE-867C-376F-F95A-52F61012B2EC}"/>
              </a:ext>
            </a:extLst>
          </p:cNvPr>
          <p:cNvCxnSpPr>
            <a:cxnSpLocks/>
          </p:cNvCxnSpPr>
          <p:nvPr userDrawn="1"/>
        </p:nvCxnSpPr>
        <p:spPr>
          <a:xfrm>
            <a:off x="-1" y="6629964"/>
            <a:ext cx="9615425" cy="0"/>
          </a:xfrm>
          <a:prstGeom prst="line">
            <a:avLst/>
          </a:prstGeom>
          <a:ln w="76200"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F89EE3A-EA68-FA56-2199-DF6A3A5577AF}"/>
              </a:ext>
            </a:extLst>
          </p:cNvPr>
          <p:cNvCxnSpPr>
            <a:cxnSpLocks/>
          </p:cNvCxnSpPr>
          <p:nvPr userDrawn="1"/>
        </p:nvCxnSpPr>
        <p:spPr>
          <a:xfrm>
            <a:off x="11811000" y="6629964"/>
            <a:ext cx="381000" cy="0"/>
          </a:xfrm>
          <a:prstGeom prst="line">
            <a:avLst/>
          </a:prstGeom>
          <a:ln w="76200"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3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スライド番号プレースホルダー 5">
            <a:extLst>
              <a:ext uri="{FF2B5EF4-FFF2-40B4-BE49-F238E27FC236}">
                <a16:creationId xmlns:a16="http://schemas.microsoft.com/office/drawing/2014/main" id="{FCD78E63-1B68-FDBC-0936-D9AF46D5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263449"/>
            <a:ext cx="2743200" cy="365125"/>
          </a:xfrm>
        </p:spPr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26" name="図 2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C9C868F-5E8B-DE67-A7DA-295158B34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47" b="39881"/>
          <a:stretch>
            <a:fillRect/>
          </a:stretch>
        </p:blipFill>
        <p:spPr>
          <a:xfrm>
            <a:off x="10135016" y="46987"/>
            <a:ext cx="2056984" cy="427283"/>
          </a:xfrm>
          <a:prstGeom prst="rect">
            <a:avLst/>
          </a:prstGeom>
        </p:spPr>
      </p:pic>
      <p:sp>
        <p:nvSpPr>
          <p:cNvPr id="6" name="タイトル 1">
            <a:extLst>
              <a:ext uri="{FF2B5EF4-FFF2-40B4-BE49-F238E27FC236}">
                <a16:creationId xmlns:a16="http://schemas.microsoft.com/office/drawing/2014/main" id="{F36A0D20-69B9-59C0-0B35-BC7E32F96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691" y="31713"/>
            <a:ext cx="10515600" cy="8851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323CD47C-DAFD-572A-C4DB-6C512BE348E3}"/>
              </a:ext>
            </a:extLst>
          </p:cNvPr>
          <p:cNvGrpSpPr/>
          <p:nvPr userDrawn="1"/>
        </p:nvGrpSpPr>
        <p:grpSpPr>
          <a:xfrm>
            <a:off x="287545" y="31713"/>
            <a:ext cx="11904455" cy="862995"/>
            <a:chOff x="287545" y="37322"/>
            <a:chExt cx="11904455" cy="862995"/>
          </a:xfrm>
        </p:grpSpPr>
        <p:sp>
          <p:nvSpPr>
            <p:cNvPr id="8" name="矢印: 山形 7">
              <a:extLst>
                <a:ext uri="{FF2B5EF4-FFF2-40B4-BE49-F238E27FC236}">
                  <a16:creationId xmlns:a16="http://schemas.microsoft.com/office/drawing/2014/main" id="{4119DA1D-A174-FD08-3708-47BDB8137E5C}"/>
                </a:ext>
              </a:extLst>
            </p:cNvPr>
            <p:cNvSpPr/>
            <p:nvPr userDrawn="1"/>
          </p:nvSpPr>
          <p:spPr>
            <a:xfrm>
              <a:off x="335550" y="37322"/>
              <a:ext cx="437389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矢印: 山形 8">
              <a:extLst>
                <a:ext uri="{FF2B5EF4-FFF2-40B4-BE49-F238E27FC236}">
                  <a16:creationId xmlns:a16="http://schemas.microsoft.com/office/drawing/2014/main" id="{3356F3D5-46C4-0ECD-1E33-F32AAF908549}"/>
                </a:ext>
              </a:extLst>
            </p:cNvPr>
            <p:cNvSpPr/>
            <p:nvPr userDrawn="1"/>
          </p:nvSpPr>
          <p:spPr>
            <a:xfrm>
              <a:off x="619505" y="37322"/>
              <a:ext cx="437390" cy="780742"/>
            </a:xfrm>
            <a:prstGeom prst="chevron">
              <a:avLst/>
            </a:prstGeom>
            <a:gradFill flip="none" rotWithShape="1">
              <a:gsLst>
                <a:gs pos="0">
                  <a:schemeClr val="tx2">
                    <a:lumMod val="50000"/>
                    <a:lumOff val="50000"/>
                    <a:shade val="30000"/>
                    <a:satMod val="115000"/>
                  </a:schemeClr>
                </a:gs>
                <a:gs pos="50000">
                  <a:schemeClr val="tx2">
                    <a:lumMod val="50000"/>
                    <a:lumOff val="50000"/>
                    <a:shade val="67500"/>
                    <a:satMod val="115000"/>
                  </a:schemeClr>
                </a:gs>
                <a:gs pos="100000">
                  <a:schemeClr val="tx2">
                    <a:lumMod val="50000"/>
                    <a:lumOff val="50000"/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3F63B315-B5B0-D69D-C08B-B3F8CA6BB09A}"/>
                </a:ext>
              </a:extLst>
            </p:cNvPr>
            <p:cNvSpPr/>
            <p:nvPr userDrawn="1"/>
          </p:nvSpPr>
          <p:spPr>
            <a:xfrm>
              <a:off x="287545" y="815897"/>
              <a:ext cx="11904455" cy="84420"/>
            </a:xfrm>
            <a:custGeom>
              <a:avLst/>
              <a:gdLst>
                <a:gd name="connsiteX0" fmla="*/ 0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0 w 10653522"/>
                <a:gd name="connsiteY4" fmla="*/ 0 h 86148"/>
                <a:gd name="connsiteX0" fmla="*/ 28575 w 10653522"/>
                <a:gd name="connsiteY0" fmla="*/ 0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28575 w 10653522"/>
                <a:gd name="connsiteY4" fmla="*/ 0 h 86148"/>
                <a:gd name="connsiteX0" fmla="*/ 44450 w 10653522"/>
                <a:gd name="connsiteY0" fmla="*/ 3175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44450 w 10653522"/>
                <a:gd name="connsiteY4" fmla="*/ 3175 h 86148"/>
                <a:gd name="connsiteX0" fmla="*/ 3810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8100 w 10653522"/>
                <a:gd name="connsiteY4" fmla="*/ 1587 h 86148"/>
                <a:gd name="connsiteX0" fmla="*/ 33337 w 10653522"/>
                <a:gd name="connsiteY0" fmla="*/ 0 h 87736"/>
                <a:gd name="connsiteX1" fmla="*/ 10653522 w 10653522"/>
                <a:gd name="connsiteY1" fmla="*/ 1588 h 87736"/>
                <a:gd name="connsiteX2" fmla="*/ 10653522 w 10653522"/>
                <a:gd name="connsiteY2" fmla="*/ 87736 h 87736"/>
                <a:gd name="connsiteX3" fmla="*/ 0 w 10653522"/>
                <a:gd name="connsiteY3" fmla="*/ 87736 h 87736"/>
                <a:gd name="connsiteX4" fmla="*/ 33337 w 10653522"/>
                <a:gd name="connsiteY4" fmla="*/ 0 h 87736"/>
                <a:gd name="connsiteX0" fmla="*/ 31750 w 10653522"/>
                <a:gd name="connsiteY0" fmla="*/ 1587 h 86148"/>
                <a:gd name="connsiteX1" fmla="*/ 10653522 w 10653522"/>
                <a:gd name="connsiteY1" fmla="*/ 0 h 86148"/>
                <a:gd name="connsiteX2" fmla="*/ 10653522 w 10653522"/>
                <a:gd name="connsiteY2" fmla="*/ 86148 h 86148"/>
                <a:gd name="connsiteX3" fmla="*/ 0 w 10653522"/>
                <a:gd name="connsiteY3" fmla="*/ 86148 h 86148"/>
                <a:gd name="connsiteX4" fmla="*/ 31750 w 10653522"/>
                <a:gd name="connsiteY4" fmla="*/ 1587 h 86148"/>
                <a:gd name="connsiteX0" fmla="*/ 36512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6512 w 10653522"/>
                <a:gd name="connsiteY4" fmla="*/ 0 h 86149"/>
                <a:gd name="connsiteX0" fmla="*/ 38100 w 10653522"/>
                <a:gd name="connsiteY0" fmla="*/ 0 h 86149"/>
                <a:gd name="connsiteX1" fmla="*/ 10653522 w 10653522"/>
                <a:gd name="connsiteY1" fmla="*/ 1 h 86149"/>
                <a:gd name="connsiteX2" fmla="*/ 10653522 w 10653522"/>
                <a:gd name="connsiteY2" fmla="*/ 86149 h 86149"/>
                <a:gd name="connsiteX3" fmla="*/ 0 w 10653522"/>
                <a:gd name="connsiteY3" fmla="*/ 86149 h 86149"/>
                <a:gd name="connsiteX4" fmla="*/ 38100 w 10653522"/>
                <a:gd name="connsiteY4" fmla="*/ 0 h 86149"/>
                <a:gd name="csX0" fmla="*/ 43886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886 w 10653522"/>
                <a:gd name="csY4" fmla="*/ 0 h 86149"/>
                <a:gd name="csX0" fmla="*/ 4967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9672 w 10653522"/>
                <a:gd name="csY4" fmla="*/ 0 h 86149"/>
                <a:gd name="csX0" fmla="*/ 43992 w 10653522"/>
                <a:gd name="csY0" fmla="*/ 0 h 86149"/>
                <a:gd name="csX1" fmla="*/ 10653522 w 10653522"/>
                <a:gd name="csY1" fmla="*/ 1 h 86149"/>
                <a:gd name="csX2" fmla="*/ 10653522 w 10653522"/>
                <a:gd name="csY2" fmla="*/ 86149 h 86149"/>
                <a:gd name="csX3" fmla="*/ 0 w 10653522"/>
                <a:gd name="csY3" fmla="*/ 86149 h 86149"/>
                <a:gd name="csX4" fmla="*/ 43992 w 10653522"/>
                <a:gd name="csY4" fmla="*/ 0 h 861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53522" h="86149">
                  <a:moveTo>
                    <a:pt x="43992" y="0"/>
                  </a:moveTo>
                  <a:lnTo>
                    <a:pt x="10653522" y="1"/>
                  </a:lnTo>
                  <a:lnTo>
                    <a:pt x="10653522" y="86149"/>
                  </a:lnTo>
                  <a:lnTo>
                    <a:pt x="0" y="86149"/>
                  </a:lnTo>
                  <a:lnTo>
                    <a:pt x="43992" y="0"/>
                  </a:lnTo>
                  <a:close/>
                </a:path>
              </a:pathLst>
            </a:custGeom>
            <a:solidFill>
              <a:srgbClr val="4E95D9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AA6DA0E-9F71-822B-02A2-F4099BB438B2}"/>
              </a:ext>
            </a:extLst>
          </p:cNvPr>
          <p:cNvSpPr txBox="1"/>
          <p:nvPr userDrawn="1"/>
        </p:nvSpPr>
        <p:spPr>
          <a:xfrm>
            <a:off x="8439036" y="471734"/>
            <a:ext cx="377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b="1" dirty="0"/>
              <a:t>Tokyo Metropolitan University #C24</a:t>
            </a:r>
            <a:endParaRPr kumimoji="1" lang="ja-JP" altLang="en-US" sz="1600" b="1" dirty="0"/>
          </a:p>
        </p:txBody>
      </p: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A75CBFF0-3630-BB59-A95C-B16FE2503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550" y="1100942"/>
            <a:ext cx="11460210" cy="5443213"/>
          </a:xfrm>
        </p:spPr>
        <p:txBody>
          <a:bodyPr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9628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AA1F2-66DB-1FF2-F861-BF2D8752A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E0AC22-DBF8-3EE2-AE24-550743735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766D7-614B-94DA-0C28-863D5B26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7CC300-9DA2-F998-3548-F1C01403DE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3E10214-DE77-F170-AA5F-B8A2B19BD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C0C0F2D-8F3C-73A3-E660-FA3756B7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24E0F2D-546A-EC3D-FB2C-F8C9F0A39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E55E62E-4625-59E2-8BB9-366B6AFD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4867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BE30A7-828F-CC2D-60BF-173188D6C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09298BC-17C9-10D6-6AB4-37A89C89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BFBCF83-0338-2574-6486-5678E52B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B912BE4-C232-4B3D-E9C8-0FCE6182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44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4A48B63-2001-691D-9DED-C0F118BBD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959EAA5-F957-AED1-B63F-6FA3B4D6C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B0C72B-E445-1A07-DB98-9C5A6DF12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08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4A563B-3EA7-DC33-850D-C5A82F3BC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9DE138D-7CA6-E350-621A-62A2B0141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6C41CD-A85A-5C7A-A64C-7637D482B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175004-67F4-C977-B2C2-2C395E62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52B3CA-9A2E-8A04-E901-583156C36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C25AFDA-329C-7F85-4AAF-F2262E15F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9099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4FD402-1447-B49A-2361-F5804EC4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D1B6CDF-100D-52E5-9552-4B068564EF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E65BF2C-E8F5-DD01-AF7A-75CC192CF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1E9A260-9E4E-8830-3AEF-96386D2D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54E7B1A-24CA-43A1-1548-0EB9B17C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CD3C03-0814-E87A-5CA5-A0498E80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1021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36D40-7B23-7204-11DD-C7C45186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9FA96F4-90A0-3BE9-8FC4-C26510FA5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277CE6-5DD1-EDF8-2142-89265795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7A1F84-2310-F6EA-726F-37FE0FFA3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2C90B5-5077-CFD0-2F81-D94ACD9FF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8384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2E02BF8-743A-84DF-DB82-78EAEDB002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3FA70F-353A-F505-9BF2-58667DA2B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E828E2-29D0-BE64-3610-9367B87EF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DF7D51-359B-2456-30C2-AE60E074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9D7B2A-301E-BE3E-82EE-3DC38D07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37994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D1959FD-EAC9-0BB4-FDB6-CB9ECEE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270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D3CF71-2D9C-0894-1AAB-9605E9A06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61BC02-3CCB-40CE-5381-C193707CA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64D060-8133-4A46-91C4-B3F3520A110D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9A3DA8-3428-49E0-FC82-6A827A50A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C962D1-C988-251E-289C-11C47036A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C735D2-2AD9-4AB2-91C9-DAA375501A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4328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3" r:id="rId2"/>
    <p:sldLayoutId id="2147483722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b="0" u="none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0.png"/><Relationship Id="rId3" Type="http://schemas.openxmlformats.org/officeDocument/2006/relationships/image" Target="../media/image1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4771-DA2B-C7F4-61B8-85A39EEB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AB4F6-9DEB-A061-DC0C-6E5A1CBC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 dirty="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6D445E6-D8B2-CEFE-6CAB-A83CCF47C13E}"/>
              </a:ext>
            </a:extLst>
          </p:cNvPr>
          <p:cNvSpPr txBox="1"/>
          <p:nvPr/>
        </p:nvSpPr>
        <p:spPr>
          <a:xfrm>
            <a:off x="138228" y="907916"/>
            <a:ext cx="502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 b="1">
                <a:latin typeface="游ゴシック"/>
                <a:ea typeface="游ゴシック"/>
                <a:cs typeface="游ゴシック"/>
              </a:rPr>
              <a:t>Aerodynamic Device Overview</a:t>
            </a:r>
            <a:endParaRPr kumimoji="1" lang="ja-JP" altLang="en-US" sz="24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5773DE-7AE0-3FAE-1DD1-5B8C5E064532}"/>
              </a:ext>
            </a:extLst>
          </p:cNvPr>
          <p:cNvSpPr txBox="1"/>
          <p:nvPr/>
        </p:nvSpPr>
        <p:spPr>
          <a:xfrm>
            <a:off x="138227" y="1283427"/>
            <a:ext cx="7167141" cy="1323439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0.1 Why aero devices were adopted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Aero devices were introduced to achieve sharper vehicle behavior.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Simulation showed that downforce gains outweigh the added weight.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team also had enough members and prior production tests to support development.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28FD632-EA39-7B8C-48E3-497E3AEFF664}"/>
              </a:ext>
            </a:extLst>
          </p:cNvPr>
          <p:cNvSpPr/>
          <p:nvPr/>
        </p:nvSpPr>
        <p:spPr>
          <a:xfrm>
            <a:off x="18154" y="2618858"/>
            <a:ext cx="6391882" cy="1850690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09722B6-89CC-FA00-C4FC-226C4F8C296A}"/>
              </a:ext>
            </a:extLst>
          </p:cNvPr>
          <p:cNvSpPr txBox="1"/>
          <p:nvPr/>
        </p:nvSpPr>
        <p:spPr>
          <a:xfrm>
            <a:off x="198607" y="2616267"/>
            <a:ext cx="59369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0.2 Development targets</a:t>
            </a:r>
            <a:endParaRPr lang="en-US" altLang="ja-JP" b="1" u="sng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1. Easy-to-manufacture geometry.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Sufficient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3. Strength against failure.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4. Weight reduction while prioritizing manufacturability.</a:t>
            </a:r>
          </a:p>
        </p:txBody>
      </p:sp>
      <p:sp>
        <p:nvSpPr>
          <p:cNvPr id="3" name="四角形: 角を丸くする 4">
            <a:extLst>
              <a:ext uri="{FF2B5EF4-FFF2-40B4-BE49-F238E27FC236}">
                <a16:creationId xmlns:a16="http://schemas.microsoft.com/office/drawing/2014/main" id="{93040181-E2A7-0372-9D27-4D4D05D74C12}"/>
              </a:ext>
            </a:extLst>
          </p:cNvPr>
          <p:cNvSpPr/>
          <p:nvPr/>
        </p:nvSpPr>
        <p:spPr>
          <a:xfrm>
            <a:off x="28053" y="4510820"/>
            <a:ext cx="6381983" cy="1509669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4EA7266-A7C2-FBA1-2964-03E2B96D7CBF}"/>
              </a:ext>
            </a:extLst>
          </p:cNvPr>
          <p:cNvSpPr txBox="1"/>
          <p:nvPr/>
        </p:nvSpPr>
        <p:spPr>
          <a:xfrm>
            <a:off x="208507" y="4561238"/>
            <a:ext cx="620153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0.3 Risk management</a:t>
            </a:r>
            <a:endParaRPr lang="en-US" altLang="ja-JP" b="1" u="sng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Because this was the first aero package, development was managed so it would not disrupt the full vehicle schedule.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If SES approval was delayed or a critical issue occurred, aero development would be stopped immediately.</a:t>
            </a:r>
          </a:p>
        </p:txBody>
      </p:sp>
      <p:sp>
        <p:nvSpPr>
          <p:cNvPr id="13" name="四角形: 角を丸くする 4">
            <a:extLst>
              <a:ext uri="{FF2B5EF4-FFF2-40B4-BE49-F238E27FC236}">
                <a16:creationId xmlns:a16="http://schemas.microsoft.com/office/drawing/2014/main" id="{0E25AC76-A627-C593-E986-F04C36649CFF}"/>
              </a:ext>
            </a:extLst>
          </p:cNvPr>
          <p:cNvSpPr/>
          <p:nvPr/>
        </p:nvSpPr>
        <p:spPr>
          <a:xfrm>
            <a:off x="6419935" y="4230030"/>
            <a:ext cx="5753911" cy="2310217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FDE60A3-C02E-86A5-FC04-20E35CEAE10D}"/>
              </a:ext>
            </a:extLst>
          </p:cNvPr>
          <p:cNvSpPr txBox="1"/>
          <p:nvPr/>
        </p:nvSpPr>
        <p:spPr>
          <a:xfrm>
            <a:off x="6600389" y="4280448"/>
            <a:ext cx="556355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0.4 Performance and production strategy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tire-force plot shows vertical load on the horizontal axis and resultant tire force on the vertical axis.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Maximum tire force increases almost linearly with vertical load, so the design prioritizes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Manufacturing tests confirmed wet layup, VaRTM, demolding, vacuum quality, and cure-time requirements.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DFEAFA2-23CC-F16A-FAF7-EC276664FD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267" y="934018"/>
            <a:ext cx="4424587" cy="2949724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51EE117-7421-467A-2ED6-7F0A4C0CB86E}"/>
              </a:ext>
            </a:extLst>
          </p:cNvPr>
          <p:cNvCxnSpPr>
            <a:cxnSpLocks/>
          </p:cNvCxnSpPr>
          <p:nvPr/>
        </p:nvCxnSpPr>
        <p:spPr>
          <a:xfrm flipH="1">
            <a:off x="7843962" y="1263116"/>
            <a:ext cx="2002491" cy="2447493"/>
          </a:xfrm>
          <a:prstGeom prst="line">
            <a:avLst/>
          </a:prstGeom>
          <a:ln w="476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角丸四角形吹き出し 15">
            <a:extLst>
              <a:ext uri="{FF2B5EF4-FFF2-40B4-BE49-F238E27FC236}">
                <a16:creationId xmlns:a16="http://schemas.microsoft.com/office/drawing/2014/main" id="{F48310BF-8813-AA2C-0492-4CC15C342200}"/>
              </a:ext>
            </a:extLst>
          </p:cNvPr>
          <p:cNvSpPr/>
          <p:nvPr/>
        </p:nvSpPr>
        <p:spPr>
          <a:xfrm>
            <a:off x="9595799" y="2767273"/>
            <a:ext cx="2002492" cy="684530"/>
          </a:xfrm>
          <a:prstGeom prst="wedgeRoundRectCallout">
            <a:avLst>
              <a:gd name="adj1" fmla="val -85550"/>
              <a:gd name="adj2" fmla="val -103166"/>
              <a:gd name="adj3" fmla="val 16667"/>
            </a:avLst>
          </a:prstGeom>
          <a:solidFill>
            <a:schemeClr val="accent1">
              <a:lumMod val="20000"/>
              <a:lumOff val="80000"/>
              <a:alpha val="8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游ゴシック"/>
                <a:ea typeface="游ゴシック"/>
                <a:cs typeface="游ゴシック"/>
              </a:rPr>
              <a:t>almost linear increase</a:t>
            </a:r>
            <a:endParaRPr kumimoji="1" lang="ja-JP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AA04708-DFDF-3CC4-1319-652DCC7C1B10}"/>
              </a:ext>
            </a:extLst>
          </p:cNvPr>
          <p:cNvSpPr txBox="1"/>
          <p:nvPr/>
        </p:nvSpPr>
        <p:spPr>
          <a:xfrm>
            <a:off x="7890342" y="3855144"/>
            <a:ext cx="410643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Fig. 1 Vertical load vs. resultant tire force</a:t>
            </a:r>
            <a:endParaRPr lang="ja-JP" altLang="en-US" sz="1600"/>
          </a:p>
        </p:txBody>
      </p:sp>
    </p:spTree>
    <p:extLst>
      <p:ext uri="{BB962C8B-B14F-4D97-AF65-F5344CB8AC3E}">
        <p14:creationId xmlns:p14="http://schemas.microsoft.com/office/powerpoint/2010/main" val="392529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16AE-BBBE-BD1E-48D1-FA6B439B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70816C-D6EA-3730-1D17-733F341C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515D37-477D-34BF-C48B-46A4797D32FF}"/>
              </a:ext>
            </a:extLst>
          </p:cNvPr>
          <p:cNvSpPr txBox="1"/>
          <p:nvPr/>
        </p:nvSpPr>
        <p:spPr>
          <a:xfrm>
            <a:off x="138228" y="976742"/>
            <a:ext cx="2807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400" b="1">
                <a:latin typeface="游ゴシック"/>
                <a:ea typeface="游ゴシック"/>
                <a:cs typeface="游ゴシック"/>
              </a:rPr>
              <a:t>Rear Wing</a:t>
            </a:r>
            <a:endParaRPr kumimoji="1" lang="ja-JP" altLang="en-US" sz="24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1BB135-EBF4-BB07-336F-9899F1C83303}"/>
              </a:ext>
            </a:extLst>
          </p:cNvPr>
          <p:cNvSpPr txBox="1"/>
          <p:nvPr/>
        </p:nvSpPr>
        <p:spPr>
          <a:xfrm>
            <a:off x="1856908" y="1034717"/>
            <a:ext cx="49099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design process is summarized below.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8D0BA3-C132-51D2-03A7-5F69576DCD83}"/>
              </a:ext>
            </a:extLst>
          </p:cNvPr>
          <p:cNvSpPr txBox="1"/>
          <p:nvPr/>
        </p:nvSpPr>
        <p:spPr>
          <a:xfrm>
            <a:off x="138228" y="1493012"/>
            <a:ext cx="5865409" cy="830997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1. Select airfoils and angles of attack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Determine slot gaps and overlaps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3. Build the 3D model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44D7BA9-389B-F0D9-288E-E7603CFC8261}"/>
              </a:ext>
            </a:extLst>
          </p:cNvPr>
          <p:cNvSpPr/>
          <p:nvPr/>
        </p:nvSpPr>
        <p:spPr>
          <a:xfrm>
            <a:off x="30656" y="2551814"/>
            <a:ext cx="6736175" cy="4274473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F01E3B3-AF0D-BADC-9AB6-ACEA55586F3E}"/>
              </a:ext>
            </a:extLst>
          </p:cNvPr>
          <p:cNvSpPr txBox="1"/>
          <p:nvPr/>
        </p:nvSpPr>
        <p:spPr>
          <a:xfrm>
            <a:off x="192651" y="2652025"/>
            <a:ext cx="650017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1. Airfoil selection and angle of attack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rear wing was designed around S1223 because it has a high lift coefficient and strong low-Reynolds-number performance.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For a 3-element wing with a 1000 mm span, repeated 2D Ansys analyses showed that 0°, 30°, and 50° produced high downforce with low drag.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To reduce structural load and downforce instability from a large negative pitching moment, the main plane was changed from S1223 to S1223 RTL.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D4BE3C0-7384-4EE6-E3B1-AEA2DB37514C}"/>
              </a:ext>
            </a:extLst>
          </p:cNvPr>
          <p:cNvSpPr/>
          <p:nvPr/>
        </p:nvSpPr>
        <p:spPr>
          <a:xfrm>
            <a:off x="6849809" y="3994017"/>
            <a:ext cx="5227939" cy="2832270"/>
          </a:xfrm>
          <a:prstGeom prst="roundRect">
            <a:avLst/>
          </a:prstGeom>
          <a:ln>
            <a:solidFill>
              <a:srgbClr val="4E95D9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100BA18-219B-36C4-ECF2-E1DCC27C0C2D}"/>
              </a:ext>
            </a:extLst>
          </p:cNvPr>
          <p:cNvSpPr txBox="1"/>
          <p:nvPr/>
        </p:nvSpPr>
        <p:spPr>
          <a:xfrm>
            <a:off x="7051833" y="3994017"/>
            <a:ext cx="505897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An upper wing was added to increase downforce.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first upper element tended to stall, so E423 was selected.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NACA M3 was also checked, but with the small second-element angle there was little difference in separation or drag; E423 was better for downforce.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32D9B95-6EDE-2F59-F03C-23E8BA39342E}"/>
                  </a:ext>
                </a:extLst>
              </p:cNvPr>
              <p:cNvSpPr txBox="1"/>
              <p:nvPr/>
            </p:nvSpPr>
            <p:spPr>
              <a:xfrm>
                <a:off x="6999018" y="2081158"/>
                <a:ext cx="4694218" cy="712631"/>
              </a:xfrm>
              <a:prstGeom prst="rect">
                <a:avLst/>
              </a:prstGeom>
              <a:noFill/>
              <a:ln>
                <a:solidFill>
                  <a:srgbClr val="4E95D9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ja-JP" altLang="en-US" sz="2800" b="1" i="1" smtClean="0">
                        <a:latin typeface="Cambria Math" panose="02040503050406030204" pitchFamily="18" charset="0"/>
                      </a:rPr>
                      <m:t>𝝆</m:t>
                    </m:r>
                    <m:sSup>
                      <m:sSupPr>
                        <m:ctrlP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2800" b="1" i="1" smtClean="0">
                            <a:latin typeface="Cambria Math" panose="02040503050406030204" pitchFamily="18" charset="0"/>
                          </a:rPr>
                          <m:t>𝝊</m:t>
                        </m:r>
                      </m:e>
                      <m:sup>
                        <m:r>
                          <a:rPr lang="en-US" altLang="ja-JP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S</a:t>
                </a:r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</a:t>
                </a:r>
                <a:r>
                  <a:rPr kumimoji="1" lang="ja-JP" altLang="en-US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・</a:t>
                </a:r>
                <a:r>
                  <a:rPr kumimoji="1" lang="en-US" altLang="ja-JP" sz="28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Cm   (1)</a:t>
                </a:r>
                <a:endParaRPr kumimoji="1" lang="ja-JP" altLang="en-US" sz="2800" b="1" dirty="0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32D9B95-6EDE-2F59-F03C-23E8BA393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9018" y="2081158"/>
                <a:ext cx="4694218" cy="712631"/>
              </a:xfrm>
              <a:prstGeom prst="rect">
                <a:avLst/>
              </a:prstGeom>
              <a:blipFill>
                <a:blip r:embed="rId2"/>
                <a:stretch>
                  <a:fillRect l="-2461" r="-1943" b="-10084"/>
                </a:stretch>
              </a:blipFill>
              <a:ln>
                <a:solidFill>
                  <a:srgbClr val="4E95D9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A0744CE-1C70-A769-42E0-5662E45CB6AC}"/>
                  </a:ext>
                </a:extLst>
              </p:cNvPr>
              <p:cNvSpPr txBox="1"/>
              <p:nvPr/>
            </p:nvSpPr>
            <p:spPr>
              <a:xfrm>
                <a:off x="7478347" y="2777061"/>
                <a:ext cx="3887883" cy="1185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ja-JP" altLang="en-US" sz="1600" b="1" i="1">
                        <a:latin typeface="Cambria Math" panose="02040503050406030204" pitchFamily="18" charset="0"/>
                      </a:rPr>
                      <m:t>𝝆</m:t>
                    </m:r>
                    <m:sSup>
                      <m:sSupPr>
                        <m:ctrlPr>
                          <a:rPr lang="en-US" altLang="ja-JP" sz="1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en-US" sz="1600" b="1" i="1">
                            <a:latin typeface="Cambria Math" panose="02040503050406030204" pitchFamily="18" charset="0"/>
                          </a:rPr>
                          <m:t>𝝊</m:t>
                        </m:r>
                      </m:e>
                      <m:sup>
                        <m:r>
                          <a:rPr lang="en-US" altLang="ja-JP" sz="1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kumimoji="1"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Dynamic pressure (N/m)</a:t>
                </a:r>
              </a:p>
              <a:p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S</a:t>
                </a:r>
                <a:r>
                  <a:rPr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Representative area (m²)</a:t>
                </a:r>
              </a:p>
              <a:p>
                <a:r>
                  <a:rPr kumimoji="1"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</a:t>
                </a:r>
                <a:r>
                  <a:rPr kumimoji="1"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Wingspan (m)</a:t>
                </a:r>
              </a:p>
              <a:p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Cm</a:t>
                </a:r>
                <a:r>
                  <a:rPr lang="ja-JP" altLang="en-US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：</a:t>
                </a:r>
                <a:r>
                  <a:rPr lang="en-US" altLang="ja-JP" sz="1600" b="1" dirty="0">
                    <a:latin typeface="游ゴシック" panose="020B0400000000000000" pitchFamily="50" charset="-128"/>
                    <a:ea typeface="游ゴシック" panose="020B0400000000000000" pitchFamily="50" charset="-128"/>
                  </a:rPr>
                  <a:t> Pitching moment coefficient</a:t>
                </a:r>
                <a:endParaRPr kumimoji="1" lang="ja-JP" altLang="en-US" sz="1600" b="1" dirty="0">
                  <a:latin typeface="游ゴシック" panose="020B0400000000000000" pitchFamily="50" charset="-128"/>
                  <a:ea typeface="游ゴシック" panose="020B0400000000000000" pitchFamily="50" charset="-128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AA0744CE-1C70-A769-42E0-5662E45CB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8347" y="2777061"/>
                <a:ext cx="3887883" cy="1185453"/>
              </a:xfrm>
              <a:prstGeom prst="rect">
                <a:avLst/>
              </a:prstGeom>
              <a:blipFill>
                <a:blip r:embed="rId3"/>
                <a:stretch>
                  <a:fillRect l="-940" b="-567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01B810B-DFD3-9584-9413-0BD66F376E56}"/>
              </a:ext>
            </a:extLst>
          </p:cNvPr>
          <p:cNvSpPr txBox="1"/>
          <p:nvPr/>
        </p:nvSpPr>
        <p:spPr>
          <a:xfrm>
            <a:off x="6188365" y="960384"/>
            <a:ext cx="5957772" cy="1077218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pitching moment coefficient was reduced from about -0.24 to about -0.10.</a:t>
            </a:r>
            <a:endParaRPr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This cuts pitching moment by approximately 58%, improving structural and dynamic stability.</a:t>
            </a:r>
          </a:p>
        </p:txBody>
      </p:sp>
    </p:spTree>
    <p:extLst>
      <p:ext uri="{BB962C8B-B14F-4D97-AF65-F5344CB8AC3E}">
        <p14:creationId xmlns:p14="http://schemas.microsoft.com/office/powerpoint/2010/main" val="3761487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6B8D-1B65-5F62-51BE-D79D634B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2D481-8C47-2DED-871D-F539D314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BEFF77D-229B-5BD0-CEC2-A0B21632B4C2}"/>
              </a:ext>
            </a:extLst>
          </p:cNvPr>
          <p:cNvSpPr txBox="1"/>
          <p:nvPr/>
        </p:nvSpPr>
        <p:spPr>
          <a:xfrm>
            <a:off x="85298" y="974353"/>
            <a:ext cx="6974722" cy="1846659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2. Slot gaps and overlaps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After fixing the airfoils and angles of attack, 2D Ansys analyses were repeated while changing only slot gap and overlap.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final airfoil layout, gap, and overlap values are shown in Fig. 1, and the final 2D result is shown in Fig. 2.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ECD5F1-2D57-9312-F0A1-2A182BA3BCD0}"/>
              </a:ext>
            </a:extLst>
          </p:cNvPr>
          <p:cNvSpPr txBox="1"/>
          <p:nvPr/>
        </p:nvSpPr>
        <p:spPr>
          <a:xfrm>
            <a:off x="7166104" y="1000526"/>
            <a:ext cx="4936831" cy="1815882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3. 3D modeling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3D model was built from the 2D results.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Considering the 1335 mm tread, approximately 200 mm tire width, weight, and manufacturing tolerance, the span was set to 1040 mm.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E99F7A-0656-75B4-EBEA-EC42DB5E394A}"/>
              </a:ext>
            </a:extLst>
          </p:cNvPr>
          <p:cNvSpPr txBox="1"/>
          <p:nvPr/>
        </p:nvSpPr>
        <p:spPr>
          <a:xfrm>
            <a:off x="80451" y="5845003"/>
            <a:ext cx="60960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Wind speed: 40 km/h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Downforce: 159 N   Drag: 4.9 N   Span: 1000 mm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Image is vertically inverted for analysis.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4A2D38A-C383-9E83-E964-C25441552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203" y="5305343"/>
            <a:ext cx="2097319" cy="148415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5CA0C58-2854-99C9-BCEC-E04A573A9D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854" y="3484057"/>
            <a:ext cx="2274392" cy="1218856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F620A0A-D366-DB5C-5DEF-51122E214651}"/>
              </a:ext>
            </a:extLst>
          </p:cNvPr>
          <p:cNvSpPr txBox="1"/>
          <p:nvPr/>
        </p:nvSpPr>
        <p:spPr>
          <a:xfrm>
            <a:off x="2356557" y="5514767"/>
            <a:ext cx="104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latin typeface="游ゴシック" panose="020B0400000000000000" pitchFamily="50" charset="-128"/>
                <a:ea typeface="游ゴシック"/>
                <a:cs typeface="游ゴシック"/>
              </a:rPr>
              <a:t>Figure 1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90A8E53-7862-E2C8-B838-0A6BB37731EB}"/>
              </a:ext>
            </a:extLst>
          </p:cNvPr>
          <p:cNvSpPr txBox="1"/>
          <p:nvPr/>
        </p:nvSpPr>
        <p:spPr>
          <a:xfrm>
            <a:off x="6369055" y="4702913"/>
            <a:ext cx="987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b="1" dirty="0">
                <a:latin typeface="游ゴシック" panose="020B0400000000000000" pitchFamily="50" charset="-128"/>
                <a:ea typeface="游ゴシック"/>
                <a:cs typeface="游ゴシック"/>
              </a:rPr>
              <a:t>Figure 2</a:t>
            </a:r>
            <a:endParaRPr kumimoji="1" lang="ja-JP" altLang="en-US" sz="16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86E3022C-3346-B4CA-E39A-D8E8DADCE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171" y="5305343"/>
            <a:ext cx="1852794" cy="1484150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A8F1C5A3-6C80-523F-EACA-10066DBF73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3614" y="5262518"/>
            <a:ext cx="1539321" cy="1566810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11AD367-F574-BA2E-F18F-E9A849F3E1EB}"/>
              </a:ext>
            </a:extLst>
          </p:cNvPr>
          <p:cNvSpPr txBox="1"/>
          <p:nvPr/>
        </p:nvSpPr>
        <p:spPr>
          <a:xfrm>
            <a:off x="9227042" y="5474620"/>
            <a:ext cx="116395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600" dirty="0">
                <a:latin typeface="游ゴシック" panose="020B0400000000000000" pitchFamily="50" charset="-128"/>
                <a:ea typeface="游ゴシック" panose="020B0400000000000000" pitchFamily="50" charset="-128"/>
                <a:cs typeface="游ゴシック"/>
              </a:rPr>
              <a:t>Swanneck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6710699F-7E5C-9201-16BC-CDD8F3A396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5" y="2850822"/>
            <a:ext cx="5582145" cy="266351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D8A50B1-7A88-B85E-FA9E-7FE09F9B9E05}"/>
              </a:ext>
            </a:extLst>
          </p:cNvPr>
          <p:cNvSpPr txBox="1"/>
          <p:nvPr/>
        </p:nvSpPr>
        <p:spPr>
          <a:xfrm>
            <a:off x="9809018" y="5876646"/>
            <a:ext cx="58197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游ゴシック" panose="020B0400000000000000" pitchFamily="50" charset="-128"/>
                <a:ea typeface="游ゴシック" panose="020B0400000000000000" pitchFamily="50" charset="-128"/>
                <a:cs typeface="游ゴシック"/>
              </a:rPr>
              <a:t>stay</a:t>
            </a:r>
            <a:endParaRPr kumimoji="1" lang="ja-JP" altLang="en-US" sz="16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2D0111D1-3C2B-1035-A644-3DFCDA23AD4A}"/>
              </a:ext>
            </a:extLst>
          </p:cNvPr>
          <p:cNvCxnSpPr>
            <a:cxnSpLocks/>
          </p:cNvCxnSpPr>
          <p:nvPr/>
        </p:nvCxnSpPr>
        <p:spPr>
          <a:xfrm flipH="1">
            <a:off x="9706585" y="6215200"/>
            <a:ext cx="223203" cy="2812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54D974E4-AA1A-E6DE-F946-7A49BAA6EB87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10390993" y="6045923"/>
            <a:ext cx="505607" cy="200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579CD698-BEA2-9257-45D1-98CFB1AB5C8A}"/>
              </a:ext>
            </a:extLst>
          </p:cNvPr>
          <p:cNvCxnSpPr>
            <a:cxnSpLocks/>
            <a:stCxn id="23" idx="1"/>
          </p:cNvCxnSpPr>
          <p:nvPr/>
        </p:nvCxnSpPr>
        <p:spPr>
          <a:xfrm flipH="1" flipV="1">
            <a:off x="9061267" y="5613254"/>
            <a:ext cx="165775" cy="306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F6C305-C35A-43F5-57E7-FCAD51DA2E1F}"/>
              </a:ext>
            </a:extLst>
          </p:cNvPr>
          <p:cNvSpPr txBox="1"/>
          <p:nvPr/>
        </p:nvSpPr>
        <p:spPr>
          <a:xfrm>
            <a:off x="8054891" y="2883369"/>
            <a:ext cx="4048044" cy="2308324"/>
          </a:xfrm>
          <a:prstGeom prst="rect">
            <a:avLst/>
          </a:prstGeom>
          <a:noFill/>
          <a:ln>
            <a:solidFill>
              <a:srgbClr val="4E95D9"/>
            </a:solidFill>
          </a:ln>
        </p:spPr>
        <p:txBody>
          <a:bodyPr wrap="square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Strut placement was also optimized.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From the side, the swan neck and stay form a triangular structure; from the rear, the stays form a V shape.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This reduces part count while maintaining geometric stiffness.</a:t>
            </a:r>
          </a:p>
        </p:txBody>
      </p:sp>
    </p:spTree>
    <p:extLst>
      <p:ext uri="{BB962C8B-B14F-4D97-AF65-F5344CB8AC3E}">
        <p14:creationId xmlns:p14="http://schemas.microsoft.com/office/powerpoint/2010/main" val="4235963734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Aerodynamics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2120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Front 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566928"/>
            <a:ext cx="8869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05050"/>
                </a:solidFill>
                <a:latin typeface="游ゴシック"/>
                <a:ea typeface="游ゴシック"/>
                <a:cs typeface="游ゴシック"/>
              </a:rPr>
              <a:t>Target setting, design choices, and evaluation in one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3703320" cy="178308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5A7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spcAft>
                <a:spcPts val="100"/>
              </a:spcAft>
            </a:pPr>
            <a:r>
              <a:rPr sz="1600" b="1">
                <a:latin typeface="游ゴシック"/>
                <a:ea typeface="游ゴシック"/>
                <a:cs typeface="游ゴシック"/>
              </a:rPr>
              <a:t>1. Target / constraints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Use different element counts inside and outside the tire-front regulated area.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Target: span 1 m, wind speed 11 m/s (= 39.6 km/h), downforce &gt;= 130 N.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Design aim: increase Df while minimizing drag; rear:front aero balance guideline = 4:6.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960120"/>
            <a:ext cx="3749039" cy="1783080"/>
          </a:xfrm>
          <a:prstGeom prst="roundRect">
            <a:avLst/>
          </a:prstGeom>
          <a:solidFill>
            <a:srgbClr val="F7F4EE"/>
          </a:solidFill>
          <a:ln w="12700">
            <a:solidFill>
              <a:srgbClr val="96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spcAft>
                <a:spcPts val="100"/>
              </a:spcAft>
            </a:pPr>
            <a:r>
              <a:rPr sz="1600" b="1">
                <a:latin typeface="游ゴシック"/>
                <a:ea typeface="游ゴシック"/>
                <a:cs typeface="游ゴシック"/>
              </a:rPr>
              <a:t>2. Solution / iteration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2D and 3D Ansys analyses measured Df and drag; SolidWorks Flow Simulation checked local airflow.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S1223 was the base low-Re airfoil, but 80 mm ride height limited ground effect.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The first tire-front (1) and inboard (2) elements were changed to E423 to suppress drag increase.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960120"/>
            <a:ext cx="3703320" cy="1783080"/>
          </a:xfrm>
          <a:prstGeom prst="roundRect">
            <a:avLst/>
          </a:prstGeom>
          <a:solidFill>
            <a:srgbClr val="F1F7F3"/>
          </a:solidFill>
          <a:ln w="12700">
            <a:solidFill>
              <a:srgbClr val="5087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spcAft>
                <a:spcPts val="100"/>
              </a:spcAft>
            </a:pPr>
            <a:r>
              <a:rPr sz="1600" b="1">
                <a:latin typeface="游ゴシック"/>
                <a:ea typeface="游ゴシック"/>
                <a:cs typeface="游ゴシック"/>
              </a:rPr>
              <a:t>3. Evaluation / final result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Configuration checks: 129.08 N / 23.00 N drag and 110.76 N / 20.83 N drag.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Final evaluated result at span 1 m and 11 m/s: Df = -122 N, drag = 23.7183 N.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Ribs secure wing strength; the FB-lower section is flat to avoid IA/frame interference in collision.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953512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64646"/>
                </a:solidFill>
                <a:latin typeface="游ゴシック"/>
                <a:ea typeface="游ゴシック"/>
                <a:cs typeface="游ゴシック"/>
              </a:rPr>
              <a:t>Regulation concept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182112"/>
            <a:ext cx="2057400" cy="10345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51760" y="295351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64646"/>
                </a:solidFill>
                <a:latin typeface="游ゴシック"/>
                <a:ea typeface="游ゴシック"/>
                <a:cs typeface="游ゴシック"/>
              </a:rPr>
              <a:t>Airfoil / structure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3154680"/>
            <a:ext cx="2148840" cy="144830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28032" y="29535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64646"/>
                </a:solidFill>
                <a:latin typeface="游ゴシック"/>
                <a:ea typeface="游ゴシック"/>
                <a:cs typeface="游ゴシック"/>
              </a:rPr>
              <a:t>Config. 1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154680"/>
            <a:ext cx="2148840" cy="92689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73168" y="4572000"/>
            <a:ext cx="2148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Df 129.08 N / drag 23.00 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295351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64646"/>
                </a:solidFill>
                <a:latin typeface="游ゴシック"/>
                <a:ea typeface="游ゴシック"/>
                <a:cs typeface="游ゴシック"/>
              </a:rPr>
              <a:t>Config. 2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3154680"/>
            <a:ext cx="2331720" cy="8136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4572000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Df 110.76 N / drag 20.83 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953512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64646"/>
                </a:solidFill>
                <a:latin typeface="游ゴシック"/>
                <a:ea typeface="游ゴシック"/>
                <a:cs typeface="游ゴシック"/>
              </a:rPr>
              <a:t>Final position table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3218688"/>
            <a:ext cx="2240280" cy="38795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320040" y="5321808"/>
            <a:ext cx="11503152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36576"/>
          <a:lstStyle/>
          <a:p>
            <a:pPr algn="ctr">
              <a:spcAft>
                <a:spcPts val="100"/>
              </a:spcAft>
            </a:pPr>
            <a:r>
              <a:rPr sz="1600" b="1">
                <a:latin typeface="游ゴシック"/>
                <a:ea typeface="游ゴシック"/>
                <a:cs typeface="游ゴシック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1600" b="0">
                <a:latin typeface="游ゴシック"/>
                <a:ea typeface="游ゴシック"/>
                <a:cs typeface="游ゴシック"/>
              </a:rPr>
              <a:t>The front wing target was set from a 130 N downforce requirement at 1 m span and 11 m/s. The design was solved by iterating element count, airfoil choice, and wing position under regulation constraints, then evaluated by Df/drag analysis and manufacturability/impact-clearance checks.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24771-DA2B-C7F4-61B8-85A39EEB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AB4F6-9DEB-A061-DC0C-6E5A1CBC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z="1600">
                <a:latin typeface="游ゴシック"/>
                <a:ea typeface="游ゴシック"/>
                <a:cs typeface="游ゴシック"/>
              </a:rPr>
              <a:t>Aerodynamics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6A0A1B-418E-A189-F997-ADB052CF4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03" y="1025260"/>
            <a:ext cx="1851059" cy="330293"/>
          </a:xfrm>
        </p:spPr>
        <p:txBody>
          <a:bodyPr wrap="square">
            <a:noAutofit/>
          </a:bodyPr>
          <a:lstStyle/>
          <a:p>
            <a:pPr/>
            <a:r>
              <a:rPr sz="2800" b="1">
                <a:latin typeface="游ゴシック"/>
                <a:ea typeface="游ゴシック"/>
                <a:cs typeface="游ゴシック"/>
              </a:rPr>
              <a:t>Floor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E2B4F5-F554-2D68-A213-016B549E9302}"/>
              </a:ext>
            </a:extLst>
          </p:cNvPr>
          <p:cNvSpPr txBox="1"/>
          <p:nvPr/>
        </p:nvSpPr>
        <p:spPr>
          <a:xfrm>
            <a:off x="4915" y="3917726"/>
            <a:ext cx="36182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&lt;Last year&gt;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Purpose: driver protection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Material: glass mat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19F3F6-DB65-B2E5-24A0-902F149BA8D3}"/>
              </a:ext>
            </a:extLst>
          </p:cNvPr>
          <p:cNvSpPr txBox="1"/>
          <p:nvPr/>
        </p:nvSpPr>
        <p:spPr>
          <a:xfrm>
            <a:off x="0" y="5370675"/>
            <a:ext cx="39083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&lt;This year&gt;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Purpose: 1. driver protection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2. increase wheel load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→ diffuser added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Material: AFRP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7082F90-1A57-76E4-765A-92897ABA0D13}"/>
              </a:ext>
            </a:extLst>
          </p:cNvPr>
          <p:cNvSpPr txBox="1"/>
          <p:nvPr/>
        </p:nvSpPr>
        <p:spPr>
          <a:xfrm>
            <a:off x="98319" y="1695635"/>
            <a:ext cx="70677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Vehicle concept: “Strong, Sharp, Reliable”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9935990-0A86-225C-BC7B-EF8178682E7A}"/>
              </a:ext>
            </a:extLst>
          </p:cNvPr>
          <p:cNvCxnSpPr>
            <a:cxnSpLocks/>
          </p:cNvCxnSpPr>
          <p:nvPr/>
        </p:nvCxnSpPr>
        <p:spPr>
          <a:xfrm flipV="1">
            <a:off x="5973095" y="1063165"/>
            <a:ext cx="0" cy="5694823"/>
          </a:xfrm>
          <a:prstGeom prst="line">
            <a:avLst/>
          </a:prstGeom>
          <a:ln w="57150">
            <a:solidFill>
              <a:srgbClr val="00B0F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21CE451D-0F7F-5429-868D-F06BF8489910}"/>
              </a:ext>
            </a:extLst>
          </p:cNvPr>
          <p:cNvCxnSpPr>
            <a:cxnSpLocks/>
          </p:cNvCxnSpPr>
          <p:nvPr/>
        </p:nvCxnSpPr>
        <p:spPr>
          <a:xfrm flipH="1">
            <a:off x="3549444" y="2203947"/>
            <a:ext cx="678425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A7EB9FA-A248-61E9-A773-9C4583A00A42}"/>
              </a:ext>
            </a:extLst>
          </p:cNvPr>
          <p:cNvCxnSpPr>
            <a:cxnSpLocks/>
          </p:cNvCxnSpPr>
          <p:nvPr/>
        </p:nvCxnSpPr>
        <p:spPr>
          <a:xfrm flipH="1">
            <a:off x="4350773" y="2203947"/>
            <a:ext cx="1130710" cy="0"/>
          </a:xfrm>
          <a:prstGeom prst="line">
            <a:avLst/>
          </a:prstGeom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068B82-8451-D90F-DE25-6B4E740A2CC0}"/>
              </a:ext>
            </a:extLst>
          </p:cNvPr>
          <p:cNvSpPr txBox="1"/>
          <p:nvPr/>
        </p:nvSpPr>
        <p:spPr>
          <a:xfrm>
            <a:off x="250038" y="2568587"/>
            <a:ext cx="2873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For sharp cornering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From “protection only” to “load generation”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Provide stable downforce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F6169CB-4E66-5F0D-B49C-E69F26C438C5}"/>
              </a:ext>
            </a:extLst>
          </p:cNvPr>
          <p:cNvSpPr txBox="1"/>
          <p:nvPr/>
        </p:nvSpPr>
        <p:spPr>
          <a:xfrm>
            <a:off x="3123480" y="2578287"/>
            <a:ext cx="23814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For reliable operation</a:t>
            </a:r>
            <a:endParaRPr kumimoji="1" lang="en-US" altLang="ja-JP" sz="1600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Protect the radiator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Select suitable mold method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- Select suitable material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52F631-1707-320E-EF04-A8CD82A1381F}"/>
              </a:ext>
            </a:extLst>
          </p:cNvPr>
          <p:cNvSpPr/>
          <p:nvPr/>
        </p:nvSpPr>
        <p:spPr>
          <a:xfrm>
            <a:off x="98321" y="1649220"/>
            <a:ext cx="5644454" cy="2203726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B7A9F90-6EE3-AAF7-910C-0B8CB2415FA9}"/>
              </a:ext>
            </a:extLst>
          </p:cNvPr>
          <p:cNvSpPr/>
          <p:nvPr/>
        </p:nvSpPr>
        <p:spPr>
          <a:xfrm>
            <a:off x="269887" y="2536075"/>
            <a:ext cx="2713207" cy="1179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9B9618E-E133-ED5D-C4CA-3BCE87C88B65}"/>
              </a:ext>
            </a:extLst>
          </p:cNvPr>
          <p:cNvSpPr/>
          <p:nvPr/>
        </p:nvSpPr>
        <p:spPr>
          <a:xfrm>
            <a:off x="3069987" y="2536076"/>
            <a:ext cx="2541643" cy="11797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B656BDF-8C97-C247-37EB-E9B4FA3C65FC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4340809" y="2203947"/>
            <a:ext cx="575319" cy="332129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4CB03813-EAF9-0C9A-C1CB-0184B58B43DD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1626491" y="2210902"/>
            <a:ext cx="2262165" cy="325173"/>
          </a:xfrm>
          <a:prstGeom prst="line">
            <a:avLst/>
          </a:prstGeom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図 28" descr="白黒の写真に文字の書かれた紙&#10;&#10;低い精度で自動的に生成された説明">
            <a:extLst>
              <a:ext uri="{FF2B5EF4-FFF2-40B4-BE49-F238E27FC236}">
                <a16:creationId xmlns:a16="http://schemas.microsoft.com/office/drawing/2014/main" id="{638E5D47-9268-1142-4DB7-2A79D39CA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2572" y="3812798"/>
            <a:ext cx="2995310" cy="1193477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BCE0872-1F0D-70F7-3AB4-24AD2290A4FE}"/>
              </a:ext>
            </a:extLst>
          </p:cNvPr>
          <p:cNvSpPr txBox="1"/>
          <p:nvPr/>
        </p:nvSpPr>
        <p:spPr>
          <a:xfrm>
            <a:off x="6142792" y="971128"/>
            <a:ext cx="605520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1">
                <a:latin typeface="游ゴシック"/>
                <a:ea typeface="游ゴシック"/>
                <a:cs typeface="游ゴシック"/>
              </a:rPr>
              <a:t>Diffuser angle selection</a:t>
            </a:r>
            <a:endParaRPr kumimoji="1" lang="en-US" altLang="ja-JP" sz="1600" b="1" dirty="0"/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Packaging around the powertrain limited the diffuser angle, so 5°, 10°, and 15° models were analyzed in 3D.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Ride height was varied from 10 to 50 mm in 10 mm steps to evaluate downforce stability during vertical vehicle motion.</a:t>
            </a:r>
          </a:p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The final angle was selected by prioritizing the largest minimum-to-maximum downforce ratio.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B4D86936-B29B-DE50-A6B4-6625289A2868}"/>
              </a:ext>
            </a:extLst>
          </p:cNvPr>
          <p:cNvSpPr/>
          <p:nvPr/>
        </p:nvSpPr>
        <p:spPr>
          <a:xfrm>
            <a:off x="6135907" y="6416064"/>
            <a:ext cx="5840743" cy="33855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35AC155-37F1-904B-A948-AE0707BD2F0C}"/>
              </a:ext>
            </a:extLst>
          </p:cNvPr>
          <p:cNvSpPr txBox="1"/>
          <p:nvPr/>
        </p:nvSpPr>
        <p:spPr>
          <a:xfrm>
            <a:off x="6173364" y="6449271"/>
            <a:ext cx="5692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600" b="0">
                <a:latin typeface="游ゴシック"/>
                <a:ea typeface="游ゴシック"/>
                <a:cs typeface="游ゴシック"/>
              </a:rPr>
              <a:t>Analysis tool: OpenFOAM   Flow speed: 11 m/s (= 40 km/h)</a:t>
            </a:r>
            <a:endParaRPr kumimoji="1" lang="ja-JP" altLang="en-US" sz="1600" dirty="0"/>
          </a:p>
        </p:txBody>
      </p:sp>
      <p:pic>
        <p:nvPicPr>
          <p:cNvPr id="55" name="図 54" descr="テーブル&#10;&#10;自動的に生成された説明">
            <a:extLst>
              <a:ext uri="{FF2B5EF4-FFF2-40B4-BE49-F238E27FC236}">
                <a16:creationId xmlns:a16="http://schemas.microsoft.com/office/drawing/2014/main" id="{A50677CC-ED05-F8EE-C8D5-C5AC686FE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097" y="5072155"/>
            <a:ext cx="3063846" cy="1266698"/>
          </a:xfrm>
          <a:prstGeom prst="rect">
            <a:avLst/>
          </a:prstGeom>
        </p:spPr>
      </p:pic>
      <p:pic>
        <p:nvPicPr>
          <p:cNvPr id="57" name="図 56" descr="グラフ, 折れ線グラフ&#10;&#10;自動的に生成された説明">
            <a:extLst>
              <a:ext uri="{FF2B5EF4-FFF2-40B4-BE49-F238E27FC236}">
                <a16:creationId xmlns:a16="http://schemas.microsoft.com/office/drawing/2014/main" id="{641853EF-F611-0612-8386-3CA46131A8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0419" y="5068479"/>
            <a:ext cx="2768871" cy="1273418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E4E3A5C2-C0CC-A937-FE61-84EAA93EA6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163" y="5348455"/>
            <a:ext cx="3124614" cy="1367880"/>
          </a:xfrm>
          <a:prstGeom prst="rect">
            <a:avLst/>
          </a:prstGeom>
        </p:spPr>
      </p:pic>
      <p:sp>
        <p:nvSpPr>
          <p:cNvPr id="59" name="矢印: 下 58">
            <a:extLst>
              <a:ext uri="{FF2B5EF4-FFF2-40B4-BE49-F238E27FC236}">
                <a16:creationId xmlns:a16="http://schemas.microsoft.com/office/drawing/2014/main" id="{B06125DF-8A24-44A3-7E76-44CFD57DC374}"/>
              </a:ext>
            </a:extLst>
          </p:cNvPr>
          <p:cNvSpPr/>
          <p:nvPr/>
        </p:nvSpPr>
        <p:spPr>
          <a:xfrm>
            <a:off x="910873" y="4801754"/>
            <a:ext cx="715617" cy="573854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1" name="図 60" descr="テーブル が含まれている画像&#10;&#10;自動的に生成された説明">
            <a:extLst>
              <a:ext uri="{FF2B5EF4-FFF2-40B4-BE49-F238E27FC236}">
                <a16:creationId xmlns:a16="http://schemas.microsoft.com/office/drawing/2014/main" id="{A3C1A354-98FC-7DE1-E030-761BF74B3E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9006" y="3999316"/>
            <a:ext cx="3124613" cy="1275410"/>
          </a:xfrm>
          <a:prstGeom prst="rect">
            <a:avLst/>
          </a:prstGeom>
        </p:spPr>
      </p:pic>
      <p:pic>
        <p:nvPicPr>
          <p:cNvPr id="63" name="図 62" descr="テーブル, 飛行機 が含まれている画像&#10;&#10;自動的に生成された説明">
            <a:extLst>
              <a:ext uri="{FF2B5EF4-FFF2-40B4-BE49-F238E27FC236}">
                <a16:creationId xmlns:a16="http://schemas.microsoft.com/office/drawing/2014/main" id="{668BB500-B162-B37C-D410-830AD2C38F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482" y="2459634"/>
            <a:ext cx="2758952" cy="1310502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21F480F5-E9C9-6417-FCD6-864990A7D8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482" y="3807219"/>
            <a:ext cx="2751721" cy="1204637"/>
          </a:xfrm>
          <a:prstGeom prst="rect">
            <a:avLst/>
          </a:prstGeom>
        </p:spPr>
      </p:pic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6BC0A07-1C8D-5596-A90E-FB6EA3AC1775}"/>
              </a:ext>
            </a:extLst>
          </p:cNvPr>
          <p:cNvSpPr txBox="1"/>
          <p:nvPr/>
        </p:nvSpPr>
        <p:spPr>
          <a:xfrm>
            <a:off x="6173365" y="3827701"/>
            <a:ext cx="54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5°</a:t>
            </a:r>
            <a:endParaRPr kumimoji="1" lang="ja-JP" altLang="en-US" b="1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2FBE754B-A472-A7C0-7C1C-966BE34D2046}"/>
              </a:ext>
            </a:extLst>
          </p:cNvPr>
          <p:cNvSpPr txBox="1"/>
          <p:nvPr/>
        </p:nvSpPr>
        <p:spPr>
          <a:xfrm>
            <a:off x="9327004" y="3812377"/>
            <a:ext cx="76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15°</a:t>
            </a:r>
            <a:endParaRPr kumimoji="1" lang="ja-JP" altLang="en-US" b="1" dirty="0"/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005AA3A-D987-8AD1-4619-EBCA7436CD6C}"/>
              </a:ext>
            </a:extLst>
          </p:cNvPr>
          <p:cNvSpPr txBox="1"/>
          <p:nvPr/>
        </p:nvSpPr>
        <p:spPr>
          <a:xfrm>
            <a:off x="9327004" y="2481818"/>
            <a:ext cx="731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dirty="0" sz="1600">
                <a:latin typeface="游ゴシック"/>
                <a:ea typeface="游ゴシック"/>
                <a:cs typeface="游ゴシック"/>
              </a:rPr>
              <a:t>10°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769065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14494</TotalTime>
  <Words>2644</Words>
  <Application>Microsoft Macintosh PowerPoint</Application>
  <PresentationFormat>ワイド画面</PresentationFormat>
  <Paragraphs>209</Paragraphs>
  <Slides>11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ＭＳ Ｐゴシック</vt:lpstr>
      <vt:lpstr>游ゴシック</vt:lpstr>
      <vt:lpstr>Arial</vt:lpstr>
      <vt:lpstr>Cambria Math</vt:lpstr>
      <vt:lpstr>Office テーマ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  <vt:lpstr>Aerodynamics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2026年度方針</dc:title>
  <dc:creator>ayato niwa</dc:creator>
  <cp:lastModifiedBy>皆川　草太</cp:lastModifiedBy>
  <cp:revision>160</cp:revision>
  <dcterms:created xsi:type="dcterms:W3CDTF">2025-09-17T16:33:16Z</dcterms:created>
  <dcterms:modified xsi:type="dcterms:W3CDTF">2026-05-10T04:32:31Z</dcterms:modified>
</cp:coreProperties>
</file>