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2"/>
  </p:normalViewPr>
  <p:slideViewPr>
    <p:cSldViewPr snapToGrid="0">
      <p:cViewPr>
        <p:scale>
          <a:sx n="97" d="100"/>
          <a:sy n="97" d="100"/>
        </p:scale>
        <p:origin x="210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5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>
            <a:extLst>
              <a:ext uri="{FF2B5EF4-FFF2-40B4-BE49-F238E27FC236}">
                <a16:creationId xmlns:a16="http://schemas.microsoft.com/office/drawing/2014/main" id="{FB281C43-DB35-4703-AEB4-D762027A8F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>
            <a:extLst>
              <a:ext uri="{FF2B5EF4-FFF2-40B4-BE49-F238E27FC236}">
                <a16:creationId xmlns:a16="http://schemas.microsoft.com/office/drawing/2014/main" id="{ED469586-1AFE-4905-B4B9-597FD311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75" y="442450"/>
            <a:ext cx="3873300" cy="14409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1">
            <a:extLst>
              <a:ext uri="{FF2B5EF4-FFF2-40B4-BE49-F238E27FC236}">
                <a16:creationId xmlns:a16="http://schemas.microsoft.com/office/drawing/2014/main" id="{F0B274F6-AFE6-4C4C-B309-30497C012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075" y="1996700"/>
            <a:ext cx="3873300" cy="2836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>
            <a:extLst>
              <a:ext uri="{FF2B5EF4-FFF2-40B4-BE49-F238E27FC236}">
                <a16:creationId xmlns:a16="http://schemas.microsoft.com/office/drawing/2014/main" id="{C711BB05-0AF7-4FCB-A2D7-0B5342F1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00" y="1049500"/>
            <a:ext cx="3902400" cy="3204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3">
            <a:extLst>
              <a:ext uri="{FF2B5EF4-FFF2-40B4-BE49-F238E27FC236}">
                <a16:creationId xmlns:a16="http://schemas.microsoft.com/office/drawing/2014/main" id="{98E2CE61-37A2-469D-8CA8-9F983026A0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3">
            <a:extLst>
              <a:ext uri="{FF2B5EF4-FFF2-40B4-BE49-F238E27FC236}">
                <a16:creationId xmlns:a16="http://schemas.microsoft.com/office/drawing/2014/main" id="{6B5FDC60-664D-47E3-B83C-2208A3EF5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900" y="419750"/>
            <a:ext cx="39024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1pPr>
            <a:lvl2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98" name="Google Shape;98;p23">
            <a:extLst>
              <a:ext uri="{FF2B5EF4-FFF2-40B4-BE49-F238E27FC236}">
                <a16:creationId xmlns:a16="http://schemas.microsoft.com/office/drawing/2014/main" id="{FEC826F3-0BDB-4A92-94A0-A0BFFB214E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06800" y="419750"/>
            <a:ext cx="3902400" cy="4037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>
            <a:extLst>
              <a:ext uri="{FF2B5EF4-FFF2-40B4-BE49-F238E27FC236}">
                <a16:creationId xmlns:a16="http://schemas.microsoft.com/office/drawing/2014/main" id="{9B2F428F-30B5-44E1-92B7-3A5AA73A0F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>
            <a:extLst>
              <a:ext uri="{FF2B5EF4-FFF2-40B4-BE49-F238E27FC236}">
                <a16:creationId xmlns:a16="http://schemas.microsoft.com/office/drawing/2014/main" id="{3BBCA822-4E9D-428F-9E38-C3E3332DD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96" y="907600"/>
            <a:ext cx="7062300" cy="3755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2">
            <a:extLst>
              <a:ext uri="{FF2B5EF4-FFF2-40B4-BE49-F238E27FC236}">
                <a16:creationId xmlns:a16="http://schemas.microsoft.com/office/drawing/2014/main" id="{2872B901-290A-4D82-B258-B0D2DF932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200" y="397075"/>
            <a:ext cx="70380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4"/>
                </a:solidFill>
              </a:defRPr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>
            <a:extLst>
              <a:ext uri="{FF2B5EF4-FFF2-40B4-BE49-F238E27FC236}">
                <a16:creationId xmlns:a16="http://schemas.microsoft.com/office/drawing/2014/main" id="{C2BC39B4-316F-429A-AC97-2FDFA0C6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endParaRPr/>
          </a:p>
        </p:txBody>
      </p:sp>
      <p:sp>
        <p:nvSpPr>
          <p:cNvPr id="104" name="Google Shape;104;p25">
            <a:extLst>
              <a:ext uri="{FF2B5EF4-FFF2-40B4-BE49-F238E27FC236}">
                <a16:creationId xmlns:a16="http://schemas.microsoft.com/office/drawing/2014/main" id="{77D9D1C6-E1C2-4D95-ADEE-1BAD9ADF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ctr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1pPr>
            <a:lvl2pPr marL="9144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49250" algn="ctr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49250" algn="ctr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49250" algn="ctr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49250" algn="ctr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49250" algn="ctr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49250" algn="ctr">
              <a:spcBef>
                <a:spcPts val="1600"/>
              </a:spcBef>
              <a:spcAft>
                <a:spcPts val="160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5">
            <a:extLst>
              <a:ext uri="{FF2B5EF4-FFF2-40B4-BE49-F238E27FC236}">
                <a16:creationId xmlns:a16="http://schemas.microsoft.com/office/drawing/2014/main" id="{87399DB1-F3D0-4085-8C47-0D98414C93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>
            <a:extLst>
              <a:ext uri="{FF2B5EF4-FFF2-40B4-BE49-F238E27FC236}">
                <a16:creationId xmlns:a16="http://schemas.microsoft.com/office/drawing/2014/main" id="{0EF09BA1-5D71-448D-8441-4EF84309E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550" y="4119825"/>
            <a:ext cx="8160900" cy="615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101" name="Google Shape;101;p24">
            <a:extLst>
              <a:ext uri="{FF2B5EF4-FFF2-40B4-BE49-F238E27FC236}">
                <a16:creationId xmlns:a16="http://schemas.microsoft.com/office/drawing/2014/main" id="{DEE28204-8F6E-401C-A0C6-5EF61C8F07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834F354-AEE8-40DB-B137-2E9A052BD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0" y="408425"/>
            <a:ext cx="8225100" cy="238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C1519675-96D8-4DB2-A426-5579D3E2F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50" y="2834125"/>
            <a:ext cx="82251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9283726B-ECFE-4CCE-B83C-0D244725E6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D9067309-7EB1-43F9-A726-6048022A06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450" y="4373225"/>
            <a:ext cx="7877700" cy="373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Char char="●"/>
              <a:defRPr sz="1500"/>
            </a:lvl1pPr>
            <a:lvl2pPr marL="9144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2pPr>
            <a:lvl3pPr marL="1371600" indent="-323850">
              <a:spcBef>
                <a:spcPts val="1600"/>
              </a:spcBef>
              <a:spcAft>
                <a:spcPts val="0"/>
              </a:spcAft>
              <a:buChar char="■"/>
              <a:defRPr sz="1500"/>
            </a:lvl3pPr>
            <a:lvl4pPr marL="1828800" indent="-323850">
              <a:spcBef>
                <a:spcPts val="1600"/>
              </a:spcBef>
              <a:spcAft>
                <a:spcPts val="0"/>
              </a:spcAft>
              <a:buChar char="●"/>
              <a:defRPr sz="1500"/>
            </a:lvl4pPr>
            <a:lvl5pPr marL="22860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5pPr>
            <a:lvl6pPr marL="2743200" indent="-323850">
              <a:spcBef>
                <a:spcPts val="1600"/>
              </a:spcBef>
              <a:spcAft>
                <a:spcPts val="0"/>
              </a:spcAft>
              <a:buChar char="■"/>
              <a:defRPr sz="1500"/>
            </a:lvl6pPr>
            <a:lvl7pPr marL="3200400" indent="-323850">
              <a:spcBef>
                <a:spcPts val="1600"/>
              </a:spcBef>
              <a:spcAft>
                <a:spcPts val="0"/>
              </a:spcAft>
              <a:buChar char="●"/>
              <a:defRPr sz="1500"/>
            </a:lvl7pPr>
            <a:lvl8pPr marL="3657600" indent="-323850">
              <a:spcBef>
                <a:spcPts val="1600"/>
              </a:spcBef>
              <a:spcAft>
                <a:spcPts val="0"/>
              </a:spcAft>
              <a:buChar char="○"/>
              <a:defRPr sz="1500"/>
            </a:lvl8pPr>
            <a:lvl9pPr marL="4114800" indent="-323850">
              <a:spcBef>
                <a:spcPts val="1600"/>
              </a:spcBef>
              <a:spcAft>
                <a:spcPts val="1600"/>
              </a:spcAft>
              <a:buChar char="■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EDD889E5-84EC-468C-B75E-11C1A998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77850"/>
            <a:ext cx="8520600" cy="3187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1E33FD41-D6FA-4050-A59E-C3BCFBDADC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4BAAC5BB-46A9-4CC9-9B96-E5F8ECDD9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B9082567-3DBC-4494-9090-94F41841D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2pPr>
            <a:lvl3pPr marL="1371600" indent="-349250">
              <a:spcBef>
                <a:spcPts val="1600"/>
              </a:spcBef>
              <a:spcAft>
                <a:spcPts val="0"/>
              </a:spcAft>
              <a:buChar char="■"/>
              <a:defRPr/>
            </a:lvl3pPr>
            <a:lvl4pPr marL="1828800" indent="-349250">
              <a:spcBef>
                <a:spcPts val="1600"/>
              </a:spcBef>
              <a:spcAft>
                <a:spcPts val="0"/>
              </a:spcAft>
              <a:buChar char="●"/>
              <a:defRPr/>
            </a:lvl4pPr>
            <a:lvl5pPr marL="22860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5pPr>
            <a:lvl6pPr marL="2743200" indent="-349250">
              <a:spcBef>
                <a:spcPts val="1600"/>
              </a:spcBef>
              <a:spcAft>
                <a:spcPts val="0"/>
              </a:spcAft>
              <a:buChar char="■"/>
              <a:defRPr/>
            </a:lvl6pPr>
            <a:lvl7pPr marL="3200400" indent="-349250">
              <a:spcBef>
                <a:spcPts val="1600"/>
              </a:spcBef>
              <a:spcAft>
                <a:spcPts val="0"/>
              </a:spcAft>
              <a:buChar char="●"/>
              <a:defRPr/>
            </a:lvl7pPr>
            <a:lvl8pPr marL="3657600" indent="-349250">
              <a:spcBef>
                <a:spcPts val="1600"/>
              </a:spcBef>
              <a:spcAft>
                <a:spcPts val="0"/>
              </a:spcAft>
              <a:buChar char="○"/>
              <a:defRPr/>
            </a:lvl8pPr>
            <a:lvl9pPr marL="4114800" indent="-349250">
              <a:spcBef>
                <a:spcPts val="1600"/>
              </a:spcBef>
              <a:spcAft>
                <a:spcPts val="160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>
            <a:extLst>
              <a:ext uri="{FF2B5EF4-FFF2-40B4-BE49-F238E27FC236}">
                <a16:creationId xmlns:a16="http://schemas.microsoft.com/office/drawing/2014/main" id="{1226FAD8-ADBA-461B-B2E5-5E4005D4B7B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ACA45956-DDD7-4179-9EA8-E55402A8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145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FC255AF3-D8C1-4212-A064-78DBFAC54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D8C43B4-2465-4B31-9BD4-2F8BC948F48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17702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25" name="Google Shape;25;p5">
            <a:extLst>
              <a:ext uri="{FF2B5EF4-FFF2-40B4-BE49-F238E27FC236}">
                <a16:creationId xmlns:a16="http://schemas.microsoft.com/office/drawing/2014/main" id="{AF93DDE9-8D37-41CD-8C60-E29856DCC3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CABA406B-EF43-4C15-A2AA-4EAF8C59F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550" y="4119825"/>
            <a:ext cx="8160900" cy="615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</a:lstStyle>
          <a:p>
            <a:endParaRPr/>
          </a:p>
        </p:txBody>
      </p:sp>
      <p:sp>
        <p:nvSpPr>
          <p:cNvPr id="44" name="Google Shape;44;p10">
            <a:extLst>
              <a:ext uri="{FF2B5EF4-FFF2-40B4-BE49-F238E27FC236}">
                <a16:creationId xmlns:a16="http://schemas.microsoft.com/office/drawing/2014/main" id="{91DC8863-390F-444A-9333-CC9DE03E25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3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>
            <a:extLst>
              <a:ext uri="{FF2B5EF4-FFF2-40B4-BE49-F238E27FC236}">
                <a16:creationId xmlns:a16="http://schemas.microsoft.com/office/drawing/2014/main" id="{108837B7-E608-47B3-A576-235561C1009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>
            <a:extLst>
              <a:ext uri="{FF2B5EF4-FFF2-40B4-BE49-F238E27FC236}">
                <a16:creationId xmlns:a16="http://schemas.microsoft.com/office/drawing/2014/main" id="{0A031BB3-9CCB-49DE-9B4E-43E6C64E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50" y="204325"/>
            <a:ext cx="8249100" cy="933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>
            <a:extLst>
              <a:ext uri="{FF2B5EF4-FFF2-40B4-BE49-F238E27FC236}">
                <a16:creationId xmlns:a16="http://schemas.microsoft.com/office/drawing/2014/main" id="{412D3B5C-C82F-4C74-8B03-8D8B36474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50" y="1589275"/>
            <a:ext cx="8249100" cy="320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>
            <a:extLst>
              <a:ext uri="{FF2B5EF4-FFF2-40B4-BE49-F238E27FC236}">
                <a16:creationId xmlns:a16="http://schemas.microsoft.com/office/drawing/2014/main" id="{949D09D3-341B-431D-9380-6BC6CBC20B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6">
            <a:extLst>
              <a:ext uri="{FF2B5EF4-FFF2-40B4-BE49-F238E27FC236}">
                <a16:creationId xmlns:a16="http://schemas.microsoft.com/office/drawing/2014/main" id="{DE70D2E3-82F4-4571-B2AA-FBE2FACD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75" y="975650"/>
            <a:ext cx="7136700" cy="2995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26">
            <a:extLst>
              <a:ext uri="{FF2B5EF4-FFF2-40B4-BE49-F238E27FC236}">
                <a16:creationId xmlns:a16="http://schemas.microsoft.com/office/drawing/2014/main" id="{325FB924-4917-4286-A84F-90F32540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75" y="4140900"/>
            <a:ext cx="7136700" cy="69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1pPr>
            <a:lvl2pPr marL="914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2pPr>
            <a:lvl3pPr marL="1371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3pPr>
            <a:lvl4pPr marL="1828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4pPr>
            <a:lvl5pPr marL="22860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5pPr>
            <a:lvl6pPr marL="2743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6pPr>
            <a:lvl7pPr marL="3200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7pPr>
            <a:lvl8pPr marL="3657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8pPr>
            <a:lvl9pPr marL="4114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>
            <a:extLst>
              <a:ext uri="{FF2B5EF4-FFF2-40B4-BE49-F238E27FC236}">
                <a16:creationId xmlns:a16="http://schemas.microsoft.com/office/drawing/2014/main" id="{D643A0B2-315C-466C-9926-7E10D29C5D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>
            <a:extLst>
              <a:ext uri="{FF2B5EF4-FFF2-40B4-BE49-F238E27FC236}">
                <a16:creationId xmlns:a16="http://schemas.microsoft.com/office/drawing/2014/main" id="{D5A38527-4CF0-42E1-A837-DF1A45C480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8">
            <a:extLst>
              <a:ext uri="{FF2B5EF4-FFF2-40B4-BE49-F238E27FC236}">
                <a16:creationId xmlns:a16="http://schemas.microsoft.com/office/drawing/2014/main" id="{D3BFE9B0-F1BA-4201-8C23-582DD916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5" y="370000"/>
            <a:ext cx="2959800" cy="19380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8">
            <a:extLst>
              <a:ext uri="{FF2B5EF4-FFF2-40B4-BE49-F238E27FC236}">
                <a16:creationId xmlns:a16="http://schemas.microsoft.com/office/drawing/2014/main" id="{F3540B99-BDBA-43EA-9430-ADA4CD2C5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0825" y="370000"/>
            <a:ext cx="4598400" cy="4293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  <p:sp>
        <p:nvSpPr>
          <p:cNvPr id="120" name="Google Shape;120;p28">
            <a:extLst>
              <a:ext uri="{FF2B5EF4-FFF2-40B4-BE49-F238E27FC236}">
                <a16:creationId xmlns:a16="http://schemas.microsoft.com/office/drawing/2014/main" id="{7A6608DC-C6CB-4895-AAC8-D84E0BE40B3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8200" y="2554675"/>
            <a:ext cx="2959800" cy="2108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700">
                <a:solidFill>
                  <a:schemeClr val="dk2"/>
                </a:solidFill>
              </a:defRPr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B6B52244-BA98-4861-BAFE-3B03215B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00" y="445025"/>
            <a:ext cx="8041800" cy="40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28" name="Google Shape;28;p6">
            <a:extLst>
              <a:ext uri="{FF2B5EF4-FFF2-40B4-BE49-F238E27FC236}">
                <a16:creationId xmlns:a16="http://schemas.microsoft.com/office/drawing/2014/main" id="{1FB80811-EBD5-4209-91FE-3804E68626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210CC53D-0E39-415D-85DF-C4C03089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050" y="442450"/>
            <a:ext cx="3880200" cy="14409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CBB2B3A9-487D-4C9D-81B1-3E927B25F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7050" y="1996700"/>
            <a:ext cx="3880200" cy="2836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  <p:sp>
        <p:nvSpPr>
          <p:cNvPr id="32" name="Google Shape;32;p7">
            <a:extLst>
              <a:ext uri="{FF2B5EF4-FFF2-40B4-BE49-F238E27FC236}">
                <a16:creationId xmlns:a16="http://schemas.microsoft.com/office/drawing/2014/main" id="{12CC4843-53AF-4BF8-BD8B-C6BF89C0D6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576509D8-08B1-4ABB-AB37-71CD7A833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96" y="907600"/>
            <a:ext cx="7062300" cy="3755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>
            <a:extLst>
              <a:ext uri="{FF2B5EF4-FFF2-40B4-BE49-F238E27FC236}">
                <a16:creationId xmlns:a16="http://schemas.microsoft.com/office/drawing/2014/main" id="{ECF01DD8-8E1A-4BDE-B4C5-A1A69A1E9E5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>
            <a:extLst>
              <a:ext uri="{FF2B5EF4-FFF2-40B4-BE49-F238E27FC236}">
                <a16:creationId xmlns:a16="http://schemas.microsoft.com/office/drawing/2014/main" id="{289C62E5-46CB-4464-9AA9-B273D9503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200" y="397075"/>
            <a:ext cx="70380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02C2C819-8CF5-40F9-8564-46211553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00" y="1049500"/>
            <a:ext cx="3902400" cy="32043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77080D4B-69F3-45DB-9BD6-A792347375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8DE2283C-4AB8-4E3A-A306-6867D7E16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900" y="419750"/>
            <a:ext cx="3902400" cy="393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1" name="Google Shape;41;p9">
            <a:extLst>
              <a:ext uri="{FF2B5EF4-FFF2-40B4-BE49-F238E27FC236}">
                <a16:creationId xmlns:a16="http://schemas.microsoft.com/office/drawing/2014/main" id="{48E60899-B45C-47AF-B3DE-A1C35B38B7A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06800" y="419750"/>
            <a:ext cx="3902400" cy="4037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/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/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/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/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>
            <a:extLst>
              <a:ext uri="{FF2B5EF4-FFF2-40B4-BE49-F238E27FC236}">
                <a16:creationId xmlns:a16="http://schemas.microsoft.com/office/drawing/2014/main" id="{8FD550D2-62F8-4F84-9345-7C57DCF03B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>
            <a:extLst>
              <a:ext uri="{FF2B5EF4-FFF2-40B4-BE49-F238E27FC236}">
                <a16:creationId xmlns:a16="http://schemas.microsoft.com/office/drawing/2014/main" id="{CB677EE9-CD0A-4224-92AF-3AE977D9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775" y="975650"/>
            <a:ext cx="7136700" cy="29952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/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2FBEF0BD-26A4-4851-B1EB-4B861263F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775" y="4140900"/>
            <a:ext cx="7136700" cy="694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1pPr>
            <a:lvl2pPr marL="914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2pPr>
            <a:lvl3pPr marL="1371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3pPr>
            <a:lvl4pPr marL="1828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4pPr>
            <a:lvl5pPr marL="22860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5pPr>
            <a:lvl6pPr marL="2743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6pPr>
            <a:lvl7pPr marL="32004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500"/>
            </a:lvl7pPr>
            <a:lvl8pPr marL="36576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500"/>
            </a:lvl8pPr>
            <a:lvl9pPr marL="41148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2CB67F7A-FC71-4025-9912-27D8386A7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CCAC4057-DADA-4797-A11C-39B54BCA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2pPr>
            <a:lvl3pPr marL="1371600" indent="-349250" algn="ctr">
              <a:spcBef>
                <a:spcPts val="1600"/>
              </a:spcBef>
              <a:spcAft>
                <a:spcPts val="0"/>
              </a:spcAft>
              <a:buChar char="■"/>
              <a:defRPr/>
            </a:lvl3pPr>
            <a:lvl4pPr marL="1828800" indent="-349250" algn="ctr">
              <a:spcBef>
                <a:spcPts val="1600"/>
              </a:spcBef>
              <a:spcAft>
                <a:spcPts val="0"/>
              </a:spcAft>
              <a:buChar char="●"/>
              <a:defRPr/>
            </a:lvl4pPr>
            <a:lvl5pPr marL="22860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5pPr>
            <a:lvl6pPr marL="2743200" indent="-349250" algn="ctr">
              <a:spcBef>
                <a:spcPts val="1600"/>
              </a:spcBef>
              <a:spcAft>
                <a:spcPts val="0"/>
              </a:spcAft>
              <a:buChar char="■"/>
              <a:defRPr/>
            </a:lvl6pPr>
            <a:lvl7pPr marL="3200400" indent="-349250" algn="ctr">
              <a:spcBef>
                <a:spcPts val="1600"/>
              </a:spcBef>
              <a:spcAft>
                <a:spcPts val="0"/>
              </a:spcAft>
              <a:buChar char="●"/>
              <a:defRPr/>
            </a:lvl7pPr>
            <a:lvl8pPr marL="3657600" indent="-349250" algn="ctr">
              <a:spcBef>
                <a:spcPts val="1600"/>
              </a:spcBef>
              <a:spcAft>
                <a:spcPts val="0"/>
              </a:spcAft>
              <a:buChar char="○"/>
              <a:defRPr/>
            </a:lvl8pPr>
            <a:lvl9pPr marL="4114800" indent="-349250" algn="ctr">
              <a:spcBef>
                <a:spcPts val="1600"/>
              </a:spcBef>
              <a:spcAft>
                <a:spcPts val="160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C2173D44-8925-4356-A98E-59DF47CBC22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D699792C-9151-415B-910A-D04DAF2ECD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CAC96CD6-45F4-478B-B92E-272F236C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75" y="370000"/>
            <a:ext cx="2959800" cy="19380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7E0648F-58FC-43AC-B34F-A7851B325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0825" y="370000"/>
            <a:ext cx="4598400" cy="4293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472D0BC-FCC1-4FAD-9AB5-5A97DA92FF77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8200" y="2554675"/>
            <a:ext cx="2959800" cy="2108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700"/>
            </a:lvl1pPr>
            <a:lvl2pPr>
              <a:spcBef>
                <a:spcPts val="1600"/>
              </a:spcBef>
              <a:spcAft>
                <a:spcPts val="0"/>
              </a:spcAft>
              <a:buNone/>
              <a:defRPr sz="1700"/>
            </a:lvl2pPr>
            <a:lvl3pPr>
              <a:spcBef>
                <a:spcPts val="1600"/>
              </a:spcBef>
              <a:spcAft>
                <a:spcPts val="0"/>
              </a:spcAft>
              <a:buNone/>
              <a:defRPr sz="1700"/>
            </a:lvl3pPr>
            <a:lvl4pPr>
              <a:spcBef>
                <a:spcPts val="1600"/>
              </a:spcBef>
              <a:spcAft>
                <a:spcPts val="0"/>
              </a:spcAft>
              <a:buNone/>
              <a:defRPr sz="1700"/>
            </a:lvl4pPr>
            <a:lvl5pPr>
              <a:spcBef>
                <a:spcPts val="1600"/>
              </a:spcBef>
              <a:spcAft>
                <a:spcPts val="0"/>
              </a:spcAft>
              <a:buNone/>
              <a:defRPr sz="1700"/>
            </a:lvl5pPr>
            <a:lvl6pPr>
              <a:spcBef>
                <a:spcPts val="1600"/>
              </a:spcBef>
              <a:spcAft>
                <a:spcPts val="0"/>
              </a:spcAft>
              <a:buNone/>
              <a:defRPr sz="1700"/>
            </a:lvl6pPr>
            <a:lvl7pPr>
              <a:spcBef>
                <a:spcPts val="1600"/>
              </a:spcBef>
              <a:spcAft>
                <a:spcPts val="0"/>
              </a:spcAft>
              <a:buNone/>
              <a:defRPr sz="1700"/>
            </a:lvl7pPr>
            <a:lvl8pPr>
              <a:spcBef>
                <a:spcPts val="1600"/>
              </a:spcBef>
              <a:spcAft>
                <a:spcPts val="0"/>
              </a:spcAft>
              <a:buNone/>
              <a:defRPr sz="1700"/>
            </a:lvl8pPr>
            <a:lvl9pPr>
              <a:spcBef>
                <a:spcPts val="1600"/>
              </a:spcBef>
              <a:spcAft>
                <a:spcPts val="1600"/>
              </a:spcAft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4B7D6366-A6D1-4077-8310-C8F618653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8C397A3C-8CB2-45E4-96E8-584F5E54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50" y="204325"/>
            <a:ext cx="8249100" cy="933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DD02BB07-ECA2-45B7-95F4-E27200A8D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50" y="1589275"/>
            <a:ext cx="8249100" cy="3208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1pPr>
            <a:lvl2pPr marL="914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2pPr>
            <a:lvl3pPr marL="1371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3pPr>
            <a:lvl4pPr marL="1828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4pPr>
            <a:lvl5pPr marL="22860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5pPr>
            <a:lvl6pPr marL="27432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6pPr>
            <a:lvl7pPr marL="32004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latin typeface="Source Code Pro"/>
                <a:ea typeface="Source Code Pro"/>
                <a:cs typeface="Source Code Pro"/>
              </a:defRPr>
            </a:lvl7pPr>
            <a:lvl8pPr marL="36576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latin typeface="Source Code Pro"/>
                <a:ea typeface="Source Code Pro"/>
                <a:cs typeface="Source Code Pro"/>
              </a:defRPr>
            </a:lvl8pPr>
            <a:lvl9pPr marL="411480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latin typeface="Source Code Pro"/>
                <a:ea typeface="Source Code Pro"/>
                <a:cs typeface="Source Code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33297536-3AE2-47BC-AD48-57870AD45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50" y="2834125"/>
            <a:ext cx="8225100" cy="792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2pPr>
            <a:lvl3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3pPr>
            <a:lvl4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4pPr>
            <a:lvl5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5pPr>
            <a:lvl6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6pPr>
            <a:lvl7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7pPr>
            <a:lvl8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8pPr>
            <a:lvl9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08E7B8E3-815F-4FB2-B876-CEE9CB2547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9450" y="4373225"/>
            <a:ext cx="7877700" cy="373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1pPr>
            <a:lvl2pPr marL="9144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2pPr>
            <a:lvl3pPr marL="1371600" indent="-323850">
              <a:spcBef>
                <a:spcPts val="160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3pPr>
            <a:lvl4pPr marL="1828800" indent="-323850">
              <a:spcBef>
                <a:spcPts val="160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4pPr>
            <a:lvl5pPr marL="22860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5pPr>
            <a:lvl6pPr marL="2743200" indent="-323850">
              <a:spcBef>
                <a:spcPts val="1600"/>
              </a:spcBef>
              <a:spcAft>
                <a:spcPts val="0"/>
              </a:spcAft>
              <a:buChar char="■"/>
              <a:defRPr sz="1500">
                <a:solidFill>
                  <a:schemeClr val="dk2"/>
                </a:solidFill>
              </a:defRPr>
            </a:lvl6pPr>
            <a:lvl7pPr marL="3200400" indent="-323850">
              <a:spcBef>
                <a:spcPts val="1600"/>
              </a:spcBef>
              <a:spcAft>
                <a:spcPts val="0"/>
              </a:spcAft>
              <a:buChar char="●"/>
              <a:defRPr sz="1500">
                <a:solidFill>
                  <a:schemeClr val="dk2"/>
                </a:solidFill>
              </a:defRPr>
            </a:lvl7pPr>
            <a:lvl8pPr marL="3657600" indent="-323850">
              <a:spcBef>
                <a:spcPts val="1600"/>
              </a:spcBef>
              <a:spcAft>
                <a:spcPts val="0"/>
              </a:spcAft>
              <a:buChar char="○"/>
              <a:defRPr sz="1500">
                <a:solidFill>
                  <a:schemeClr val="dk2"/>
                </a:solidFill>
              </a:defRPr>
            </a:lvl8pPr>
            <a:lvl9pPr marL="4114800" indent="-323850">
              <a:spcBef>
                <a:spcPts val="1600"/>
              </a:spcBef>
              <a:spcAft>
                <a:spcPts val="1600"/>
              </a:spcAft>
              <a:buChar char="■"/>
              <a:defRPr sz="15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AB5E6F7E-14A3-4D17-AD5A-9649EDAAC1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6C47C6E6-78B9-45CD-B5EF-716AF7A56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50" y="408425"/>
            <a:ext cx="8225100" cy="23889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>
            <a:extLst>
              <a:ext uri="{FF2B5EF4-FFF2-40B4-BE49-F238E27FC236}">
                <a16:creationId xmlns:a16="http://schemas.microsoft.com/office/drawing/2014/main" id="{0392A68B-6D05-4E28-9CA0-7B780D011A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>
            <a:extLst>
              <a:ext uri="{FF2B5EF4-FFF2-40B4-BE49-F238E27FC236}">
                <a16:creationId xmlns:a16="http://schemas.microsoft.com/office/drawing/2014/main" id="{5CBA5D33-53DA-4391-8415-795FEB6640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8">
            <a:extLst>
              <a:ext uri="{FF2B5EF4-FFF2-40B4-BE49-F238E27FC236}">
                <a16:creationId xmlns:a16="http://schemas.microsoft.com/office/drawing/2014/main" id="{D5858FEA-9558-4E80-B208-C4F36D28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1pPr>
            <a:lvl2pPr marL="9144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49250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49250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49250">
              <a:spcBef>
                <a:spcPts val="160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49250">
              <a:spcBef>
                <a:spcPts val="160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49250">
              <a:spcBef>
                <a:spcPts val="160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49250">
              <a:spcBef>
                <a:spcPts val="1600"/>
              </a:spcBef>
              <a:spcAft>
                <a:spcPts val="160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8">
            <a:extLst>
              <a:ext uri="{FF2B5EF4-FFF2-40B4-BE49-F238E27FC236}">
                <a16:creationId xmlns:a16="http://schemas.microsoft.com/office/drawing/2014/main" id="{93830700-6079-4723-9892-B51AFF98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>
            <a:extLst>
              <a:ext uri="{FF2B5EF4-FFF2-40B4-BE49-F238E27FC236}">
                <a16:creationId xmlns:a16="http://schemas.microsoft.com/office/drawing/2014/main" id="{EB7A2339-80D6-4EC3-B86F-586B21D0B8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E4FDDD7B-2296-4003-8168-507D86E9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977850"/>
            <a:ext cx="8520600" cy="3187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>
            <a:extLst>
              <a:ext uri="{FF2B5EF4-FFF2-40B4-BE49-F238E27FC236}">
                <a16:creationId xmlns:a16="http://schemas.microsoft.com/office/drawing/2014/main" id="{D9725267-4F31-4E96-A894-68341396B6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0">
            <a:extLst>
              <a:ext uri="{FF2B5EF4-FFF2-40B4-BE49-F238E27FC236}">
                <a16:creationId xmlns:a16="http://schemas.microsoft.com/office/drawing/2014/main" id="{5C4AB5D7-01BD-4F82-A57D-538DD0C5D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100" y="445025"/>
            <a:ext cx="8041800" cy="40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3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>
            <a:extLst>
              <a:ext uri="{FF2B5EF4-FFF2-40B4-BE49-F238E27FC236}">
                <a16:creationId xmlns:a16="http://schemas.microsoft.com/office/drawing/2014/main" id="{2B6DA635-6B87-4CDD-95A8-D0FEDAB192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buNone/>
              <a:defRPr>
                <a:solidFill>
                  <a:schemeClr val="dk2"/>
                </a:solidFill>
              </a:defRPr>
            </a:lvl1pPr>
            <a:lvl2pPr>
              <a:buNone/>
              <a:defRPr>
                <a:solidFill>
                  <a:schemeClr val="dk2"/>
                </a:solidFill>
              </a:defRPr>
            </a:lvl2pPr>
            <a:lvl3pPr>
              <a:buNone/>
              <a:defRPr>
                <a:solidFill>
                  <a:schemeClr val="dk2"/>
                </a:solidFill>
              </a:defRPr>
            </a:lvl3pPr>
            <a:lvl4pPr>
              <a:buNone/>
              <a:defRPr>
                <a:solidFill>
                  <a:schemeClr val="dk2"/>
                </a:solidFill>
              </a:defRPr>
            </a:lvl4pPr>
            <a:lvl5pPr>
              <a:buNone/>
              <a:defRPr>
                <a:solidFill>
                  <a:schemeClr val="dk2"/>
                </a:solidFill>
              </a:defRPr>
            </a:lvl5pPr>
            <a:lvl6pPr>
              <a:buNone/>
              <a:defRPr>
                <a:solidFill>
                  <a:schemeClr val="dk2"/>
                </a:solidFill>
              </a:defRPr>
            </a:lvl6pPr>
            <a:lvl7pPr>
              <a:buNone/>
              <a:defRPr>
                <a:solidFill>
                  <a:schemeClr val="dk2"/>
                </a:solidFill>
              </a:defRPr>
            </a:lvl7pPr>
            <a:lvl8pPr>
              <a:buNone/>
              <a:defRPr>
                <a:solidFill>
                  <a:schemeClr val="dk2"/>
                </a:solidFill>
              </a:defRPr>
            </a:lvl8pPr>
            <a:lvl9pPr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9">
            <a:extLst>
              <a:ext uri="{FF2B5EF4-FFF2-40B4-BE49-F238E27FC236}">
                <a16:creationId xmlns:a16="http://schemas.microsoft.com/office/drawing/2014/main" id="{386DCB02-8704-4DFB-A8EF-1456AF3F2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19">
            <a:extLst>
              <a:ext uri="{FF2B5EF4-FFF2-40B4-BE49-F238E27FC236}">
                <a16:creationId xmlns:a16="http://schemas.microsoft.com/office/drawing/2014/main" id="{6C4C2A8E-34AE-4298-97D7-1F1E362991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17702" y="1599625"/>
            <a:ext cx="3775200" cy="3222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1pPr>
            <a:lvl2pPr marL="9144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2pPr>
            <a:lvl3pPr marL="13716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3pPr>
            <a:lvl4pPr marL="18288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4pPr>
            <a:lvl5pPr marL="22860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5pPr>
            <a:lvl6pPr marL="2743200" indent="-336550">
              <a:spcBef>
                <a:spcPts val="1600"/>
              </a:spcBef>
              <a:spcAft>
                <a:spcPts val="0"/>
              </a:spcAft>
              <a:buChar char="■"/>
              <a:defRPr sz="1700">
                <a:solidFill>
                  <a:schemeClr val="dk2"/>
                </a:solidFill>
              </a:defRPr>
            </a:lvl6pPr>
            <a:lvl7pPr marL="3200400" indent="-336550">
              <a:spcBef>
                <a:spcPts val="1600"/>
              </a:spcBef>
              <a:spcAft>
                <a:spcPts val="0"/>
              </a:spcAft>
              <a:buChar char="●"/>
              <a:defRPr sz="1700">
                <a:solidFill>
                  <a:schemeClr val="dk2"/>
                </a:solidFill>
              </a:defRPr>
            </a:lvl7pPr>
            <a:lvl8pPr marL="3657600" indent="-336550">
              <a:spcBef>
                <a:spcPts val="1600"/>
              </a:spcBef>
              <a:spcAft>
                <a:spcPts val="0"/>
              </a:spcAft>
              <a:buChar char="○"/>
              <a:defRPr sz="1700">
                <a:solidFill>
                  <a:schemeClr val="dk2"/>
                </a:solidFill>
              </a:defRPr>
            </a:lvl8pPr>
            <a:lvl9pPr marL="4114800" indent="-336550">
              <a:spcBef>
                <a:spcPts val="1600"/>
              </a:spcBef>
              <a:spcAft>
                <a:spcPts val="1600"/>
              </a:spcAft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9">
            <a:extLst>
              <a:ext uri="{FF2B5EF4-FFF2-40B4-BE49-F238E27FC236}">
                <a16:creationId xmlns:a16="http://schemas.microsoft.com/office/drawing/2014/main" id="{F249596A-F241-49F6-8A14-D87438DF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14500" cy="9645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4276561D-A771-4E2B-B510-689C4D3F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75" y="445025"/>
            <a:ext cx="8041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05EB1DD0-976C-404B-878C-4EFB19B67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275" y="1572200"/>
            <a:ext cx="8041800" cy="3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●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har char="○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Char char="■"/>
              <a:defRPr sz="19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44F5D415-D245-4CC1-BD2D-9B7092D885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50" y="2152650"/>
            <a:ext cx="9239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0" dirty="0" err="1">
                <a:latin typeface="Montserrat ExtraBold"/>
                <a:ea typeface="Montserrat ExtraBold"/>
                <a:cs typeface="Montserrat ExtraBold"/>
              </a:rPr>
              <a:t>SUBARU空力講座に向けた質問整理</a:t>
            </a:r>
            <a:endParaRPr sz="4000" b="0" dirty="0"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450" y="3143250"/>
            <a:ext cx="923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学生フォーミュラ チーム内事前打ち合わせの整理版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95A1C1C7-3C77-4A8B-969B-7996A325A4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2450" y="4876800"/>
            <a:ext cx="6667500" cy="26670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 dirty="0"/>
              <a:t>2026.05.29  /  目的は、1時間で設計判断に効く知見を持ち帰ること</a:t>
            </a:r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5905500" cy="19050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Design adapted from Azusa 3 / TMU Formula Student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AERO CLINIC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SUBARU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50" y="68580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0" dirty="0">
                <a:latin typeface="Montserrat ExtraBold"/>
                <a:ea typeface="Montserrat ExtraBold"/>
                <a:cs typeface="Montserrat ExtraBold"/>
              </a:rPr>
              <a:t>1時間を、雑談ではなく論点整理済みの技術相談に使い切る。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95A1C1C7-3C77-4A8B-969B-7996A325A4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76298" y="1898071"/>
            <a:ext cx="6210300" cy="1790702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 dirty="0"/>
              <a:t>この1時間で聞きたいこ</a:t>
            </a:r>
            <a:r>
              <a:rPr lang="ja-JP" altLang="en-US" sz="1000"/>
              <a:t>と</a:t>
            </a:r>
            <a:br>
              <a:rPr lang="en-US" altLang="ja-JP" sz="1000" dirty="0"/>
            </a:br>
            <a:r>
              <a:rPr sz="1000" dirty="0"/>
              <a:t>1. </a:t>
            </a:r>
            <a:r>
              <a:rPr sz="1000" dirty="0" err="1"/>
              <a:t>実務では何を設計変数として先に切るか</a:t>
            </a:r>
            <a:endParaRPr sz="1000" dirty="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 dirty="0"/>
              <a:t>2. </a:t>
            </a:r>
            <a:r>
              <a:rPr sz="1000" dirty="0" err="1"/>
              <a:t>どこまで近似してよく、どこから危険か</a:t>
            </a:r>
            <a:endParaRPr sz="1000" dirty="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 dirty="0"/>
              <a:t>3. CFD </a:t>
            </a:r>
            <a:r>
              <a:rPr sz="1000" dirty="0" err="1"/>
              <a:t>の信頼性を上げる順番は何か</a:t>
            </a:r>
            <a:endParaRPr sz="1000" dirty="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 dirty="0"/>
              <a:t>4. </a:t>
            </a:r>
            <a:r>
              <a:rPr sz="1000" dirty="0" err="1"/>
              <a:t>空力・構造・製造をどう接続しているか</a:t>
            </a:r>
            <a:endParaRPr sz="1000" dirty="0"/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876298" y="4189265"/>
            <a:ext cx="6210300" cy="45720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注: マネジメント系・トップダウンの話題は今回は切り離し、空力課題に集中する。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02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166" y="208722"/>
            <a:ext cx="8525286" cy="78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b="0">
                <a:latin typeface="Montserrat ExtraBold"/>
                <a:ea typeface="Montserrat ExtraBold"/>
                <a:cs typeface="Montserrat ExtraBold"/>
              </a:rPr>
              <a:t>質問</a:t>
            </a:r>
            <a:r>
              <a:rPr sz="2800" b="0" dirty="0" err="1">
                <a:latin typeface="Montserrat ExtraBold"/>
                <a:ea typeface="Montserrat ExtraBold"/>
                <a:cs typeface="Montserrat ExtraBold"/>
              </a:rPr>
              <a:t>は「形状</a:t>
            </a:r>
            <a:r>
              <a:rPr sz="2800" b="0" dirty="0">
                <a:latin typeface="Montserrat ExtraBold"/>
                <a:ea typeface="Montserrat ExtraBold"/>
                <a:cs typeface="Montserrat ExtraBold"/>
              </a:rPr>
              <a:t>」「</a:t>
            </a:r>
            <a:r>
              <a:rPr sz="2800" b="0" dirty="0" err="1">
                <a:latin typeface="Montserrat ExtraBold"/>
                <a:ea typeface="Montserrat ExtraBold"/>
                <a:cs typeface="Montserrat ExtraBold"/>
              </a:rPr>
              <a:t>解析</a:t>
            </a:r>
            <a:r>
              <a:rPr sz="2800" b="0" dirty="0">
                <a:latin typeface="Montserrat ExtraBold"/>
                <a:ea typeface="Montserrat ExtraBold"/>
                <a:cs typeface="Montserrat ExtraBold"/>
              </a:rPr>
              <a:t>」「実装」の3群にまとまる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7148" y="1378640"/>
            <a:ext cx="3341203" cy="35242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形状設計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01  </a:t>
            </a:r>
            <a:r>
              <a:rPr dirty="0" err="1"/>
              <a:t>翼端板・複数エレメント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スロットギャップとオーバーラップの初期値を何で切るか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02  3Dウイング CAD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混合翼型とツイストを、サーフェス破綻なくどう定義するか</a:t>
            </a:r>
            <a:r>
              <a:rPr dirty="0"/>
              <a:t>。</a:t>
            </a:r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770117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03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680582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 dirty="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QUESTION</a:t>
            </a:r>
          </a:p>
        </p:txBody>
      </p:sp>
      <p:sp>
        <p:nvSpPr>
          <p:cNvPr id="2" name="Google Shape;128;p30">
            <a:extLst>
              <a:ext uri="{FF2B5EF4-FFF2-40B4-BE49-F238E27FC236}">
                <a16:creationId xmlns:a16="http://schemas.microsoft.com/office/drawing/2014/main" id="{CB4B42AC-3B42-506F-D48B-9C2BF66F3A34}"/>
              </a:ext>
            </a:extLst>
          </p:cNvPr>
          <p:cNvSpPr txBox="1">
            <a:spLocks/>
          </p:cNvSpPr>
          <p:nvPr/>
        </p:nvSpPr>
        <p:spPr>
          <a:xfrm>
            <a:off x="3284055" y="1378640"/>
            <a:ext cx="3429000" cy="35242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ja-JP" altLang="en-US" sz="2000"/>
              <a:t>解析・</a:t>
            </a:r>
            <a:r>
              <a:rPr lang="en" altLang="ja-JP" sz="2000" dirty="0"/>
              <a:t>CFD</a:t>
            </a:r>
          </a:p>
          <a:p>
            <a:pPr marL="0" indent="0">
              <a:spcAft>
                <a:spcPts val="1600"/>
              </a:spcAft>
            </a:pPr>
            <a:r>
              <a:rPr lang="en" altLang="ja-JP" sz="1800" dirty="0"/>
              <a:t>03  DOE </a:t>
            </a:r>
            <a:r>
              <a:rPr lang="ja-JP" altLang="en-US" sz="1800"/>
              <a:t>と随伴法</a:t>
            </a:r>
          </a:p>
          <a:p>
            <a:pPr marL="0" indent="0">
              <a:spcAft>
                <a:spcPts val="1600"/>
              </a:spcAft>
            </a:pPr>
            <a:r>
              <a:rPr lang="ja-JP" altLang="en-US" sz="1800"/>
              <a:t>探索効率とメッシュ品質を両立する使い分けは何か。</a:t>
            </a:r>
          </a:p>
          <a:p>
            <a:pPr marL="0" indent="0">
              <a:spcAft>
                <a:spcPts val="1600"/>
              </a:spcAft>
            </a:pPr>
            <a:r>
              <a:rPr lang="en-US" altLang="ja-JP" sz="1800" dirty="0"/>
              <a:t>04  </a:t>
            </a:r>
            <a:r>
              <a:rPr lang="ja-JP" altLang="en-US" sz="1800"/>
              <a:t>回転タイヤ・地面効果</a:t>
            </a:r>
          </a:p>
          <a:p>
            <a:pPr marL="0" indent="0">
              <a:spcAft>
                <a:spcPts val="1600"/>
              </a:spcAft>
            </a:pPr>
            <a:r>
              <a:rPr lang="ja-JP" altLang="en-US" sz="1800"/>
              <a:t>ロール・ステア込みの乱れを、どの境界条件で信用すべきか。</a:t>
            </a:r>
            <a:endParaRPr lang="ja-JP" altLang="en-US" sz="1800" dirty="0"/>
          </a:p>
        </p:txBody>
      </p:sp>
      <p:sp>
        <p:nvSpPr>
          <p:cNvPr id="3" name="Google Shape;128;p30">
            <a:extLst>
              <a:ext uri="{FF2B5EF4-FFF2-40B4-BE49-F238E27FC236}">
                <a16:creationId xmlns:a16="http://schemas.microsoft.com/office/drawing/2014/main" id="{FA528A15-1773-515A-1443-AB301C31CFD0}"/>
              </a:ext>
            </a:extLst>
          </p:cNvPr>
          <p:cNvSpPr txBox="1">
            <a:spLocks/>
          </p:cNvSpPr>
          <p:nvPr/>
        </p:nvSpPr>
        <p:spPr>
          <a:xfrm>
            <a:off x="6713055" y="1378640"/>
            <a:ext cx="2430945" cy="35242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ja-JP" altLang="en-US" sz="1800"/>
              <a:t>実装・制約</a:t>
            </a:r>
          </a:p>
          <a:p>
            <a:pPr marL="0" indent="0">
              <a:spcAft>
                <a:spcPts val="1600"/>
              </a:spcAft>
            </a:pPr>
            <a:r>
              <a:rPr lang="en-US" altLang="ja-JP" sz="1400" dirty="0"/>
              <a:t>05  </a:t>
            </a:r>
            <a:r>
              <a:rPr lang="ja-JP" altLang="en-US" sz="1400"/>
              <a:t>ラジエーター</a:t>
            </a:r>
            <a:br>
              <a:rPr lang="en-US" altLang="ja-JP" sz="1400" dirty="0"/>
            </a:br>
            <a:r>
              <a:rPr lang="ja-JP" altLang="en-US" sz="1400"/>
              <a:t>多孔質媒体</a:t>
            </a:r>
          </a:p>
          <a:p>
            <a:pPr marL="0" indent="0">
              <a:spcAft>
                <a:spcPts val="1600"/>
              </a:spcAft>
            </a:pPr>
            <a:r>
              <a:rPr lang="ja-JP" altLang="en-US" sz="1400"/>
              <a:t>冷却要求を守りながら、</a:t>
            </a:r>
            <a:br>
              <a:rPr lang="en-US" altLang="ja-JP" sz="1400" dirty="0"/>
            </a:br>
            <a:r>
              <a:rPr lang="ja-JP" altLang="en-US" sz="1400"/>
              <a:t>ダクト形状最適化へ</a:t>
            </a:r>
            <a:br>
              <a:rPr lang="en-US" altLang="ja-JP" sz="1400" dirty="0"/>
            </a:br>
            <a:r>
              <a:rPr lang="ja-JP" altLang="en-US" sz="1400"/>
              <a:t>どう落とし込むか</a:t>
            </a:r>
          </a:p>
          <a:p>
            <a:pPr marL="0" indent="0">
              <a:spcAft>
                <a:spcPts val="1600"/>
              </a:spcAft>
            </a:pPr>
            <a:r>
              <a:rPr lang="en-US" altLang="ja-JP" sz="1400" dirty="0"/>
              <a:t>06  </a:t>
            </a:r>
            <a:r>
              <a:rPr lang="ja-JP" altLang="en-US" sz="1400"/>
              <a:t>製造要件と剛性</a:t>
            </a:r>
          </a:p>
          <a:p>
            <a:pPr marL="0" indent="0">
              <a:spcAft>
                <a:spcPts val="1600"/>
              </a:spcAft>
            </a:pPr>
            <a:r>
              <a:rPr lang="ja-JP" altLang="en-US" sz="1400"/>
              <a:t>空力・構造・成形を、</a:t>
            </a:r>
            <a:br>
              <a:rPr lang="en-US" altLang="ja-JP" sz="1400" dirty="0"/>
            </a:br>
            <a:r>
              <a:rPr lang="ja-JP" altLang="en-US" sz="1400"/>
              <a:t>どの時点から一体で</a:t>
            </a:r>
            <a:br>
              <a:rPr lang="en-US" altLang="ja-JP" sz="1400" dirty="0"/>
            </a:br>
            <a:r>
              <a:rPr lang="ja-JP" altLang="en-US" sz="1400"/>
              <a:t>回すべきか。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38100"/>
            <a:ext cx="857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0" dirty="0">
                <a:latin typeface="Montserrat ExtraBold"/>
                <a:ea typeface="Montserrat ExtraBold"/>
                <a:cs typeface="Montserrat ExtraBold"/>
              </a:rPr>
              <a:t>翼の初期配置と3D </a:t>
            </a:r>
            <a:r>
              <a:rPr sz="3200" b="0" dirty="0" err="1">
                <a:latin typeface="Montserrat ExtraBold"/>
                <a:ea typeface="Montserrat ExtraBold"/>
                <a:cs typeface="Montserrat ExtraBold"/>
              </a:rPr>
              <a:t>CAD表現</a:t>
            </a:r>
            <a:r>
              <a:rPr lang="ja-JP" altLang="en-US" sz="3200" b="0">
                <a:latin typeface="Montserrat ExtraBold"/>
                <a:ea typeface="Montserrat ExtraBold"/>
                <a:cs typeface="Montserrat ExtraBold"/>
              </a:rPr>
              <a:t>について</a:t>
            </a:r>
            <a:endParaRPr sz="3200" b="0" dirty="0"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4142" y="2152650"/>
            <a:ext cx="493395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01  MULTI-ELEMENT LAYOUT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err="1"/>
              <a:t>現状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フロント</a:t>
            </a:r>
            <a:r>
              <a:rPr sz="1600" dirty="0"/>
              <a:t> / </a:t>
            </a:r>
            <a:r>
              <a:rPr sz="1600" dirty="0" err="1"/>
              <a:t>リアとも設定根拠が弱い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最大ダウンフォースと剥離抑制の両立条件が曖昧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err="1"/>
              <a:t>相談したいこと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初期配置の実務的セオリ</a:t>
            </a:r>
            <a:r>
              <a:rPr sz="1600" dirty="0"/>
              <a:t>ー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最適化変数として何を優先して切るべきか</a:t>
            </a:r>
            <a:endParaRPr sz="1600" dirty="0"/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両テーマとも、空力性能そのもの以前に「設計変数をどう定義するか」がボトルネックになっている。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04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SHAPE</a:t>
            </a:r>
          </a:p>
        </p:txBody>
      </p:sp>
      <p:sp>
        <p:nvSpPr>
          <p:cNvPr id="2" name="Google Shape;128;p30">
            <a:extLst>
              <a:ext uri="{FF2B5EF4-FFF2-40B4-BE49-F238E27FC236}">
                <a16:creationId xmlns:a16="http://schemas.microsoft.com/office/drawing/2014/main" id="{02846F11-B1A0-D671-6A97-8B7F542FB100}"/>
              </a:ext>
            </a:extLst>
          </p:cNvPr>
          <p:cNvSpPr txBox="1">
            <a:spLocks/>
          </p:cNvSpPr>
          <p:nvPr/>
        </p:nvSpPr>
        <p:spPr>
          <a:xfrm>
            <a:off x="4838700" y="2076450"/>
            <a:ext cx="52578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 marL="0" indent="0"/>
            <a:r>
              <a:rPr lang="en" altLang="ja-JP" sz="1600" kern="0" dirty="0"/>
              <a:t>02  3D WING CAD ROBUSTNESS</a:t>
            </a:r>
          </a:p>
          <a:p>
            <a:pPr marL="0" indent="0"/>
            <a:endParaRPr lang="en" altLang="ja-JP" sz="1600" kern="0" dirty="0"/>
          </a:p>
          <a:p>
            <a:pPr marL="0" indent="0"/>
            <a:r>
              <a:rPr lang="ja-JP" altLang="en-US" sz="1600" kern="0"/>
              <a:t>現状</a:t>
            </a:r>
          </a:p>
          <a:p>
            <a:pPr marL="0" indent="0"/>
            <a:r>
              <a:rPr lang="ja-JP" altLang="en-US" sz="1600" kern="0"/>
              <a:t>・中央と翼端で翼型 </a:t>
            </a:r>
            <a:r>
              <a:rPr lang="en-US" altLang="ja-JP" sz="1600" kern="0" dirty="0"/>
              <a:t>/ </a:t>
            </a:r>
            <a:r>
              <a:rPr lang="ja-JP" altLang="en-US" sz="1600" kern="0"/>
              <a:t>コード長 </a:t>
            </a:r>
            <a:r>
              <a:rPr lang="en-US" altLang="ja-JP" sz="1600" kern="0" dirty="0"/>
              <a:t>/ </a:t>
            </a:r>
            <a:r>
              <a:rPr lang="ja-JP" altLang="en-US" sz="1600" kern="0"/>
              <a:t>迎角が</a:t>
            </a:r>
            <a:br>
              <a:rPr lang="en-US" altLang="ja-JP" sz="1600" kern="0" dirty="0"/>
            </a:br>
            <a:r>
              <a:rPr lang="ja-JP" altLang="en-US" sz="1600" kern="0"/>
              <a:t>変わる混合翼型を使いたい</a:t>
            </a:r>
          </a:p>
          <a:p>
            <a:pPr marL="0" indent="0"/>
            <a:r>
              <a:rPr lang="ja-JP" altLang="en-US" sz="1600" kern="0"/>
              <a:t>・点群やロフトがねじれて </a:t>
            </a:r>
            <a:r>
              <a:rPr lang="en" altLang="ja-JP" sz="1600" kern="0" dirty="0"/>
              <a:t>CAD </a:t>
            </a:r>
            <a:br>
              <a:rPr lang="en" altLang="ja-JP" sz="1600" kern="0" dirty="0"/>
            </a:br>
            <a:r>
              <a:rPr lang="ja-JP" altLang="en-US" sz="1600" kern="0"/>
              <a:t>サーフェスが破綻しやすい</a:t>
            </a:r>
          </a:p>
          <a:p>
            <a:pPr marL="0" indent="0"/>
            <a:r>
              <a:rPr lang="ja-JP" altLang="en-US" sz="1600" kern="0"/>
              <a:t>相談したいこと</a:t>
            </a:r>
          </a:p>
          <a:p>
            <a:pPr marL="0" indent="0"/>
            <a:r>
              <a:rPr lang="ja-JP" altLang="en-US" sz="1600" kern="0"/>
              <a:t>・壊れにくい幾何パラメータの置き方</a:t>
            </a:r>
          </a:p>
          <a:p>
            <a:pPr marL="0" indent="0"/>
            <a:r>
              <a:rPr lang="ja-JP" altLang="en-US" sz="1600" kern="0"/>
              <a:t>・断面遷移とツイスト表現の実務フロー</a:t>
            </a:r>
          </a:p>
          <a:p>
            <a:pPr marL="0" indent="0"/>
            <a:endParaRPr lang="ja-JP" altLang="en-US" sz="1600" kern="0" dirty="0"/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92" y="-361950"/>
            <a:ext cx="834887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0" dirty="0" err="1">
                <a:latin typeface="Montserrat ExtraBold"/>
                <a:ea typeface="Montserrat ExtraBold"/>
                <a:cs typeface="Montserrat ExtraBold"/>
              </a:rPr>
              <a:t>最適化と回転タイヤ</a:t>
            </a:r>
            <a:r>
              <a:rPr lang="ja-JP" altLang="en-US" sz="2400" b="0">
                <a:latin typeface="Montserrat ExtraBold"/>
                <a:ea typeface="Montserrat ExtraBold"/>
                <a:cs typeface="Montserrat ExtraBold"/>
              </a:rPr>
              <a:t>の</a:t>
            </a:r>
            <a:r>
              <a:rPr sz="2400" b="0" dirty="0">
                <a:latin typeface="Montserrat ExtraBold"/>
                <a:ea typeface="Montserrat ExtraBold"/>
                <a:cs typeface="Montserrat ExtraBold"/>
              </a:rPr>
              <a:t>、CFD </a:t>
            </a:r>
            <a:r>
              <a:rPr sz="2400" b="0" dirty="0" err="1">
                <a:latin typeface="Montserrat ExtraBold"/>
                <a:ea typeface="Montserrat ExtraBold"/>
                <a:cs typeface="Montserrat ExtraBold"/>
              </a:rPr>
              <a:t>を回す前提条件</a:t>
            </a:r>
            <a:r>
              <a:rPr lang="ja-JP" altLang="en-US" sz="2400" b="0">
                <a:latin typeface="Montserrat ExtraBold"/>
                <a:ea typeface="Montserrat ExtraBold"/>
                <a:cs typeface="Montserrat ExtraBold"/>
              </a:rPr>
              <a:t>について</a:t>
            </a:r>
            <a:endParaRPr sz="2400" b="0" dirty="0">
              <a:latin typeface="Montserrat ExtraBold"/>
              <a:ea typeface="Montserrat ExtraBold"/>
              <a:cs typeface="Montserrat ExtraBold"/>
            </a:endParaRP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94377"/>
            <a:ext cx="5085524" cy="37491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03  DOE VS ADJOINT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現状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・SU2 / </a:t>
            </a:r>
            <a:r>
              <a:rPr dirty="0" err="1"/>
              <a:t>OpenFOAM</a:t>
            </a:r>
            <a:r>
              <a:rPr dirty="0"/>
              <a:t> </a:t>
            </a:r>
            <a:r>
              <a:rPr dirty="0" err="1"/>
              <a:t>を回す</a:t>
            </a:r>
            <a:r>
              <a:rPr dirty="0"/>
              <a:t> DOE </a:t>
            </a:r>
            <a:r>
              <a:rPr dirty="0" err="1"/>
              <a:t>パイプラインはある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・</a:t>
            </a:r>
            <a:r>
              <a:rPr dirty="0" err="1"/>
              <a:t>ただし探索空間が広く、計算資源消費が大きい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 err="1"/>
              <a:t>相談したいこと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・</a:t>
            </a:r>
            <a:r>
              <a:rPr dirty="0" err="1"/>
              <a:t>実務で</a:t>
            </a:r>
            <a:r>
              <a:rPr dirty="0"/>
              <a:t> DOE </a:t>
            </a:r>
            <a:r>
              <a:rPr dirty="0" err="1"/>
              <a:t>と随伴法をどう使い分けるか</a:t>
            </a:r>
            <a:endParaRPr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・</a:t>
            </a:r>
            <a:r>
              <a:rPr dirty="0" err="1"/>
              <a:t>形状更新時のリメッシュ運用</a:t>
            </a:r>
            <a:endParaRPr dirty="0"/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ここでは『高級な最適化』より先に、どの物理を外してはいけないかを明確にしたい。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05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CFD</a:t>
            </a:r>
          </a:p>
        </p:txBody>
      </p:sp>
      <p:sp>
        <p:nvSpPr>
          <p:cNvPr id="4" name="Google Shape;128;p30">
            <a:extLst>
              <a:ext uri="{FF2B5EF4-FFF2-40B4-BE49-F238E27FC236}">
                <a16:creationId xmlns:a16="http://schemas.microsoft.com/office/drawing/2014/main" id="{D6EA77B7-00F1-7082-EF44-8EA8ADB7926B}"/>
              </a:ext>
            </a:extLst>
          </p:cNvPr>
          <p:cNvSpPr txBox="1">
            <a:spLocks/>
          </p:cNvSpPr>
          <p:nvPr/>
        </p:nvSpPr>
        <p:spPr>
          <a:xfrm>
            <a:off x="5085524" y="1394377"/>
            <a:ext cx="4058476" cy="369942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 marL="0" indent="0"/>
            <a:r>
              <a:rPr lang="en" kern="0" dirty="0"/>
              <a:t>04  ROTATING TIRE / GROUND </a:t>
            </a:r>
            <a:br>
              <a:rPr lang="en" kern="0" dirty="0"/>
            </a:br>
            <a:r>
              <a:rPr lang="en" kern="0" dirty="0"/>
              <a:t>EFFECT</a:t>
            </a:r>
          </a:p>
          <a:p>
            <a:pPr marL="0" indent="0"/>
            <a:endParaRPr lang="en" kern="0" dirty="0"/>
          </a:p>
          <a:p>
            <a:pPr marL="0" indent="0"/>
            <a:r>
              <a:rPr lang="ja-JP" altLang="en-US" sz="1800" kern="0"/>
              <a:t>現状</a:t>
            </a:r>
          </a:p>
          <a:p>
            <a:pPr marL="0" indent="0"/>
            <a:r>
              <a:rPr lang="ja-JP" altLang="en-US" sz="1800" kern="0"/>
              <a:t>・ロール時の地面効果、回転</a:t>
            </a:r>
            <a:br>
              <a:rPr lang="en-US" altLang="ja-JP" sz="1800" kern="0" dirty="0"/>
            </a:br>
            <a:r>
              <a:rPr lang="ja-JP" altLang="en-US" sz="1800" kern="0"/>
              <a:t>タイヤ、ステア乱れの扱いが不十分</a:t>
            </a:r>
          </a:p>
          <a:p>
            <a:pPr marL="0" indent="0"/>
            <a:r>
              <a:rPr lang="ja-JP" altLang="en-US" sz="1800" kern="0"/>
              <a:t>・この部分が車体下面 </a:t>
            </a:r>
            <a:r>
              <a:rPr lang="en" sz="1800" kern="0" dirty="0"/>
              <a:t>CFD </a:t>
            </a:r>
            <a:r>
              <a:rPr lang="ja-JP" altLang="en-US" sz="1800" kern="0"/>
              <a:t>の</a:t>
            </a:r>
            <a:br>
              <a:rPr lang="en-US" altLang="ja-JP" sz="1800" kern="0" dirty="0"/>
            </a:br>
            <a:r>
              <a:rPr lang="ja-JP" altLang="en-US" sz="1800" kern="0"/>
              <a:t>信頼性を左右している</a:t>
            </a:r>
          </a:p>
          <a:p>
            <a:pPr marL="0" indent="0"/>
            <a:r>
              <a:rPr lang="ja-JP" altLang="en-US" sz="1800" kern="0"/>
              <a:t>相談したいこと</a:t>
            </a:r>
          </a:p>
          <a:p>
            <a:pPr marL="0" indent="0"/>
            <a:r>
              <a:rPr lang="ja-JP" altLang="en-US" sz="1800" kern="0"/>
              <a:t>・境界条件とメッシュの切り方</a:t>
            </a:r>
          </a:p>
          <a:p>
            <a:pPr marL="0" indent="0"/>
            <a:r>
              <a:rPr lang="ja-JP" altLang="en-US" sz="1800" kern="0"/>
              <a:t>・最低限守るべきモデル化レベル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23" y="449746"/>
            <a:ext cx="8458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200" b="0" dirty="0" err="1">
                <a:latin typeface="Montserrat ExtraBold"/>
                <a:ea typeface="Montserrat ExtraBold"/>
                <a:cs typeface="Montserrat ExtraBold"/>
              </a:rPr>
              <a:t>冷却と製造は、空力単独最適ではなく制約込みで設計したい</a:t>
            </a:r>
            <a:r>
              <a:rPr sz="3200" b="0" dirty="0">
                <a:latin typeface="Montserrat ExtraBold"/>
                <a:ea typeface="Montserrat ExtraBold"/>
                <a:cs typeface="Montserrat ExtraBold"/>
              </a:rPr>
              <a:t>。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5" y="1552575"/>
            <a:ext cx="4378601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05  RADIATOR / POROUS MEDIA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err="1"/>
              <a:t>現状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冷却性能を維持しつつダウンフォースを落とさない形状が必要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多孔質媒体モデルと最適化フローが未確立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 err="1"/>
              <a:t>相談したいこと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要求風量を制約にしたダクト最適化の進め方</a:t>
            </a:r>
            <a:endParaRPr sz="16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dirty="0"/>
              <a:t>・</a:t>
            </a:r>
            <a:r>
              <a:rPr sz="1600" dirty="0" err="1"/>
              <a:t>評価指標の選び方</a:t>
            </a:r>
            <a:endParaRPr sz="1600" dirty="0"/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552450" y="5753100"/>
            <a:ext cx="11087100" cy="32385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空力設計の出口を実機に接続するため、冷却・構造・成形を初期段階から含める判断軸が欲しい。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06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INTEGRATION</a:t>
            </a:r>
          </a:p>
        </p:txBody>
      </p:sp>
      <p:sp>
        <p:nvSpPr>
          <p:cNvPr id="3" name="Google Shape;128;p30">
            <a:extLst>
              <a:ext uri="{FF2B5EF4-FFF2-40B4-BE49-F238E27FC236}">
                <a16:creationId xmlns:a16="http://schemas.microsoft.com/office/drawing/2014/main" id="{2B185F9A-B0EC-5DBC-9A4C-0F1E7FB05315}"/>
              </a:ext>
            </a:extLst>
          </p:cNvPr>
          <p:cNvSpPr txBox="1">
            <a:spLocks/>
          </p:cNvSpPr>
          <p:nvPr/>
        </p:nvSpPr>
        <p:spPr>
          <a:xfrm>
            <a:off x="4426227" y="1552575"/>
            <a:ext cx="4717774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1pPr>
            <a:lvl2pPr marL="914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2pPr>
            <a:lvl3pPr marL="1371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3pPr>
            <a:lvl4pPr marL="1828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4pPr>
            <a:lvl5pPr marL="22860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5pPr>
            <a:lvl6pPr marL="27432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6pPr>
            <a:lvl7pPr marL="32004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7pPr>
            <a:lvl8pPr marL="36576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8pPr>
            <a:lvl9pPr marL="4114800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lt2"/>
                </a:solidFill>
                <a:latin typeface="Work Sans"/>
                <a:ea typeface="Work Sans"/>
                <a:cs typeface="Work Sans"/>
              </a:defRPr>
            </a:lvl9pPr>
          </a:lstStyle>
          <a:p>
            <a:pPr marL="0" indent="0"/>
            <a:r>
              <a:rPr lang="en" sz="1600" kern="0" dirty="0"/>
              <a:t>06  MANUFACTURABILITY / STIFFNESS</a:t>
            </a:r>
          </a:p>
          <a:p>
            <a:pPr marL="0" indent="0"/>
            <a:endParaRPr lang="en" sz="1600" kern="0" dirty="0"/>
          </a:p>
          <a:p>
            <a:pPr marL="0" indent="0"/>
            <a:r>
              <a:rPr lang="ja-JP" altLang="en-US" sz="1600" kern="0"/>
              <a:t>現状</a:t>
            </a:r>
          </a:p>
          <a:p>
            <a:pPr marL="0" indent="0"/>
            <a:r>
              <a:rPr lang="ja-JP" altLang="en-US" sz="1600" kern="0"/>
              <a:t>・良い </a:t>
            </a:r>
            <a:r>
              <a:rPr lang="en-US" altLang="ja-JP" sz="1600" kern="0" dirty="0"/>
              <a:t>3</a:t>
            </a:r>
            <a:r>
              <a:rPr lang="en" sz="1600" kern="0" dirty="0"/>
              <a:t>D </a:t>
            </a:r>
            <a:r>
              <a:rPr lang="ja-JP" altLang="en-US" sz="1600" kern="0"/>
              <a:t>形状でも、成形性、型起こし、剛性、マウントで制約がかかる</a:t>
            </a:r>
          </a:p>
          <a:p>
            <a:pPr marL="0" indent="0"/>
            <a:r>
              <a:rPr lang="ja-JP" altLang="en-US" sz="1600" kern="0"/>
              <a:t>・空力弾性や支持剛性を無視すると実物と乖離する</a:t>
            </a:r>
          </a:p>
          <a:p>
            <a:pPr marL="0" indent="0"/>
            <a:endParaRPr lang="ja-JP" altLang="en-US" sz="1600" kern="0"/>
          </a:p>
          <a:p>
            <a:pPr marL="0" indent="0"/>
            <a:r>
              <a:rPr lang="ja-JP" altLang="en-US" sz="1600" kern="0"/>
              <a:t>相談したいこと</a:t>
            </a:r>
          </a:p>
          <a:p>
            <a:pPr marL="0" indent="0"/>
            <a:r>
              <a:rPr lang="ja-JP" altLang="en-US" sz="1600" kern="0"/>
              <a:t>・製造 </a:t>
            </a:r>
            <a:r>
              <a:rPr lang="en-US" altLang="ja-JP" sz="1600" kern="0" dirty="0"/>
              <a:t>/ </a:t>
            </a:r>
            <a:r>
              <a:rPr lang="ja-JP" altLang="en-US" sz="1600" kern="0"/>
              <a:t>構造制約を織り込む連携フロー</a:t>
            </a:r>
          </a:p>
          <a:p>
            <a:pPr marL="0" indent="0"/>
            <a:r>
              <a:rPr lang="ja-JP" altLang="en-US" sz="1600" kern="0"/>
              <a:t>・検討順序の実務則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F2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>
            <a:extLst>
              <a:ext uri="{FF2B5EF4-FFF2-40B4-BE49-F238E27FC236}">
                <a16:creationId xmlns:a16="http://schemas.microsoft.com/office/drawing/2014/main" id="{52D79D13-F901-4BE7-ADF6-6F8D27F90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450" y="685800"/>
            <a:ext cx="97155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>
                <a:latin typeface="Montserrat ExtraBold"/>
                <a:ea typeface="Montserrat ExtraBold"/>
                <a:cs typeface="Montserrat ExtraBold"/>
              </a:rPr>
              <a:t>最後に聞き漏らしたくない質問一覧</a:t>
            </a:r>
          </a:p>
        </p:txBody>
      </p:sp>
      <p:sp>
        <p:nvSpPr>
          <p:cNvPr id="128" name="Google Shape;128;p30">
            <a:extLst>
              <a:ext uri="{FF2B5EF4-FFF2-40B4-BE49-F238E27FC236}">
                <a16:creationId xmlns:a16="http://schemas.microsoft.com/office/drawing/2014/main" id="{708D0F0D-CD86-4B93-8CF8-1D66ABE38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450" y="1600200"/>
            <a:ext cx="9715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会話が深くなっても、この6問に戻れば本筋を外しにくい。</a:t>
            </a:r>
          </a:p>
        </p:txBody>
      </p:sp>
      <p:sp>
        <p:nvSpPr>
          <p:cNvPr id="129" name="Google Shape;129;p30">
            <a:extLst>
              <a:ext uri="{FF2B5EF4-FFF2-40B4-BE49-F238E27FC236}">
                <a16:creationId xmlns:a16="http://schemas.microsoft.com/office/drawing/2014/main" id="{95A1C1C7-3C77-4A8B-969B-7996A325A4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52450" y="2266950"/>
            <a:ext cx="8572500" cy="342900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1. マルチエレメントのスロットギャップ / オーバーラップは、初期配置を何で決めるべきか。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endParaRPr sz="100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2. 3D ツイスト翼を CAD で壊さず、空力性能も落としにくいパラメタ定義は何か。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endParaRPr sz="100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3. DOE と随伴法は、実務ではどの段階でどう使い分けるのが現実的か。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endParaRPr sz="100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4. 回転タイヤ・ステア・ロールを含む地面効果評価で、最低限守るべき境界条件とメッシュ設計は何か。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endParaRPr sz="100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5. ラジエーターを多孔質媒体で置くとき、冷却要求を制約条件としてどう最適化へ組み込むか。</a:t>
            </a:r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endParaRPr sz="1000"/>
          </a:p>
          <a:p>
            <a:pPr marL="0" indent="0" algn="l">
              <a:spcBef>
                <a:spcPts val="0"/>
              </a:spcBef>
              <a:spcAft>
                <a:spcPts val="1600"/>
              </a:spcAft>
              <a:buNone/>
            </a:pPr>
            <a:r>
              <a:rPr sz="1000"/>
              <a:t>6. 空力形状の初期設計段階から、製造性・剛性・空力弾性をどう連携させるべきか。</a:t>
            </a:r>
          </a:p>
        </p:txBody>
      </p:sp>
      <p:cxnSp>
        <p:nvCxnSpPr>
          <p:cNvPr id="130" name="Google Shape;130;p30"/>
          <p:cNvCxnSpPr/>
          <p:nvPr/>
        </p:nvCxnSpPr>
        <p:spPr>
          <a:xfrm rot="10800000" flipH="1">
            <a:off x="8839200" y="266700"/>
            <a:ext cx="171450" cy="171450"/>
          </a:xfrm>
          <a:prstGeom prst="straightConnector1">
            <a:avLst/>
          </a:prstGeom>
          <a:ln cap="flat">
            <a:noFill/>
            <a:round/>
            <a:headEnd type="none" w="med" len="med"/>
            <a:tailEnd type="triangle" w="med" len="med"/>
          </a:ln>
        </p:spPr>
      </p:cxnSp>
      <p:sp>
        <p:nvSpPr>
          <p:cNvPr id="131" name="Google Shape;131;p30">
            <a:extLst>
              <a:ext uri="{FF2B5EF4-FFF2-40B4-BE49-F238E27FC236}">
                <a16:creationId xmlns:a16="http://schemas.microsoft.com/office/drawing/2014/main" id="{1336011F-6ADE-43FA-9F3E-A1C7C4D62EC1}"/>
              </a:ext>
            </a:extLst>
          </p:cNvPr>
          <p:cNvSpPr>
            <a:spLocks noGrp="1"/>
          </p:cNvSpPr>
          <p:nvPr/>
        </p:nvSpPr>
        <p:spPr>
          <a:xfrm>
            <a:off x="9429750" y="2266950"/>
            <a:ext cx="2209800" cy="1524000"/>
          </a:xfrm>
          <a:prstGeom prst="rect">
            <a:avLst/>
          </a:prstGeom>
          <a:solidFill>
            <a:srgbClr val="363636"/>
          </a:solidFill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ゴール</a:t>
            </a: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Work Sans"/>
              <a:ea typeface="Work Sans"/>
              <a:cs typeface="Work Sans"/>
            </a:endParaRP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一般論ではなく、</a:t>
            </a: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次の設計タスクに</a:t>
            </a: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直結する判断軸を</a:t>
            </a:r>
          </a:p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Work Sans"/>
                <a:ea typeface="Work Sans"/>
                <a:cs typeface="Work Sans"/>
              </a:rPr>
              <a:t>持ち帰る。</a:t>
            </a:r>
          </a:p>
        </p:txBody>
      </p:sp>
      <p:sp>
        <p:nvSpPr>
          <p:cNvPr id="132" name="Google Shape;132;p30">
            <a:extLst>
              <a:ext uri="{FF2B5EF4-FFF2-40B4-BE49-F238E27FC236}">
                <a16:creationId xmlns:a16="http://schemas.microsoft.com/office/drawing/2014/main" id="{48A4264B-D99B-41E7-A40F-29D982C66070}"/>
              </a:ext>
            </a:extLst>
          </p:cNvPr>
          <p:cNvSpPr>
            <a:spLocks noGrp="1"/>
          </p:cNvSpPr>
          <p:nvPr/>
        </p:nvSpPr>
        <p:spPr>
          <a:xfrm>
            <a:off x="10020300" y="247650"/>
            <a:ext cx="1390650" cy="323850"/>
          </a:xfrm>
          <a:prstGeom prst="rect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Montserrat"/>
                <a:ea typeface="Montserrat"/>
                <a:cs typeface="Montserrat"/>
              </a:rPr>
              <a:t>08 / 08</a:t>
            </a:r>
          </a:p>
        </p:txBody>
      </p:sp>
      <p:sp>
        <p:nvSpPr>
          <p:cNvPr id="133" name="Google Shape;133;p30">
            <a:extLst>
              <a:ext uri="{FF2B5EF4-FFF2-40B4-BE49-F238E27FC236}">
                <a16:creationId xmlns:a16="http://schemas.microsoft.com/office/drawing/2014/main" id="{C3C90A5D-AB74-40C8-B4A7-005D9DEB27DE}"/>
              </a:ext>
            </a:extLst>
          </p:cNvPr>
          <p:cNvSpPr>
            <a:spLocks noGrp="1"/>
          </p:cNvSpPr>
          <p:nvPr/>
        </p:nvSpPr>
        <p:spPr>
          <a:xfrm>
            <a:off x="9124950" y="247650"/>
            <a:ext cx="7810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FCFDF2"/>
                </a:solidFill>
                <a:latin typeface="Work Sans"/>
                <a:ea typeface="Work Sans"/>
                <a:cs typeface="Work San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11357132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CFDF2"/>
      </a:dk1>
      <a:lt1>
        <a:srgbClr val="191A1C"/>
      </a:lt1>
      <a:dk2>
        <a:srgbClr val="393C41"/>
      </a:dk2>
      <a:lt2>
        <a:srgbClr val="EEEDDC"/>
      </a:lt2>
      <a:accent1>
        <a:srgbClr val="5AE08E"/>
      </a:accent1>
      <a:accent2>
        <a:srgbClr val="7ABBFF"/>
      </a:accent2>
      <a:accent3>
        <a:srgbClr val="FC68C5"/>
      </a:accent3>
      <a:accent4>
        <a:srgbClr val="19AF77"/>
      </a:accent4>
      <a:accent5>
        <a:srgbClr val="5D6CEC"/>
      </a:accent5>
      <a:accent6>
        <a:srgbClr val="F82C7B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CFDF2"/>
      </a:dk1>
      <a:lt1>
        <a:srgbClr val="191A1C"/>
      </a:lt1>
      <a:dk2>
        <a:srgbClr val="393C41"/>
      </a:dk2>
      <a:lt2>
        <a:srgbClr val="EEEDDC"/>
      </a:lt2>
      <a:accent1>
        <a:srgbClr val="5AE08E"/>
      </a:accent1>
      <a:accent2>
        <a:srgbClr val="7ABBFF"/>
      </a:accent2>
      <a:accent3>
        <a:srgbClr val="FC68C5"/>
      </a:accent3>
      <a:accent4>
        <a:srgbClr val="19AF77"/>
      </a:accent4>
      <a:accent5>
        <a:srgbClr val="5D6CEC"/>
      </a:accent5>
      <a:accent6>
        <a:srgbClr val="F82C7B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Macintosh PowerPoint</Application>
  <DocSecurity>0</DocSecurity>
  <PresentationFormat>画面に合わせる (16:9)</PresentationFormat>
  <Paragraphs>119</Paragraphs>
  <Slides>7</Slides>
  <Notes>7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Arial</vt:lpstr>
      <vt:lpstr>Montserrat</vt:lpstr>
      <vt:lpstr>Montserrat ExtraBold</vt:lpstr>
      <vt:lpstr>Source Code Pro</vt:lpstr>
      <vt:lpstr>Work Sans</vt:lpstr>
      <vt:lpstr>Simple Dark</vt:lpstr>
      <vt:lpstr>SUBARU空力講座に向けた質問整理</vt:lpstr>
      <vt:lpstr>1時間を、雑談ではなく論点整理済みの技術相談に使い切る。</vt:lpstr>
      <vt:lpstr>質問は「形状」「解析」「実装」の3群にまとまる</vt:lpstr>
      <vt:lpstr>翼の初期配置と3D CAD表現について</vt:lpstr>
      <vt:lpstr>最適化と回転タイヤの、CFD を回す前提条件について</vt:lpstr>
      <vt:lpstr>冷却と製造は、空力単独最適ではなく制約込みで設計したい。</vt:lpstr>
      <vt:lpstr>最後に聞き漏らしたくない質問一覧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皆川　草太</cp:lastModifiedBy>
  <cp:revision>1</cp:revision>
  <dcterms:created xsi:type="dcterms:W3CDTF">2026-05-28T03:37:56Z</dcterms:created>
  <dcterms:modified xsi:type="dcterms:W3CDTF">2026-05-28T03:51:24Z</dcterms:modified>
</cp:coreProperties>
</file>